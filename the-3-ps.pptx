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Frame the 3 P's as one connected cycle. Nothing else in this deck matters if the audience doesn't take away that this is a system, not three separate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slowly. This is the entire deck in four lines. Every subsequent slide is evidence for these four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opener. Land the "used always" line. That’s the indictment. The rest of P1 shows what that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single slide in the deck. Removes the "maybe the work isn’t good" objection. The same work is loved on one side and blocked on the other. The blocker is inside the digital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LJ’s point about closing the feedback loop. This isn’t a Justin complaint; it’s a stakeholder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 of the “not intuitive” deflection. The proposed component isn’t new — it’s the exact filter pattern already shipping on Conference Insights, applied to In the Media / Press Releases. Same UX conventions (dropdowns for Type/Year/Month/Region + search), just a different data source. The current design has 16 year links stacked + a “See more” button + filter dropdowns anyway — three navigation systems for one list. “Not intuitive” isn’t a UX judgment; it’s a deflection.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 opener. Set up that the substrate itself is holding us back — then P2 details spend three slides showing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someone reads the CSS and asks if AI wrote it, the answer is: no, the world wrote it. Use this slide to reset that framing without embarrassing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forward-facing risk. Puts the conversation on institutional readiness rather than day-to-day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Reframes the risk-aversion as rational under the current setup. Removes any “you’re being unfair to the team” objection. Then puts the gap on infrastructure, not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internal CSS/JS audit tool. 7 pages sampled. Universal = loaded on all pages; Shared = some; Page-specific = 1 page only. The team’s worry that new components will fragment things assumes we’re starting from a consolidated baseline. We’re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Root cause: no NPM, no bundler, no build step. Every CSS/JS file must ship as a standalone raw asset because there’s nothing that compiles or bundles. That’s why in-the-media-2026.css, gmo-2026.css, and rbc-elements_main2.css exist — year-branding and “main2” duplication is the only way to version without a pipeline. The /components/ folder I’m building is the consolidation attempt within the constraint. Real fix: introduce a build process. Otherwise fragmentation is baked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P3 opener. Not laziness. Not incompetence. Trained passiveness. That distinction matters — the fix isn’t “work harder,” it’s change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has come up in the last 90 days. If the audience pushes back on one, pivot to the next — they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paradox lands. Simultaneously too gated and too spammy. The fix is ownership, not another routing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Visualize the cycle. If nothing else lands, this diagram should. It’s the framing everything folds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receipts. Nothing you’re about to hear is my interpretation — it’s hers, verbatim. Then the problem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P2 written into official process. “Slightly different” is a euphemism for the actual problem: custom marketing designs don’t fit the legacy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smoking guns on one slide. The “QA” claim contradicts the actual infrastructure. The alignment rule locks marketing out of decisions until we’ve agreed on the version they’re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routing complaint from earlier in the deck is now in writing. This isn’t a personal grievance — it’s the operating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in policy form. Innovation is sanctioned, quarantined, and required to conform to legacy. That’s not permission — it’s containment.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choice. Put the decision on them, not on Justin. The “now in writing” line calls back to Lauren’s email as the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A"/>
        </a:solidFill>
      </p:bgPr>
    </p:bg>
    <p:spTree>
      <p:nvGrpSpPr>
        <p:cNvPr id="1" name=""/>
        <p:cNvGrpSpPr/>
        <p:nvPr/>
      </p:nvGrpSpPr>
      <p:grpSpPr>
        <a:xfrm>
          <a:off x="0" y="0"/>
          <a:ext cx="0" cy="0"/>
          <a:chOff x="0" y="0"/>
          <a:chExt cx="0" cy="0"/>
        </a:xfrm>
      </p:grpSpPr>
      <p:sp>
        <p:nvSpPr>
          <p:cNvPr id="2" name="Text 0"/>
          <p:cNvSpPr txBox="1"/>
          <p:nvPr/>
        </p:nvSpPr>
        <p:spPr>
          <a:xfrm>
            <a:off x="640080" y="2103120"/>
            <a:ext cx="10972800" cy="1463040"/>
          </a:xfrm>
          <a:prstGeom prst="rect">
            <a:avLst/>
          </a:prstGeom>
          <a:noFill/>
          <a:ln/>
        </p:spPr>
        <p:txBody>
          <a:bodyPr wrap="square" lIns="0" tIns="0" rIns="0" bIns="0" rtlCol="0" anchor="ctr"/>
          <a:lstStyle/>
          <a:p>
            <a:pPr indent="0" marL="0">
              <a:buNone/>
            </a:pPr>
            <a:r>
              <a:rPr lang="en-US" sz="9200" b="1" dirty="0">
                <a:solidFill>
                  <a:srgbClr val="FFFFFF"/>
                </a:solidFill>
                <a:latin typeface="Cambria" pitchFamily="34" charset="0"/>
                <a:ea typeface="Cambria" pitchFamily="34" charset="-122"/>
                <a:cs typeface="Cambria" pitchFamily="34" charset="-120"/>
              </a:rPr>
              <a:t>The 3 P's</a:t>
            </a:r>
            <a:endParaRPr lang="en-US" sz="9200" dirty="0"/>
          </a:p>
        </p:txBody>
      </p:sp>
      <p:sp>
        <p:nvSpPr>
          <p:cNvPr id="3" name="Text 1"/>
          <p:cNvSpPr txBox="1"/>
          <p:nvPr/>
        </p:nvSpPr>
        <p:spPr>
          <a:xfrm>
            <a:off x="640080" y="3566160"/>
            <a:ext cx="10972800" cy="640080"/>
          </a:xfrm>
          <a:prstGeom prst="rect">
            <a:avLst/>
          </a:prstGeom>
          <a:noFill/>
          <a:ln/>
        </p:spPr>
        <p:txBody>
          <a:bodyPr wrap="square" lIns="0" tIns="0" rIns="0" bIns="0" rtlCol="0" anchor="ctr"/>
          <a:lstStyle/>
          <a:p>
            <a:pPr indent="0" marL="0">
              <a:buNone/>
            </a:pPr>
            <a:r>
              <a:rPr lang="en-US" sz="3000" spc="400" kern="0" dirty="0">
                <a:solidFill>
                  <a:srgbClr val="E5A934"/>
                </a:solidFill>
                <a:latin typeface="Calibri" pitchFamily="34" charset="0"/>
                <a:ea typeface="Calibri" pitchFamily="34" charset="-122"/>
                <a:cs typeface="Calibri" pitchFamily="34" charset="-120"/>
              </a:rPr>
              <a:t>Process   →   Platform   →   Passiveness</a:t>
            </a:r>
            <a:endParaRPr lang="en-US" sz="3000" dirty="0"/>
          </a:p>
        </p:txBody>
      </p:sp>
      <p:sp>
        <p:nvSpPr>
          <p:cNvPr id="4" name="Text 2"/>
          <p:cNvSpPr txBox="1"/>
          <p:nvPr/>
        </p:nvSpPr>
        <p:spPr>
          <a:xfrm>
            <a:off x="640080" y="4937760"/>
            <a:ext cx="10972800" cy="54864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Why we’ve been stuck for 15+ months.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48640"/>
            <a:ext cx="10972800" cy="457200"/>
          </a:xfrm>
          <a:prstGeom prst="rect">
            <a:avLst/>
          </a:prstGeom>
          <a:noFill/>
          <a:ln/>
        </p:spPr>
        <p:txBody>
          <a:bodyPr wrap="square" lIns="0" tIns="0" rIns="0" bIns="0" rtlCol="0" anchor="ctr"/>
          <a:lstStyle/>
          <a:p>
            <a:pPr indent="0" marL="0">
              <a:buNone/>
            </a:pPr>
            <a:r>
              <a:rPr lang="en-US" sz="1400" b="1" spc="600" kern="0" dirty="0">
                <a:solidFill>
                  <a:srgbClr val="E5A934"/>
                </a:solidFill>
                <a:latin typeface="Calibri" pitchFamily="34" charset="0"/>
                <a:ea typeface="Calibri" pitchFamily="34" charset="-122"/>
                <a:cs typeface="Calibri" pitchFamily="34" charset="-120"/>
              </a:rPr>
              <a:t>IN SHORT</a:t>
            </a:r>
            <a:endParaRPr lang="en-US" sz="1400" dirty="0"/>
          </a:p>
        </p:txBody>
      </p:sp>
      <p:sp>
        <p:nvSpPr>
          <p:cNvPr id="3" name="Text 1"/>
          <p:cNvSpPr txBox="1"/>
          <p:nvPr/>
        </p:nvSpPr>
        <p:spPr>
          <a:xfrm>
            <a:off x="640080" y="1463040"/>
            <a:ext cx="10972800" cy="4572000"/>
          </a:xfrm>
          <a:prstGeom prst="rect">
            <a:avLst/>
          </a:prstGeom>
          <a:noFill/>
          <a:ln/>
        </p:spPr>
        <p:txBody>
          <a:bodyPr wrap="square" lIns="0" tIns="0" rIns="0" bIns="0" rtlCol="0" anchor="ctr"/>
          <a:lstStyle/>
          <a:p>
            <a:pPr indent="0" marL="0">
              <a:spcAft>
                <a:spcPts val="1800"/>
              </a:spcAft>
              <a:buNone/>
            </a:pPr>
            <a:r>
              <a:rPr lang="en-US" sz="3400" dirty="0">
                <a:solidFill>
                  <a:srgbClr val="FFFFFF"/>
                </a:solidFill>
                <a:latin typeface="Cambria" pitchFamily="34" charset="0"/>
                <a:ea typeface="Cambria" pitchFamily="34" charset="-122"/>
                <a:cs typeface="Cambria" pitchFamily="34" charset="-120"/>
              </a:rPr>
              <a:t>The process is paramount to anything else.</a:t>
            </a:r>
            <a:endParaRPr lang="en-US" sz="3400" dirty="0"/>
          </a:p>
          <a:p>
            <a:pPr indent="0" marL="0">
              <a:spcAft>
                <a:spcPts val="1800"/>
              </a:spcAft>
              <a:buNone/>
            </a:pPr>
            <a:r>
              <a:rPr lang="en-US" sz="3400" dirty="0">
                <a:solidFill>
                  <a:srgbClr val="FFFFFF"/>
                </a:solidFill>
                <a:latin typeface="Cambria" pitchFamily="34" charset="0"/>
                <a:ea typeface="Cambria" pitchFamily="34" charset="-122"/>
                <a:cs typeface="Cambria" pitchFamily="34" charset="-120"/>
              </a:rPr>
              <a:t>The process relies on the platform.</a:t>
            </a:r>
            <a:endParaRPr lang="en-US" sz="3400" dirty="0"/>
          </a:p>
          <a:p>
            <a:pPr indent="0" marL="0">
              <a:spcAft>
                <a:spcPts val="4000"/>
              </a:spcAft>
              <a:buNone/>
            </a:pPr>
            <a:r>
              <a:rPr lang="en-US" sz="3400" dirty="0">
                <a:solidFill>
                  <a:srgbClr val="FFFFFF"/>
                </a:solidFill>
                <a:latin typeface="Cambria" pitchFamily="34" charset="0"/>
                <a:ea typeface="Cambria" pitchFamily="34" charset="-122"/>
                <a:cs typeface="Cambria" pitchFamily="34" charset="-120"/>
              </a:rPr>
              <a:t>The platform relies on the process.</a:t>
            </a:r>
            <a:endParaRPr lang="en-US" sz="3400" dirty="0"/>
          </a:p>
          <a:p>
            <a:pPr indent="0" marL="0">
              <a:buNone/>
            </a:pPr>
            <a:r>
              <a:rPr lang="en-US" sz="3400" b="1" dirty="0">
                <a:solidFill>
                  <a:srgbClr val="E5A934"/>
                </a:solidFill>
                <a:latin typeface="Cambria" pitchFamily="34" charset="0"/>
                <a:ea typeface="Cambria" pitchFamily="34" charset="-122"/>
                <a:cs typeface="Cambria" pitchFamily="34" charset="-120"/>
              </a:rPr>
              <a:t>That’s created a passive team with no forward thinking built into it.</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A"/>
        </a:solidFill>
      </p:bgPr>
    </p:bg>
    <p:spTree>
      <p:nvGrpSpPr>
        <p:cNvPr id="1" name=""/>
        <p:cNvGrpSpPr/>
        <p:nvPr/>
      </p:nvGrpSpPr>
      <p:grpSpPr>
        <a:xfrm>
          <a:off x="0" y="0"/>
          <a:ext cx="0" cy="0"/>
          <a:chOff x="0" y="0"/>
          <a:chExt cx="0" cy="0"/>
        </a:xfrm>
      </p:grpSpPr>
      <p:sp>
        <p:nvSpPr>
          <p:cNvPr id="2" name="Shape 0"/>
          <p:cNvSpPr/>
          <p:nvPr/>
        </p:nvSpPr>
        <p:spPr>
          <a:xfrm>
            <a:off x="822960" y="1463040"/>
            <a:ext cx="3291840" cy="3291840"/>
          </a:xfrm>
          <a:prstGeom prst="ellipse">
            <a:avLst/>
          </a:prstGeom>
          <a:solidFill>
            <a:srgbClr val="E5A934"/>
          </a:solidFill>
          <a:ln w="12700">
            <a:solidFill>
              <a:srgbClr val="E5A934"/>
            </a:solidFill>
            <a:prstDash val="solid"/>
          </a:ln>
        </p:spPr>
      </p:sp>
      <p:sp>
        <p:nvSpPr>
          <p:cNvPr id="3" name="Text 1"/>
          <p:cNvSpPr txBox="1"/>
          <p:nvPr/>
        </p:nvSpPr>
        <p:spPr>
          <a:xfrm>
            <a:off x="822960" y="1463040"/>
            <a:ext cx="3291840" cy="3291840"/>
          </a:xfrm>
          <a:prstGeom prst="rect">
            <a:avLst/>
          </a:prstGeom>
          <a:noFill/>
          <a:ln/>
        </p:spPr>
        <p:txBody>
          <a:bodyPr wrap="square" lIns="0" tIns="0" rIns="0" bIns="0" rtlCol="0" anchor="ctr"/>
          <a:lstStyle/>
          <a:p>
            <a:pPr algn="ctr" indent="0" marL="0">
              <a:buNone/>
            </a:pPr>
            <a:r>
              <a:rPr lang="en-US" sz="12240" b="1" dirty="0">
                <a:solidFill>
                  <a:srgbClr val="141B4A"/>
                </a:solidFill>
                <a:latin typeface="Cambria" pitchFamily="34" charset="0"/>
                <a:ea typeface="Cambria" pitchFamily="34" charset="-122"/>
                <a:cs typeface="Cambria" pitchFamily="34" charset="-120"/>
              </a:rPr>
              <a:t>P1</a:t>
            </a:r>
            <a:endParaRPr lang="en-US" sz="12240" dirty="0"/>
          </a:p>
        </p:txBody>
      </p:sp>
      <p:sp>
        <p:nvSpPr>
          <p:cNvPr id="4" name="Text 2"/>
          <p:cNvSpPr txBox="1"/>
          <p:nvPr/>
        </p:nvSpPr>
        <p:spPr>
          <a:xfrm>
            <a:off x="4480560" y="1737360"/>
            <a:ext cx="7315200" cy="118872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Process</a:t>
            </a:r>
            <a:endParaRPr lang="en-US" sz="7600" dirty="0"/>
          </a:p>
        </p:txBody>
      </p:sp>
      <p:sp>
        <p:nvSpPr>
          <p:cNvPr id="5" name="Text 3"/>
          <p:cNvSpPr txBox="1"/>
          <p:nvPr/>
        </p:nvSpPr>
        <p:spPr>
          <a:xfrm>
            <a:off x="4480560" y="2926080"/>
            <a:ext cx="7315200" cy="82296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The process is used always — no matter how wrong or how right.</a:t>
            </a:r>
            <a:endParaRPr lang="en-US" sz="2200" dirty="0"/>
          </a:p>
        </p:txBody>
      </p:sp>
      <p:sp>
        <p:nvSpPr>
          <p:cNvPr id="6" name="Text 4"/>
          <p:cNvSpPr txBox="1"/>
          <p:nvPr/>
        </p:nvSpPr>
        <p:spPr>
          <a:xfrm>
            <a:off x="4480560" y="4023360"/>
            <a:ext cx="7315200" cy="2377440"/>
          </a:xfrm>
          <a:prstGeom prst="rect">
            <a:avLst/>
          </a:prstGeom>
          <a:noFill/>
          <a:ln/>
        </p:spPr>
        <p:txBody>
          <a:bodyPr wrap="square" lIns="0" tIns="0" rIns="0" bIns="0" rtlCol="0" anchor="ctr"/>
          <a:lstStyle/>
          <a:p>
            <a:pPr marL="342900" indent="-342900">
              <a:spcAft>
                <a:spcPts val="1200"/>
              </a:spcAft>
              <a:buSzPct val="100000"/>
              <a:buChar char="■"/>
            </a:pPr>
            <a:r>
              <a:rPr lang="en-US" sz="1800" dirty="0">
                <a:solidFill>
                  <a:srgbClr val="CADCFC"/>
                </a:solidFill>
                <a:latin typeface="Calibri" pitchFamily="34" charset="0"/>
                <a:ea typeface="Calibri" pitchFamily="34" charset="-122"/>
                <a:cs typeface="Calibri" pitchFamily="34" charset="-120"/>
              </a:rPr>
              <a:t>15+ months of improvements deflected by process language.</a:t>
            </a:r>
            <a:endParaRPr lang="en-US" sz="1800" dirty="0"/>
          </a:p>
          <a:p>
            <a:pPr marL="342900" indent="-342900">
              <a:spcAft>
                <a:spcPts val="1200"/>
              </a:spcAft>
              <a:buSzPct val="100000"/>
              <a:buChar char="■"/>
            </a:pPr>
            <a:r>
              <a:rPr lang="en-US" sz="1800" dirty="0">
                <a:solidFill>
                  <a:srgbClr val="CADCFC"/>
                </a:solidFill>
                <a:latin typeface="Calibri" pitchFamily="34" charset="0"/>
                <a:ea typeface="Calibri" pitchFamily="34" charset="-122"/>
                <a:cs typeface="Calibri" pitchFamily="34" charset="-120"/>
              </a:rPr>
              <a:t>Every net-new proposal blocked, praised into a drawer, or reframed as “not our framework.”</a:t>
            </a:r>
            <a:endParaRPr lang="en-US" sz="1800" dirty="0"/>
          </a:p>
          <a:p>
            <a:pPr marL="342900" indent="-342900">
              <a:buSzPct val="100000"/>
              <a:buChar char="■"/>
            </a:pPr>
            <a:r>
              <a:rPr lang="en-US" sz="1800" dirty="0">
                <a:solidFill>
                  <a:srgbClr val="CADCFC"/>
                </a:solidFill>
                <a:latin typeface="Calibri" pitchFamily="34" charset="0"/>
                <a:ea typeface="Calibri" pitchFamily="34" charset="-122"/>
                <a:cs typeface="Calibri" pitchFamily="34" charset="-120"/>
              </a:rPr>
              <a:t>Result: inaccurate brand, broken designs, execution errors.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P1</a:t>
            </a:r>
            <a:endParaRPr lang="en-US" sz="1400" dirty="0"/>
          </a:p>
        </p:txBody>
      </p:sp>
      <p:sp>
        <p:nvSpPr>
          <p:cNvPr id="4" name="Text 2"/>
          <p:cNvSpPr txBox="1"/>
          <p:nvPr/>
        </p:nvSpPr>
        <p:spPr>
          <a:xfrm>
            <a:off x="640080" y="365760"/>
            <a:ext cx="10058400" cy="822960"/>
          </a:xfrm>
          <a:prstGeom prst="rect">
            <a:avLst/>
          </a:prstGeom>
          <a:noFill/>
          <a:ln/>
        </p:spPr>
        <p:txBody>
          <a:bodyPr wrap="square" lIns="0" tIns="0" rIns="0" bIns="0" rtlCol="0" anchor="ctr"/>
          <a:lstStyle/>
          <a:p>
            <a:pPr indent="0" marL="0">
              <a:buNone/>
            </a:pPr>
            <a:r>
              <a:rPr lang="en-US" sz="4000" b="1" dirty="0">
                <a:solidFill>
                  <a:srgbClr val="141B4A"/>
                </a:solidFill>
                <a:latin typeface="Cambria" pitchFamily="34" charset="0"/>
                <a:ea typeface="Cambria" pitchFamily="34" charset="-122"/>
                <a:cs typeface="Cambria" pitchFamily="34" charset="-120"/>
              </a:rPr>
              <a:t>Same work. Opposite receptions.</a:t>
            </a:r>
            <a:endParaRPr lang="en-US" sz="4000" dirty="0"/>
          </a:p>
        </p:txBody>
      </p:sp>
      <p:sp>
        <p:nvSpPr>
          <p:cNvPr id="5" name="Text 3"/>
          <p:cNvSpPr txBox="1"/>
          <p:nvPr/>
        </p:nvSpPr>
        <p:spPr>
          <a:xfrm>
            <a:off x="640080" y="1188720"/>
            <a:ext cx="10058400" cy="45720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The exact same build. Two receptions. Only one blocks it.</a:t>
            </a:r>
            <a:endParaRPr lang="en-US" sz="1600" dirty="0"/>
          </a:p>
        </p:txBody>
      </p:sp>
      <p:sp>
        <p:nvSpPr>
          <p:cNvPr id="6" name="Shape 4"/>
          <p:cNvSpPr/>
          <p:nvPr/>
        </p:nvSpPr>
        <p:spPr>
          <a:xfrm>
            <a:off x="640080" y="2011680"/>
            <a:ext cx="5394960" cy="4114800"/>
          </a:xfrm>
          <a:prstGeom prst="roundRect">
            <a:avLst>
              <a:gd name="adj" fmla="val 2667"/>
            </a:avLst>
          </a:prstGeom>
          <a:solidFill>
            <a:srgbClr val="FFFFFF"/>
          </a:solidFill>
          <a:ln w="38100">
            <a:solidFill>
              <a:srgbClr val="A03A2E"/>
            </a:solidFill>
            <a:prstDash val="solid"/>
          </a:ln>
        </p:spPr>
      </p:sp>
      <p:sp>
        <p:nvSpPr>
          <p:cNvPr id="7" name="Text 5"/>
          <p:cNvSpPr txBox="1"/>
          <p:nvPr/>
        </p:nvSpPr>
        <p:spPr>
          <a:xfrm>
            <a:off x="914400" y="2194560"/>
            <a:ext cx="4846320" cy="365760"/>
          </a:xfrm>
          <a:prstGeom prst="rect">
            <a:avLst/>
          </a:prstGeom>
          <a:noFill/>
          <a:ln/>
        </p:spPr>
        <p:txBody>
          <a:bodyPr wrap="square" lIns="0" tIns="0" rIns="0" bIns="0" rtlCol="0" anchor="ctr"/>
          <a:lstStyle/>
          <a:p>
            <a:pPr indent="0" marL="0">
              <a:buNone/>
            </a:pPr>
            <a:r>
              <a:rPr lang="en-US" sz="1300" b="1" spc="400" kern="0" dirty="0">
                <a:solidFill>
                  <a:srgbClr val="A03A2E"/>
                </a:solidFill>
                <a:latin typeface="Calibri" pitchFamily="34" charset="0"/>
                <a:ea typeface="Calibri" pitchFamily="34" charset="-122"/>
                <a:cs typeface="Calibri" pitchFamily="34" charset="-120"/>
              </a:rPr>
              <a:t>DIGITAL SIDE</a:t>
            </a:r>
            <a:endParaRPr lang="en-US" sz="1300" dirty="0"/>
          </a:p>
        </p:txBody>
      </p:sp>
      <p:sp>
        <p:nvSpPr>
          <p:cNvPr id="8" name="Text 6"/>
          <p:cNvSpPr txBox="1"/>
          <p:nvPr/>
        </p:nvSpPr>
        <p:spPr>
          <a:xfrm>
            <a:off x="914400" y="2651760"/>
            <a:ext cx="4846320" cy="3200400"/>
          </a:xfrm>
          <a:prstGeom prst="rect">
            <a:avLst/>
          </a:prstGeom>
          <a:noFill/>
          <a:ln/>
        </p:spPr>
        <p:txBody>
          <a:bodyPr wrap="square" lIns="0" tIns="0" rIns="0" bIns="0" rtlCol="0" anchor="ctr"/>
          <a:lstStyle/>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“Well, but… what about process?”</a:t>
            </a:r>
            <a:endParaRPr lang="en-US" sz="2000" dirty="0"/>
          </a:p>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“It’s not intuitive.”</a:t>
            </a:r>
            <a:endParaRPr lang="en-US" sz="2000" dirty="0"/>
          </a:p>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“Not in the framework.”</a:t>
            </a:r>
            <a:endParaRPr lang="en-US" sz="2000" dirty="0"/>
          </a:p>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“Be innovative.” (then blocked)</a:t>
            </a:r>
            <a:endParaRPr lang="en-US" sz="2000" dirty="0"/>
          </a:p>
          <a:p>
            <a:pPr indent="0" marL="0">
              <a:buNone/>
            </a:pPr>
            <a:r>
              <a:rPr lang="en-US" sz="2000" dirty="0">
                <a:solidFill>
                  <a:srgbClr val="2C2C2C"/>
                </a:solidFill>
                <a:latin typeface="Cambria" pitchFamily="34" charset="0"/>
                <a:ea typeface="Cambria" pitchFamily="34" charset="-122"/>
                <a:cs typeface="Cambria" pitchFamily="34" charset="-120"/>
              </a:rPr>
              <a:t>“Great job!” (no adoption)</a:t>
            </a:r>
            <a:endParaRPr lang="en-US" sz="2000" dirty="0"/>
          </a:p>
        </p:txBody>
      </p:sp>
      <p:sp>
        <p:nvSpPr>
          <p:cNvPr id="9" name="Shape 7"/>
          <p:cNvSpPr/>
          <p:nvPr/>
        </p:nvSpPr>
        <p:spPr>
          <a:xfrm>
            <a:off x="6309360" y="2011680"/>
            <a:ext cx="5394960" cy="4114800"/>
          </a:xfrm>
          <a:prstGeom prst="roundRect">
            <a:avLst>
              <a:gd name="adj" fmla="val 2667"/>
            </a:avLst>
          </a:prstGeom>
          <a:solidFill>
            <a:srgbClr val="FFFFFF"/>
          </a:solidFill>
          <a:ln w="38100">
            <a:solidFill>
              <a:srgbClr val="E5A934"/>
            </a:solidFill>
            <a:prstDash val="solid"/>
          </a:ln>
        </p:spPr>
      </p:sp>
      <p:sp>
        <p:nvSpPr>
          <p:cNvPr id="10" name="Text 8"/>
          <p:cNvSpPr txBox="1"/>
          <p:nvPr/>
        </p:nvSpPr>
        <p:spPr>
          <a:xfrm>
            <a:off x="6583680" y="2194560"/>
            <a:ext cx="4846320" cy="365760"/>
          </a:xfrm>
          <a:prstGeom prst="rect">
            <a:avLst/>
          </a:prstGeom>
          <a:noFill/>
          <a:ln/>
        </p:spPr>
        <p:txBody>
          <a:bodyPr wrap="square" lIns="0" tIns="0" rIns="0" bIns="0" rtlCol="0" anchor="ctr"/>
          <a:lstStyle/>
          <a:p>
            <a:pPr indent="0" marL="0">
              <a:buNone/>
            </a:pPr>
            <a:r>
              <a:rPr lang="en-US" sz="1300" b="1" spc="400" kern="0" dirty="0">
                <a:solidFill>
                  <a:srgbClr val="E5A934"/>
                </a:solidFill>
                <a:latin typeface="Calibri" pitchFamily="34" charset="0"/>
                <a:ea typeface="Calibri" pitchFamily="34" charset="-122"/>
                <a:cs typeface="Calibri" pitchFamily="34" charset="-120"/>
              </a:rPr>
              <a:t>MARKETING / JOON / LJ</a:t>
            </a:r>
            <a:endParaRPr lang="en-US" sz="1300" dirty="0"/>
          </a:p>
        </p:txBody>
      </p:sp>
      <p:sp>
        <p:nvSpPr>
          <p:cNvPr id="11" name="Text 9"/>
          <p:cNvSpPr txBox="1"/>
          <p:nvPr/>
        </p:nvSpPr>
        <p:spPr>
          <a:xfrm>
            <a:off x="6583680" y="2651760"/>
            <a:ext cx="4846320" cy="3200400"/>
          </a:xfrm>
          <a:prstGeom prst="rect">
            <a:avLst/>
          </a:prstGeom>
          <a:noFill/>
          <a:ln/>
        </p:spPr>
        <p:txBody>
          <a:bodyPr wrap="square" lIns="0" tIns="0" rIns="0" bIns="0" rtlCol="0" anchor="ctr"/>
          <a:lstStyle/>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“Love what you’re building.”</a:t>
            </a:r>
            <a:endParaRPr lang="en-US" sz="2000" dirty="0"/>
          </a:p>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“This anticipates where we’re going.”</a:t>
            </a:r>
            <a:endParaRPr lang="en-US" sz="2000" dirty="0"/>
          </a:p>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“This speeds up the feedback loop.”</a:t>
            </a:r>
            <a:endParaRPr lang="en-US" sz="2000" dirty="0"/>
          </a:p>
          <a:p>
            <a:pPr indent="0" marL="0">
              <a:spcAft>
                <a:spcPts val="1400"/>
              </a:spcAft>
              <a:buNone/>
            </a:pPr>
            <a:r>
              <a:rPr lang="en-US" sz="2000" dirty="0">
                <a:solidFill>
                  <a:srgbClr val="2C2C2C"/>
                </a:solidFill>
                <a:latin typeface="Cambria" pitchFamily="34" charset="0"/>
                <a:ea typeface="Cambria" pitchFamily="34" charset="-122"/>
                <a:cs typeface="Cambria" pitchFamily="34" charset="-120"/>
              </a:rPr>
              <a:t>Forward-thinking. Not reactive.</a:t>
            </a:r>
            <a:endParaRPr lang="en-US" sz="2000" dirty="0"/>
          </a:p>
          <a:p>
            <a:pPr indent="0" marL="0">
              <a:buNone/>
            </a:pPr>
            <a:r>
              <a:rPr lang="en-US" sz="2000" dirty="0">
                <a:solidFill>
                  <a:srgbClr val="2C2C2C"/>
                </a:solidFill>
                <a:latin typeface="Cambria" pitchFamily="34" charset="0"/>
                <a:ea typeface="Cambria" pitchFamily="34" charset="-122"/>
                <a:cs typeface="Cambria" pitchFamily="34" charset="-120"/>
              </a:rPr>
              <a:t>Meets each build with momentum.</a:t>
            </a:r>
            <a:endParaRPr lang="en-US" sz="2000" dirty="0"/>
          </a:p>
        </p:txBody>
      </p:sp>
      <p:sp>
        <p:nvSpPr>
          <p:cNvPr id="12" name="Text 10"/>
          <p:cNvSpPr txBox="1"/>
          <p:nvPr/>
        </p:nvSpPr>
        <p:spPr>
          <a:xfrm>
            <a:off x="640080" y="6263640"/>
            <a:ext cx="10972800" cy="457200"/>
          </a:xfrm>
          <a:prstGeom prst="rect">
            <a:avLst/>
          </a:prstGeom>
          <a:noFill/>
          <a:ln/>
        </p:spPr>
        <p:txBody>
          <a:bodyPr wrap="square" lIns="0" tIns="0" rIns="0" bIns="0" rtlCol="0" anchor="ctr"/>
          <a:lstStyle/>
          <a:p>
            <a:pPr algn="ctr" indent="0" marL="0">
              <a:buNone/>
            </a:pPr>
            <a:r>
              <a:rPr lang="en-US" sz="1800" b="1" i="1" dirty="0">
                <a:solidFill>
                  <a:srgbClr val="141B4A"/>
                </a:solidFill>
                <a:latin typeface="Cambria" pitchFamily="34" charset="0"/>
                <a:ea typeface="Cambria" pitchFamily="34" charset="-122"/>
                <a:cs typeface="Cambria" pitchFamily="34" charset="-120"/>
              </a:rPr>
              <a:t>How do you inspire creativity when every idea is treated as problematic?</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P1</a:t>
            </a:r>
            <a:endParaRPr lang="en-US" sz="1400" dirty="0"/>
          </a:p>
        </p:txBody>
      </p:sp>
      <p:sp>
        <p:nvSpPr>
          <p:cNvPr id="4" name="Text 2"/>
          <p:cNvSpPr txBox="1"/>
          <p:nvPr/>
        </p:nvSpPr>
        <p:spPr>
          <a:xfrm>
            <a:off x="640080" y="548640"/>
            <a:ext cx="10972800" cy="457200"/>
          </a:xfrm>
          <a:prstGeom prst="rect">
            <a:avLst/>
          </a:prstGeom>
          <a:noFill/>
          <a:ln/>
        </p:spPr>
        <p:txBody>
          <a:bodyPr wrap="square" lIns="0" tIns="0" rIns="0" bIns="0" rtlCol="0" anchor="ctr"/>
          <a:lstStyle/>
          <a:p>
            <a:pPr indent="0" marL="0">
              <a:buNone/>
            </a:pPr>
            <a:r>
              <a:rPr lang="en-US" sz="1400" b="1" spc="600" kern="0" dirty="0">
                <a:solidFill>
                  <a:srgbClr val="E5A934"/>
                </a:solidFill>
                <a:latin typeface="Calibri" pitchFamily="34" charset="0"/>
                <a:ea typeface="Calibri" pitchFamily="34" charset="-122"/>
                <a:cs typeface="Calibri" pitchFamily="34" charset="-120"/>
              </a:rPr>
              <a:t>THE FEEDBACK LOOP</a:t>
            </a:r>
            <a:endParaRPr lang="en-US" sz="1400" dirty="0"/>
          </a:p>
        </p:txBody>
      </p:sp>
      <p:sp>
        <p:nvSpPr>
          <p:cNvPr id="5" name="Text 3"/>
          <p:cNvSpPr txBox="1"/>
          <p:nvPr/>
        </p:nvSpPr>
        <p:spPr>
          <a:xfrm>
            <a:off x="640080" y="1188720"/>
            <a:ext cx="10972800" cy="2194560"/>
          </a:xfrm>
          <a:prstGeom prst="rect">
            <a:avLst/>
          </a:prstGeom>
          <a:noFill/>
          <a:ln/>
        </p:spPr>
        <p:txBody>
          <a:bodyPr wrap="square" lIns="0" tIns="0" rIns="0" bIns="0" rtlCol="0" anchor="ctr"/>
          <a:lstStyle/>
          <a:p>
            <a:pPr algn="ctr" indent="0" marL="0">
              <a:buNone/>
            </a:pPr>
            <a:r>
              <a:rPr lang="en-US" sz="14000" b="1" dirty="0">
                <a:solidFill>
                  <a:srgbClr val="E5A934"/>
                </a:solidFill>
                <a:latin typeface="Cambria" pitchFamily="34" charset="0"/>
                <a:ea typeface="Cambria" pitchFamily="34" charset="-122"/>
                <a:cs typeface="Cambria" pitchFamily="34" charset="-120"/>
              </a:rPr>
              <a:t>5 minutes.</a:t>
            </a:r>
            <a:endParaRPr lang="en-US" sz="14000" dirty="0"/>
          </a:p>
        </p:txBody>
      </p:sp>
      <p:sp>
        <p:nvSpPr>
          <p:cNvPr id="6" name="Text 4"/>
          <p:cNvSpPr txBox="1"/>
          <p:nvPr/>
        </p:nvSpPr>
        <p:spPr>
          <a:xfrm>
            <a:off x="640080" y="3383280"/>
            <a:ext cx="10972800" cy="548640"/>
          </a:xfrm>
          <a:prstGeom prst="rect">
            <a:avLst/>
          </a:prstGeom>
          <a:noFill/>
          <a:ln/>
        </p:spPr>
        <p:txBody>
          <a:bodyPr wrap="square" lIns="0" tIns="0" rIns="0" bIns="0" rtlCol="0" anchor="ctr"/>
          <a:lstStyle/>
          <a:p>
            <a:pPr algn="ctr" indent="0" marL="0">
              <a:buNone/>
            </a:pPr>
            <a:r>
              <a:rPr lang="en-US" sz="2200" i="1" dirty="0">
                <a:solidFill>
                  <a:srgbClr val="CADCFC"/>
                </a:solidFill>
                <a:latin typeface="Cambria" pitchFamily="34" charset="0"/>
                <a:ea typeface="Cambria" pitchFamily="34" charset="-122"/>
                <a:cs typeface="Cambria" pitchFamily="34" charset="-120"/>
              </a:rPr>
              <a:t>“relatively speaking”</a:t>
            </a:r>
            <a:endParaRPr lang="en-US" sz="2200" dirty="0"/>
          </a:p>
        </p:txBody>
      </p:sp>
      <p:sp>
        <p:nvSpPr>
          <p:cNvPr id="7" name="Text 5"/>
          <p:cNvSpPr txBox="1"/>
          <p:nvPr/>
        </p:nvSpPr>
        <p:spPr>
          <a:xfrm>
            <a:off x="640080" y="4206240"/>
            <a:ext cx="10972800" cy="548640"/>
          </a:xfrm>
          <a:prstGeom prst="rect">
            <a:avLst/>
          </a:prstGeom>
          <a:noFill/>
          <a:ln/>
        </p:spPr>
        <p:txBody>
          <a:bodyPr wrap="square" lIns="0" tIns="0" rIns="0" bIns="0" rtlCol="0" anchor="ctr"/>
          <a:lstStyle/>
          <a:p>
            <a:pPr algn="ctr" indent="0" marL="0">
              <a:buNone/>
            </a:pPr>
            <a:r>
              <a:rPr lang="en-US" sz="2200" dirty="0">
                <a:solidFill>
                  <a:srgbClr val="CADCFC"/>
                </a:solidFill>
                <a:latin typeface="Calibri" pitchFamily="34" charset="0"/>
                <a:ea typeface="Calibri" pitchFamily="34" charset="-122"/>
                <a:cs typeface="Calibri" pitchFamily="34" charset="-120"/>
              </a:rPr>
              <a:t>Cumulative feedback from the digital side on the most recent build.</a:t>
            </a:r>
            <a:endParaRPr lang="en-US" sz="2200" dirty="0"/>
          </a:p>
        </p:txBody>
      </p:sp>
      <p:sp>
        <p:nvSpPr>
          <p:cNvPr id="8" name="Text 6"/>
          <p:cNvSpPr txBox="1"/>
          <p:nvPr/>
        </p:nvSpPr>
        <p:spPr>
          <a:xfrm>
            <a:off x="640080" y="5029200"/>
            <a:ext cx="10972800" cy="109728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+ 1 accessibility note — handled in 30 minutes to an hour, because the build is quality- and accuracy-focused.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P1</a:t>
            </a:r>
            <a:endParaRPr lang="en-US" sz="1400" dirty="0"/>
          </a:p>
        </p:txBody>
      </p:sp>
      <p:sp>
        <p:nvSpPr>
          <p:cNvPr id="4" name="Text 2"/>
          <p:cNvSpPr txBox="1"/>
          <p:nvPr/>
        </p:nvSpPr>
        <p:spPr>
          <a:xfrm>
            <a:off x="640080" y="457200"/>
            <a:ext cx="10241280" cy="777240"/>
          </a:xfrm>
          <a:prstGeom prst="rect">
            <a:avLst/>
          </a:prstGeom>
          <a:noFill/>
          <a:ln/>
        </p:spPr>
        <p:txBody>
          <a:bodyPr wrap="square" lIns="0" tIns="0" rIns="0" bIns="0" rtlCol="0" anchor="ctr"/>
          <a:lstStyle/>
          <a:p>
            <a:pPr indent="0" marL="0">
              <a:buNone/>
            </a:pPr>
            <a:r>
              <a:rPr lang="en-US" sz="3600" b="1" dirty="0">
                <a:solidFill>
                  <a:srgbClr val="141B4A"/>
                </a:solidFill>
                <a:latin typeface="Cambria" pitchFamily="34" charset="0"/>
                <a:ea typeface="Cambria" pitchFamily="34" charset="-122"/>
                <a:cs typeface="Cambria" pitchFamily="34" charset="-120"/>
              </a:rPr>
              <a:t>“Not intuitive.” A case study.</a:t>
            </a:r>
            <a:endParaRPr lang="en-US" sz="3600" dirty="0"/>
          </a:p>
        </p:txBody>
      </p:sp>
      <p:sp>
        <p:nvSpPr>
          <p:cNvPr id="5" name="Text 3"/>
          <p:cNvSpPr txBox="1"/>
          <p:nvPr/>
        </p:nvSpPr>
        <p:spPr>
          <a:xfrm>
            <a:off x="640080" y="1234440"/>
            <a:ext cx="10881360" cy="45720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In the Media / Press Releases page. Same data. Two designs. Only the older one is “intuitive.”</a:t>
            </a:r>
            <a:endParaRPr lang="en-US" sz="1400" dirty="0"/>
          </a:p>
        </p:txBody>
      </p:sp>
      <p:sp>
        <p:nvSpPr>
          <p:cNvPr id="6" name="Shape 4"/>
          <p:cNvSpPr/>
          <p:nvPr/>
        </p:nvSpPr>
        <p:spPr>
          <a:xfrm>
            <a:off x="640080" y="1828800"/>
            <a:ext cx="5394960" cy="4023360"/>
          </a:xfrm>
          <a:prstGeom prst="roundRect">
            <a:avLst>
              <a:gd name="adj" fmla="val 2273"/>
            </a:avLst>
          </a:prstGeom>
          <a:solidFill>
            <a:srgbClr val="FFFFFF"/>
          </a:solidFill>
          <a:ln w="12700">
            <a:solidFill>
              <a:srgbClr val="1E2761"/>
            </a:solidFill>
            <a:prstDash val="solid"/>
          </a:ln>
        </p:spPr>
      </p:sp>
      <p:sp>
        <p:nvSpPr>
          <p:cNvPr id="7" name="Text 5"/>
          <p:cNvSpPr txBox="1"/>
          <p:nvPr/>
        </p:nvSpPr>
        <p:spPr>
          <a:xfrm>
            <a:off x="914400" y="2011680"/>
            <a:ext cx="4846320" cy="365760"/>
          </a:xfrm>
          <a:prstGeom prst="rect">
            <a:avLst/>
          </a:prstGeom>
          <a:noFill/>
          <a:ln/>
        </p:spPr>
        <p:txBody>
          <a:bodyPr wrap="square" lIns="0" tIns="0" rIns="0" bIns="0" rtlCol="0" anchor="ctr"/>
          <a:lstStyle/>
          <a:p>
            <a:pPr indent="0" marL="0">
              <a:buNone/>
            </a:pPr>
            <a:r>
              <a:rPr lang="en-US" sz="1200" b="1" spc="400" kern="0" dirty="0">
                <a:solidFill>
                  <a:srgbClr val="141B4A"/>
                </a:solidFill>
                <a:latin typeface="Calibri" pitchFamily="34" charset="0"/>
                <a:ea typeface="Calibri" pitchFamily="34" charset="-122"/>
                <a:cs typeface="Calibri" pitchFamily="34" charset="-120"/>
              </a:rPr>
              <a:t>CURRENT  /  “INTUITIVE”</a:t>
            </a:r>
            <a:endParaRPr lang="en-US" sz="1200" dirty="0"/>
          </a:p>
        </p:txBody>
      </p:sp>
      <p:sp>
        <p:nvSpPr>
          <p:cNvPr id="8" name="Text 6"/>
          <p:cNvSpPr txBox="1"/>
          <p:nvPr/>
        </p:nvSpPr>
        <p:spPr>
          <a:xfrm>
            <a:off x="914400" y="2651760"/>
            <a:ext cx="4846320" cy="365760"/>
          </a:xfrm>
          <a:prstGeom prst="rect">
            <a:avLst/>
          </a:prstGeom>
          <a:noFill/>
          <a:ln/>
        </p:spPr>
        <p:txBody>
          <a:bodyPr wrap="square" lIns="0" tIns="0" rIns="0" bIns="0" rtlCol="0" anchor="ctr"/>
          <a:lstStyle/>
          <a:p>
            <a:pPr indent="0" marL="0">
              <a:buNone/>
            </a:pPr>
            <a:r>
              <a:rPr lang="en-US" sz="1500" dirty="0">
                <a:solidFill>
                  <a:srgbClr val="0051A5"/>
                </a:solidFill>
                <a:latin typeface="Calibri" pitchFamily="34" charset="0"/>
                <a:ea typeface="Calibri" pitchFamily="34" charset="-122"/>
                <a:cs typeface="Calibri" pitchFamily="34" charset="-120"/>
              </a:rPr>
              <a:t>2026  |  2025  |  2024  |  2023  |</a:t>
            </a:r>
            <a:endParaRPr lang="en-US" sz="1500" dirty="0"/>
          </a:p>
        </p:txBody>
      </p:sp>
      <p:sp>
        <p:nvSpPr>
          <p:cNvPr id="9" name="Text 7"/>
          <p:cNvSpPr txBox="1"/>
          <p:nvPr/>
        </p:nvSpPr>
        <p:spPr>
          <a:xfrm>
            <a:off x="914400" y="3017520"/>
            <a:ext cx="4846320" cy="365760"/>
          </a:xfrm>
          <a:prstGeom prst="rect">
            <a:avLst/>
          </a:prstGeom>
          <a:noFill/>
          <a:ln/>
        </p:spPr>
        <p:txBody>
          <a:bodyPr wrap="square" lIns="0" tIns="0" rIns="0" bIns="0" rtlCol="0" anchor="ctr"/>
          <a:lstStyle/>
          <a:p>
            <a:pPr indent="0" marL="0">
              <a:buNone/>
            </a:pPr>
            <a:r>
              <a:rPr lang="en-US" sz="1500" dirty="0">
                <a:solidFill>
                  <a:srgbClr val="0051A5"/>
                </a:solidFill>
                <a:latin typeface="Calibri" pitchFamily="34" charset="0"/>
                <a:ea typeface="Calibri" pitchFamily="34" charset="-122"/>
                <a:cs typeface="Calibri" pitchFamily="34" charset="-120"/>
              </a:rPr>
              <a:t>2022  |  2021  |  2020  |  2019  |</a:t>
            </a:r>
            <a:endParaRPr lang="en-US" sz="1500" dirty="0"/>
          </a:p>
        </p:txBody>
      </p:sp>
      <p:sp>
        <p:nvSpPr>
          <p:cNvPr id="10" name="Text 8"/>
          <p:cNvSpPr txBox="1"/>
          <p:nvPr/>
        </p:nvSpPr>
        <p:spPr>
          <a:xfrm>
            <a:off x="914400" y="3383280"/>
            <a:ext cx="4846320" cy="365760"/>
          </a:xfrm>
          <a:prstGeom prst="rect">
            <a:avLst/>
          </a:prstGeom>
          <a:noFill/>
          <a:ln/>
        </p:spPr>
        <p:txBody>
          <a:bodyPr wrap="square" lIns="0" tIns="0" rIns="0" bIns="0" rtlCol="0" anchor="ctr"/>
          <a:lstStyle/>
          <a:p>
            <a:pPr indent="0" marL="0">
              <a:buNone/>
            </a:pPr>
            <a:r>
              <a:rPr lang="en-US" sz="1500" dirty="0">
                <a:solidFill>
                  <a:srgbClr val="0051A5"/>
                </a:solidFill>
                <a:latin typeface="Calibri" pitchFamily="34" charset="0"/>
                <a:ea typeface="Calibri" pitchFamily="34" charset="-122"/>
                <a:cs typeface="Calibri" pitchFamily="34" charset="-120"/>
              </a:rPr>
              <a:t>2018  |  2017  |  2016  |  2015  …</a:t>
            </a:r>
            <a:endParaRPr lang="en-US" sz="1500" dirty="0"/>
          </a:p>
        </p:txBody>
      </p:sp>
      <p:sp>
        <p:nvSpPr>
          <p:cNvPr id="11" name="Shape 9"/>
          <p:cNvSpPr/>
          <p:nvPr/>
        </p:nvSpPr>
        <p:spPr>
          <a:xfrm>
            <a:off x="2286000" y="3931920"/>
            <a:ext cx="2103120" cy="502920"/>
          </a:xfrm>
          <a:prstGeom prst="roundRect">
            <a:avLst>
              <a:gd name="adj" fmla="val 14545"/>
            </a:avLst>
          </a:prstGeom>
          <a:solidFill>
            <a:srgbClr val="FFFFFF"/>
          </a:solidFill>
          <a:ln w="19050">
            <a:solidFill>
              <a:srgbClr val="141B4A"/>
            </a:solidFill>
            <a:prstDash val="solid"/>
          </a:ln>
        </p:spPr>
      </p:sp>
      <p:sp>
        <p:nvSpPr>
          <p:cNvPr id="12" name="Text 10"/>
          <p:cNvSpPr txBox="1"/>
          <p:nvPr/>
        </p:nvSpPr>
        <p:spPr>
          <a:xfrm>
            <a:off x="2286000" y="3931920"/>
            <a:ext cx="2103120" cy="502920"/>
          </a:xfrm>
          <a:prstGeom prst="rect">
            <a:avLst/>
          </a:prstGeom>
          <a:noFill/>
          <a:ln/>
        </p:spPr>
        <p:txBody>
          <a:bodyPr wrap="square" lIns="0" tIns="0" rIns="0" bIns="0" rtlCol="0" anchor="ctr"/>
          <a:lstStyle/>
          <a:p>
            <a:pPr algn="ctr" indent="0" marL="0">
              <a:buNone/>
            </a:pPr>
            <a:r>
              <a:rPr lang="en-US" sz="1300" b="1" dirty="0">
                <a:solidFill>
                  <a:srgbClr val="141B4A"/>
                </a:solidFill>
                <a:latin typeface="Calibri" pitchFamily="34" charset="0"/>
                <a:ea typeface="Calibri" pitchFamily="34" charset="-122"/>
                <a:cs typeface="Calibri" pitchFamily="34" charset="-120"/>
              </a:rPr>
              <a:t>See more</a:t>
            </a:r>
            <a:endParaRPr lang="en-US" sz="1300" dirty="0"/>
          </a:p>
        </p:txBody>
      </p:sp>
      <p:sp>
        <p:nvSpPr>
          <p:cNvPr id="13" name="Text 11"/>
          <p:cNvSpPr txBox="1"/>
          <p:nvPr/>
        </p:nvSpPr>
        <p:spPr>
          <a:xfrm>
            <a:off x="914400" y="4709160"/>
            <a:ext cx="4846320" cy="1005840"/>
          </a:xfrm>
          <a:prstGeom prst="rect">
            <a:avLst/>
          </a:prstGeom>
          <a:noFill/>
          <a:ln/>
        </p:spPr>
        <p:txBody>
          <a:bodyPr wrap="square" lIns="0" tIns="0" rIns="0" bIns="0" rtlCol="0" anchor="ctr"/>
          <a:lstStyle/>
          <a:p>
            <a:pPr indent="0" marL="0">
              <a:buNone/>
            </a:pPr>
            <a:r>
              <a:rPr lang="en-US" sz="1400" i="1" dirty="0">
                <a:solidFill>
                  <a:srgbClr val="2C2C2C"/>
                </a:solidFill>
                <a:latin typeface="Cambria" pitchFamily="34" charset="0"/>
                <a:ea typeface="Cambria" pitchFamily="34" charset="-122"/>
                <a:cs typeface="Cambria" pitchFamily="34" charset="-120"/>
              </a:rPr>
              <a:t>16 raw year links + a paginate button. Two ways to navigate the same list.</a:t>
            </a:r>
            <a:endParaRPr lang="en-US" sz="1400" dirty="0"/>
          </a:p>
        </p:txBody>
      </p:sp>
      <p:sp>
        <p:nvSpPr>
          <p:cNvPr id="14" name="Shape 12"/>
          <p:cNvSpPr/>
          <p:nvPr/>
        </p:nvSpPr>
        <p:spPr>
          <a:xfrm>
            <a:off x="6309360" y="1828800"/>
            <a:ext cx="5394960" cy="4023360"/>
          </a:xfrm>
          <a:prstGeom prst="roundRect">
            <a:avLst>
              <a:gd name="adj" fmla="val 2273"/>
            </a:avLst>
          </a:prstGeom>
          <a:solidFill>
            <a:srgbClr val="FFFFFF"/>
          </a:solidFill>
          <a:ln w="38100">
            <a:solidFill>
              <a:srgbClr val="A03A2E"/>
            </a:solidFill>
            <a:prstDash val="solid"/>
          </a:ln>
        </p:spPr>
      </p:sp>
      <p:sp>
        <p:nvSpPr>
          <p:cNvPr id="15" name="Text 13"/>
          <p:cNvSpPr txBox="1"/>
          <p:nvPr/>
        </p:nvSpPr>
        <p:spPr>
          <a:xfrm>
            <a:off x="6583680" y="2011680"/>
            <a:ext cx="4846320" cy="365760"/>
          </a:xfrm>
          <a:prstGeom prst="rect">
            <a:avLst/>
          </a:prstGeom>
          <a:noFill/>
          <a:ln/>
        </p:spPr>
        <p:txBody>
          <a:bodyPr wrap="square" lIns="0" tIns="0" rIns="0" bIns="0" rtlCol="0" anchor="ctr"/>
          <a:lstStyle/>
          <a:p>
            <a:pPr indent="0" marL="0">
              <a:buNone/>
            </a:pPr>
            <a:r>
              <a:rPr lang="en-US" sz="1200" b="1" spc="400" kern="0" dirty="0">
                <a:solidFill>
                  <a:srgbClr val="A03A2E"/>
                </a:solidFill>
                <a:latin typeface="Calibri" pitchFamily="34" charset="0"/>
                <a:ea typeface="Calibri" pitchFamily="34" charset="-122"/>
                <a:cs typeface="Calibri" pitchFamily="34" charset="-120"/>
              </a:rPr>
              <a:t>PROPOSED  /  “NOT INTUITIVE”</a:t>
            </a:r>
            <a:endParaRPr lang="en-US" sz="1200" dirty="0"/>
          </a:p>
        </p:txBody>
      </p:sp>
      <p:sp>
        <p:nvSpPr>
          <p:cNvPr id="16" name="Shape 14"/>
          <p:cNvSpPr/>
          <p:nvPr/>
        </p:nvSpPr>
        <p:spPr>
          <a:xfrm>
            <a:off x="6583680" y="2606040"/>
            <a:ext cx="4846320" cy="411480"/>
          </a:xfrm>
          <a:prstGeom prst="roundRect">
            <a:avLst>
              <a:gd name="adj" fmla="val 13333"/>
            </a:avLst>
          </a:prstGeom>
          <a:solidFill>
            <a:srgbClr val="FFFFFF"/>
          </a:solidFill>
          <a:ln w="12700">
            <a:solidFill>
              <a:srgbClr val="1E2761"/>
            </a:solidFill>
            <a:prstDash val="solid"/>
          </a:ln>
        </p:spPr>
      </p:sp>
      <p:sp>
        <p:nvSpPr>
          <p:cNvPr id="17" name="Text 15"/>
          <p:cNvSpPr txBox="1"/>
          <p:nvPr/>
        </p:nvSpPr>
        <p:spPr>
          <a:xfrm>
            <a:off x="6720840" y="2606040"/>
            <a:ext cx="4480560" cy="411480"/>
          </a:xfrm>
          <a:prstGeom prst="rect">
            <a:avLst/>
          </a:prstGeom>
          <a:noFill/>
          <a:ln/>
        </p:spPr>
        <p:txBody>
          <a:bodyPr wrap="square" lIns="0" tIns="0" rIns="0" bIns="0" rtlCol="0" anchor="ctr"/>
          <a:lstStyle/>
          <a:p>
            <a:pPr indent="0" marL="0">
              <a:buNone/>
            </a:pPr>
            <a:r>
              <a:rPr lang="en-US" sz="1200" dirty="0">
                <a:solidFill>
                  <a:srgbClr val="141B4A"/>
                </a:solidFill>
                <a:latin typeface="Calibri" pitchFamily="34" charset="0"/>
                <a:ea typeface="Calibri" pitchFamily="34" charset="-122"/>
                <a:cs typeface="Calibri" pitchFamily="34" charset="-120"/>
              </a:rPr>
              <a:t>Type</a:t>
            </a:r>
            <a:endParaRPr lang="en-US" sz="1200" dirty="0"/>
          </a:p>
        </p:txBody>
      </p:sp>
      <p:sp>
        <p:nvSpPr>
          <p:cNvPr id="18" name="Text 16"/>
          <p:cNvSpPr txBox="1"/>
          <p:nvPr/>
        </p:nvSpPr>
        <p:spPr>
          <a:xfrm>
            <a:off x="10972800" y="2606040"/>
            <a:ext cx="365760" cy="411480"/>
          </a:xfrm>
          <a:prstGeom prst="rect">
            <a:avLst/>
          </a:prstGeom>
          <a:noFill/>
          <a:ln/>
        </p:spPr>
        <p:txBody>
          <a:bodyPr wrap="square" lIns="0" tIns="0" rIns="0" bIns="0" rtlCol="0" anchor="ctr"/>
          <a:lstStyle/>
          <a:p>
            <a:pPr algn="r" indent="0" marL="0">
              <a:buNone/>
            </a:pPr>
            <a:r>
              <a:rPr lang="en-US" sz="1200" dirty="0">
                <a:solidFill>
                  <a:srgbClr val="141B4A"/>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6583680" y="3108960"/>
            <a:ext cx="4846320" cy="411480"/>
          </a:xfrm>
          <a:prstGeom prst="roundRect">
            <a:avLst>
              <a:gd name="adj" fmla="val 13333"/>
            </a:avLst>
          </a:prstGeom>
          <a:solidFill>
            <a:srgbClr val="FFFFFF"/>
          </a:solidFill>
          <a:ln w="12700">
            <a:solidFill>
              <a:srgbClr val="1E2761"/>
            </a:solidFill>
            <a:prstDash val="solid"/>
          </a:ln>
        </p:spPr>
      </p:sp>
      <p:sp>
        <p:nvSpPr>
          <p:cNvPr id="20" name="Text 18"/>
          <p:cNvSpPr txBox="1"/>
          <p:nvPr/>
        </p:nvSpPr>
        <p:spPr>
          <a:xfrm>
            <a:off x="6720840" y="3108960"/>
            <a:ext cx="4480560" cy="411480"/>
          </a:xfrm>
          <a:prstGeom prst="rect">
            <a:avLst/>
          </a:prstGeom>
          <a:noFill/>
          <a:ln/>
        </p:spPr>
        <p:txBody>
          <a:bodyPr wrap="square" lIns="0" tIns="0" rIns="0" bIns="0" rtlCol="0" anchor="ctr"/>
          <a:lstStyle/>
          <a:p>
            <a:pPr indent="0" marL="0">
              <a:buNone/>
            </a:pPr>
            <a:r>
              <a:rPr lang="en-US" sz="1200" dirty="0">
                <a:solidFill>
                  <a:srgbClr val="141B4A"/>
                </a:solidFill>
                <a:latin typeface="Calibri" pitchFamily="34" charset="0"/>
                <a:ea typeface="Calibri" pitchFamily="34" charset="-122"/>
                <a:cs typeface="Calibri" pitchFamily="34" charset="-120"/>
              </a:rPr>
              <a:t>Year</a:t>
            </a:r>
            <a:endParaRPr lang="en-US" sz="1200" dirty="0"/>
          </a:p>
        </p:txBody>
      </p:sp>
      <p:sp>
        <p:nvSpPr>
          <p:cNvPr id="21" name="Text 19"/>
          <p:cNvSpPr txBox="1"/>
          <p:nvPr/>
        </p:nvSpPr>
        <p:spPr>
          <a:xfrm>
            <a:off x="10972800" y="3108960"/>
            <a:ext cx="365760" cy="411480"/>
          </a:xfrm>
          <a:prstGeom prst="rect">
            <a:avLst/>
          </a:prstGeom>
          <a:noFill/>
          <a:ln/>
        </p:spPr>
        <p:txBody>
          <a:bodyPr wrap="square" lIns="0" tIns="0" rIns="0" bIns="0" rtlCol="0" anchor="ctr"/>
          <a:lstStyle/>
          <a:p>
            <a:pPr algn="r" indent="0" marL="0">
              <a:buNone/>
            </a:pPr>
            <a:r>
              <a:rPr lang="en-US" sz="1200" dirty="0">
                <a:solidFill>
                  <a:srgbClr val="141B4A"/>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6583680" y="3611880"/>
            <a:ext cx="4846320" cy="411480"/>
          </a:xfrm>
          <a:prstGeom prst="roundRect">
            <a:avLst>
              <a:gd name="adj" fmla="val 13333"/>
            </a:avLst>
          </a:prstGeom>
          <a:solidFill>
            <a:srgbClr val="FFFFFF"/>
          </a:solidFill>
          <a:ln w="12700">
            <a:solidFill>
              <a:srgbClr val="1E2761"/>
            </a:solidFill>
            <a:prstDash val="solid"/>
          </a:ln>
        </p:spPr>
      </p:sp>
      <p:sp>
        <p:nvSpPr>
          <p:cNvPr id="23" name="Text 21"/>
          <p:cNvSpPr txBox="1"/>
          <p:nvPr/>
        </p:nvSpPr>
        <p:spPr>
          <a:xfrm>
            <a:off x="6720840" y="3611880"/>
            <a:ext cx="4480560" cy="411480"/>
          </a:xfrm>
          <a:prstGeom prst="rect">
            <a:avLst/>
          </a:prstGeom>
          <a:noFill/>
          <a:ln/>
        </p:spPr>
        <p:txBody>
          <a:bodyPr wrap="square" lIns="0" tIns="0" rIns="0" bIns="0" rtlCol="0" anchor="ctr"/>
          <a:lstStyle/>
          <a:p>
            <a:pPr indent="0" marL="0">
              <a:buNone/>
            </a:pPr>
            <a:r>
              <a:rPr lang="en-US" sz="1200" dirty="0">
                <a:solidFill>
                  <a:srgbClr val="141B4A"/>
                </a:solidFill>
                <a:latin typeface="Calibri" pitchFamily="34" charset="0"/>
                <a:ea typeface="Calibri" pitchFamily="34" charset="-122"/>
                <a:cs typeface="Calibri" pitchFamily="34" charset="-120"/>
              </a:rPr>
              <a:t>Month</a:t>
            </a:r>
            <a:endParaRPr lang="en-US" sz="1200" dirty="0"/>
          </a:p>
        </p:txBody>
      </p:sp>
      <p:sp>
        <p:nvSpPr>
          <p:cNvPr id="24" name="Text 22"/>
          <p:cNvSpPr txBox="1"/>
          <p:nvPr/>
        </p:nvSpPr>
        <p:spPr>
          <a:xfrm>
            <a:off x="10972800" y="3611880"/>
            <a:ext cx="365760" cy="411480"/>
          </a:xfrm>
          <a:prstGeom prst="rect">
            <a:avLst/>
          </a:prstGeom>
          <a:noFill/>
          <a:ln/>
        </p:spPr>
        <p:txBody>
          <a:bodyPr wrap="square" lIns="0" tIns="0" rIns="0" bIns="0" rtlCol="0" anchor="ctr"/>
          <a:lstStyle/>
          <a:p>
            <a:pPr algn="r" indent="0" marL="0">
              <a:buNone/>
            </a:pPr>
            <a:r>
              <a:rPr lang="en-US" sz="1200" dirty="0">
                <a:solidFill>
                  <a:srgbClr val="141B4A"/>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6583680" y="4114800"/>
            <a:ext cx="4846320" cy="411480"/>
          </a:xfrm>
          <a:prstGeom prst="roundRect">
            <a:avLst>
              <a:gd name="adj" fmla="val 13333"/>
            </a:avLst>
          </a:prstGeom>
          <a:solidFill>
            <a:srgbClr val="FFFFFF"/>
          </a:solidFill>
          <a:ln w="12700">
            <a:solidFill>
              <a:srgbClr val="1E2761"/>
            </a:solidFill>
            <a:prstDash val="solid"/>
          </a:ln>
        </p:spPr>
      </p:sp>
      <p:sp>
        <p:nvSpPr>
          <p:cNvPr id="26" name="Text 24"/>
          <p:cNvSpPr txBox="1"/>
          <p:nvPr/>
        </p:nvSpPr>
        <p:spPr>
          <a:xfrm>
            <a:off x="6720840" y="4114800"/>
            <a:ext cx="4480560" cy="411480"/>
          </a:xfrm>
          <a:prstGeom prst="rect">
            <a:avLst/>
          </a:prstGeom>
          <a:noFill/>
          <a:ln/>
        </p:spPr>
        <p:txBody>
          <a:bodyPr wrap="square" lIns="0" tIns="0" rIns="0" bIns="0" rtlCol="0" anchor="ctr"/>
          <a:lstStyle/>
          <a:p>
            <a:pPr indent="0" marL="0">
              <a:buNone/>
            </a:pPr>
            <a:r>
              <a:rPr lang="en-US" sz="1200" dirty="0">
                <a:solidFill>
                  <a:srgbClr val="141B4A"/>
                </a:solidFill>
                <a:latin typeface="Calibri" pitchFamily="34" charset="0"/>
                <a:ea typeface="Calibri" pitchFamily="34" charset="-122"/>
                <a:cs typeface="Calibri" pitchFamily="34" charset="-120"/>
              </a:rPr>
              <a:t>Region</a:t>
            </a:r>
            <a:endParaRPr lang="en-US" sz="1200" dirty="0"/>
          </a:p>
        </p:txBody>
      </p:sp>
      <p:sp>
        <p:nvSpPr>
          <p:cNvPr id="27" name="Text 25"/>
          <p:cNvSpPr txBox="1"/>
          <p:nvPr/>
        </p:nvSpPr>
        <p:spPr>
          <a:xfrm>
            <a:off x="10972800" y="4114800"/>
            <a:ext cx="365760" cy="411480"/>
          </a:xfrm>
          <a:prstGeom prst="rect">
            <a:avLst/>
          </a:prstGeom>
          <a:noFill/>
          <a:ln/>
        </p:spPr>
        <p:txBody>
          <a:bodyPr wrap="square" lIns="0" tIns="0" rIns="0" bIns="0" rtlCol="0" anchor="ctr"/>
          <a:lstStyle/>
          <a:p>
            <a:pPr algn="r" indent="0" marL="0">
              <a:buNone/>
            </a:pPr>
            <a:r>
              <a:rPr lang="en-US" sz="1200" dirty="0">
                <a:solidFill>
                  <a:srgbClr val="141B4A"/>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6583680" y="4709160"/>
            <a:ext cx="4846320" cy="1005840"/>
          </a:xfrm>
          <a:prstGeom prst="rect">
            <a:avLst/>
          </a:prstGeom>
          <a:noFill/>
          <a:ln/>
        </p:spPr>
        <p:txBody>
          <a:bodyPr wrap="square" lIns="0" tIns="0" rIns="0" bIns="0" rtlCol="0" anchor="ctr"/>
          <a:lstStyle/>
          <a:p>
            <a:pPr indent="0" marL="0">
              <a:buNone/>
            </a:pPr>
            <a:r>
              <a:rPr lang="en-US" sz="1400" i="1" dirty="0">
                <a:solidFill>
                  <a:srgbClr val="2C2C2C"/>
                </a:solidFill>
                <a:latin typeface="Cambria" pitchFamily="34" charset="0"/>
                <a:ea typeface="Cambria" pitchFamily="34" charset="-122"/>
                <a:cs typeface="Cambria" pitchFamily="34" charset="-120"/>
              </a:rPr>
              <a:t>Reuses the approved filter pattern already shipping on Conference Insights.</a:t>
            </a:r>
            <a:endParaRPr lang="en-US" sz="1400" dirty="0"/>
          </a:p>
        </p:txBody>
      </p:sp>
      <p:sp>
        <p:nvSpPr>
          <p:cNvPr id="29" name="Text 27"/>
          <p:cNvSpPr txBox="1"/>
          <p:nvPr/>
        </p:nvSpPr>
        <p:spPr>
          <a:xfrm>
            <a:off x="640080" y="5989320"/>
            <a:ext cx="10881360" cy="457200"/>
          </a:xfrm>
          <a:prstGeom prst="rect">
            <a:avLst/>
          </a:prstGeom>
          <a:noFill/>
          <a:ln/>
        </p:spPr>
        <p:txBody>
          <a:bodyPr wrap="square" lIns="0" tIns="0" rIns="0" bIns="0" rtlCol="0" anchor="ctr"/>
          <a:lstStyle/>
          <a:p>
            <a:pPr algn="ctr" indent="0" marL="0">
              <a:buNone/>
            </a:pPr>
            <a:r>
              <a:rPr lang="en-US" sz="1800" b="1" i="1" dirty="0">
                <a:solidFill>
                  <a:srgbClr val="141B4A"/>
                </a:solidFill>
                <a:latin typeface="Cambria" pitchFamily="34" charset="0"/>
                <a:ea typeface="Cambria" pitchFamily="34" charset="-122"/>
                <a:cs typeface="Cambria" pitchFamily="34" charset="-120"/>
              </a:rPr>
              <a:t>Same design pattern. Already approved. Already shipping. Different data set → different verdict.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A"/>
        </a:solidFill>
      </p:bgPr>
    </p:bg>
    <p:spTree>
      <p:nvGrpSpPr>
        <p:cNvPr id="1" name=""/>
        <p:cNvGrpSpPr/>
        <p:nvPr/>
      </p:nvGrpSpPr>
      <p:grpSpPr>
        <a:xfrm>
          <a:off x="0" y="0"/>
          <a:ext cx="0" cy="0"/>
          <a:chOff x="0" y="0"/>
          <a:chExt cx="0" cy="0"/>
        </a:xfrm>
      </p:grpSpPr>
      <p:sp>
        <p:nvSpPr>
          <p:cNvPr id="2" name="Shape 0"/>
          <p:cNvSpPr/>
          <p:nvPr/>
        </p:nvSpPr>
        <p:spPr>
          <a:xfrm>
            <a:off x="822960" y="1463040"/>
            <a:ext cx="3291840" cy="3291840"/>
          </a:xfrm>
          <a:prstGeom prst="ellipse">
            <a:avLst/>
          </a:prstGeom>
          <a:solidFill>
            <a:srgbClr val="E5A934"/>
          </a:solidFill>
          <a:ln w="12700">
            <a:solidFill>
              <a:srgbClr val="E5A934"/>
            </a:solidFill>
            <a:prstDash val="solid"/>
          </a:ln>
        </p:spPr>
      </p:sp>
      <p:sp>
        <p:nvSpPr>
          <p:cNvPr id="3" name="Text 1"/>
          <p:cNvSpPr txBox="1"/>
          <p:nvPr/>
        </p:nvSpPr>
        <p:spPr>
          <a:xfrm>
            <a:off x="822960" y="1463040"/>
            <a:ext cx="3291840" cy="3291840"/>
          </a:xfrm>
          <a:prstGeom prst="rect">
            <a:avLst/>
          </a:prstGeom>
          <a:noFill/>
          <a:ln/>
        </p:spPr>
        <p:txBody>
          <a:bodyPr wrap="square" lIns="0" tIns="0" rIns="0" bIns="0" rtlCol="0" anchor="ctr"/>
          <a:lstStyle/>
          <a:p>
            <a:pPr algn="ctr" indent="0" marL="0">
              <a:buNone/>
            </a:pPr>
            <a:r>
              <a:rPr lang="en-US" sz="12240" b="1" dirty="0">
                <a:solidFill>
                  <a:srgbClr val="141B4A"/>
                </a:solidFill>
                <a:latin typeface="Cambria" pitchFamily="34" charset="0"/>
                <a:ea typeface="Cambria" pitchFamily="34" charset="-122"/>
                <a:cs typeface="Cambria" pitchFamily="34" charset="-120"/>
              </a:rPr>
              <a:t>P2</a:t>
            </a:r>
            <a:endParaRPr lang="en-US" sz="12240" dirty="0"/>
          </a:p>
        </p:txBody>
      </p:sp>
      <p:sp>
        <p:nvSpPr>
          <p:cNvPr id="4" name="Text 2"/>
          <p:cNvSpPr txBox="1"/>
          <p:nvPr/>
        </p:nvSpPr>
        <p:spPr>
          <a:xfrm>
            <a:off x="4480560" y="1737360"/>
            <a:ext cx="7315200" cy="118872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Platform</a:t>
            </a:r>
            <a:endParaRPr lang="en-US" sz="7600" dirty="0"/>
          </a:p>
        </p:txBody>
      </p:sp>
      <p:sp>
        <p:nvSpPr>
          <p:cNvPr id="5" name="Text 3"/>
          <p:cNvSpPr txBox="1"/>
          <p:nvPr/>
        </p:nvSpPr>
        <p:spPr>
          <a:xfrm>
            <a:off x="4480560" y="2926080"/>
            <a:ext cx="7315200" cy="100584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A legacy platform we’re afraid to touch — used for work it wasn’t built for.</a:t>
            </a:r>
            <a:endParaRPr lang="en-US" sz="2000" dirty="0"/>
          </a:p>
        </p:txBody>
      </p:sp>
      <p:sp>
        <p:nvSpPr>
          <p:cNvPr id="6" name="Text 4"/>
          <p:cNvSpPr txBox="1"/>
          <p:nvPr/>
        </p:nvSpPr>
        <p:spPr>
          <a:xfrm>
            <a:off x="4480560" y="4114800"/>
            <a:ext cx="7315200" cy="2377440"/>
          </a:xfrm>
          <a:prstGeom prst="rect">
            <a:avLst/>
          </a:prstGeom>
          <a:noFill/>
          <a:ln/>
        </p:spPr>
        <p:txBody>
          <a:bodyPr wrap="square" lIns="0" tIns="0" rIns="0" bIns="0" rtlCol="0" anchor="ctr"/>
          <a:lstStyle/>
          <a:p>
            <a:pPr marL="342900" indent="-342900">
              <a:spcAft>
                <a:spcPts val="1200"/>
              </a:spcAft>
              <a:buSzPct val="100000"/>
              <a:buChar char="■"/>
            </a:pPr>
            <a:r>
              <a:rPr lang="en-US" sz="1800" dirty="0">
                <a:solidFill>
                  <a:srgbClr val="CADCFC"/>
                </a:solidFill>
                <a:latin typeface="Calibri" pitchFamily="34" charset="0"/>
                <a:ea typeface="Calibri" pitchFamily="34" charset="-122"/>
                <a:cs typeface="Calibri" pitchFamily="34" charset="-120"/>
              </a:rPr>
              <a:t>Bootstrap + jQuery + TeamSite = antiquated foundation.</a:t>
            </a:r>
            <a:endParaRPr lang="en-US" sz="1800" dirty="0"/>
          </a:p>
          <a:p>
            <a:pPr marL="342900" indent="-342900">
              <a:spcAft>
                <a:spcPts val="1200"/>
              </a:spcAft>
              <a:buSzPct val="100000"/>
              <a:buChar char="■"/>
            </a:pPr>
            <a:r>
              <a:rPr lang="en-US" sz="1800" dirty="0">
                <a:solidFill>
                  <a:srgbClr val="CADCFC"/>
                </a:solidFill>
                <a:latin typeface="Calibri" pitchFamily="34" charset="0"/>
                <a:ea typeface="Calibri" pitchFamily="34" charset="-122"/>
                <a:cs typeface="Calibri" pitchFamily="34" charset="-120"/>
              </a:rPr>
              <a:t>Modern CSS + Figma dev-mode could match the design faster and cleaner.</a:t>
            </a:r>
            <a:endParaRPr lang="en-US" sz="1800" dirty="0"/>
          </a:p>
          <a:p>
            <a:pPr marL="342900" indent="-342900">
              <a:buSzPct val="100000"/>
              <a:buChar char="■"/>
            </a:pPr>
            <a:r>
              <a:rPr lang="en-US" sz="1800" dirty="0">
                <a:solidFill>
                  <a:srgbClr val="CADCFC"/>
                </a:solidFill>
                <a:latin typeface="Calibri" pitchFamily="34" charset="0"/>
                <a:ea typeface="Calibri" pitchFamily="34" charset="-122"/>
                <a:cs typeface="Calibri" pitchFamily="34" charset="-120"/>
              </a:rPr>
              <a:t>“Round up, round down” fitting: Bootstrap, inaccurate Figma, feedback loops, and designers questioning why it doesn’t match.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P2</a:t>
            </a:r>
            <a:endParaRPr lang="en-US" sz="1400" dirty="0"/>
          </a:p>
        </p:txBody>
      </p:sp>
      <p:sp>
        <p:nvSpPr>
          <p:cNvPr id="4" name="Text 2"/>
          <p:cNvSpPr txBox="1"/>
          <p:nvPr/>
        </p:nvSpPr>
        <p:spPr>
          <a:xfrm>
            <a:off x="640080" y="822960"/>
            <a:ext cx="10972800" cy="914400"/>
          </a:xfrm>
          <a:prstGeom prst="rect">
            <a:avLst/>
          </a:prstGeom>
          <a:noFill/>
          <a:ln/>
        </p:spPr>
        <p:txBody>
          <a:bodyPr wrap="square" lIns="0" tIns="0" rIns="0" bIns="0" rtlCol="0" anchor="ctr"/>
          <a:lstStyle/>
          <a:p>
            <a:pPr indent="0" marL="0">
              <a:buNone/>
            </a:pPr>
            <a:r>
              <a:rPr lang="en-US" sz="4400" b="1" dirty="0">
                <a:solidFill>
                  <a:srgbClr val="141B4A"/>
                </a:solidFill>
                <a:latin typeface="Cambria" pitchFamily="34" charset="0"/>
                <a:ea typeface="Cambria" pitchFamily="34" charset="-122"/>
                <a:cs typeface="Cambria" pitchFamily="34" charset="-120"/>
              </a:rPr>
              <a:t>BEM isn’t AI. It’s standard.</a:t>
            </a:r>
            <a:endParaRPr lang="en-US" sz="4400" dirty="0"/>
          </a:p>
        </p:txBody>
      </p:sp>
      <p:sp>
        <p:nvSpPr>
          <p:cNvPr id="5" name="Text 3"/>
          <p:cNvSpPr txBox="1"/>
          <p:nvPr/>
        </p:nvSpPr>
        <p:spPr>
          <a:xfrm>
            <a:off x="640080" y="1737360"/>
            <a:ext cx="10972800" cy="457200"/>
          </a:xfrm>
          <a:prstGeom prst="rect">
            <a:avLst/>
          </a:prstGeom>
          <a:noFill/>
          <a:ln/>
        </p:spPr>
        <p:txBody>
          <a:bodyPr wrap="square" lIns="0" tIns="0" rIns="0" bIns="0" rtlCol="0" anchor="ctr"/>
          <a:lstStyle/>
          <a:p>
            <a:pPr indent="0" marL="0">
              <a:buNone/>
            </a:pPr>
            <a:r>
              <a:rPr lang="en-US" sz="1800" dirty="0">
                <a:solidFill>
                  <a:srgbClr val="6B6B6B"/>
                </a:solidFill>
                <a:latin typeface="Calibri" pitchFamily="34" charset="0"/>
                <a:ea typeface="Calibri" pitchFamily="34" charset="-122"/>
                <a:cs typeface="Calibri" pitchFamily="34" charset="-120"/>
              </a:rPr>
              <a:t>Block-Element-Modifier is a widely used, industry-standard component-CSS methodology.</a:t>
            </a:r>
            <a:endParaRPr lang="en-US" sz="1800" dirty="0"/>
          </a:p>
        </p:txBody>
      </p:sp>
      <p:sp>
        <p:nvSpPr>
          <p:cNvPr id="6" name="Shape 4"/>
          <p:cNvSpPr/>
          <p:nvPr/>
        </p:nvSpPr>
        <p:spPr>
          <a:xfrm>
            <a:off x="640080" y="2743200"/>
            <a:ext cx="2651760" cy="1737360"/>
          </a:xfrm>
          <a:prstGeom prst="roundRect">
            <a:avLst>
              <a:gd name="adj" fmla="val 5263"/>
            </a:avLst>
          </a:prstGeom>
          <a:solidFill>
            <a:srgbClr val="141B4A"/>
          </a:solidFill>
          <a:ln w="12700">
            <a:solidFill>
              <a:srgbClr val="141B4A"/>
            </a:solidFill>
            <a:prstDash val="solid"/>
          </a:ln>
        </p:spPr>
      </p:sp>
      <p:sp>
        <p:nvSpPr>
          <p:cNvPr id="7" name="Text 5"/>
          <p:cNvSpPr txBox="1"/>
          <p:nvPr/>
        </p:nvSpPr>
        <p:spPr>
          <a:xfrm>
            <a:off x="640080" y="2743200"/>
            <a:ext cx="2651760" cy="1737360"/>
          </a:xfrm>
          <a:prstGeom prst="rect">
            <a:avLst/>
          </a:prstGeom>
          <a:noFill/>
          <a:ln/>
        </p:spPr>
        <p:txBody>
          <a:bodyPr wrap="square" lIns="0" tIns="0" rIns="0" bIns="0" rtlCol="0" anchor="ctr"/>
          <a:lstStyle/>
          <a:p>
            <a:pPr algn="ctr" indent="0" marL="0">
              <a:buNone/>
            </a:pPr>
            <a:r>
              <a:rPr lang="en-US" sz="2400" b="1" spc="300" kern="0" dirty="0">
                <a:solidFill>
                  <a:srgbClr val="E5A934"/>
                </a:solidFill>
                <a:latin typeface="Cambria" pitchFamily="34" charset="0"/>
                <a:ea typeface="Cambria" pitchFamily="34" charset="-122"/>
                <a:cs typeface="Cambria" pitchFamily="34" charset="-120"/>
              </a:rPr>
              <a:t>GOOGLE</a:t>
            </a:r>
            <a:endParaRPr lang="en-US" sz="2400" dirty="0"/>
          </a:p>
        </p:txBody>
      </p:sp>
      <p:sp>
        <p:nvSpPr>
          <p:cNvPr id="8" name="Shape 6"/>
          <p:cNvSpPr/>
          <p:nvPr/>
        </p:nvSpPr>
        <p:spPr>
          <a:xfrm>
            <a:off x="3429000" y="2743200"/>
            <a:ext cx="2651760" cy="1737360"/>
          </a:xfrm>
          <a:prstGeom prst="roundRect">
            <a:avLst>
              <a:gd name="adj" fmla="val 5263"/>
            </a:avLst>
          </a:prstGeom>
          <a:solidFill>
            <a:srgbClr val="141B4A"/>
          </a:solidFill>
          <a:ln w="12700">
            <a:solidFill>
              <a:srgbClr val="141B4A"/>
            </a:solidFill>
            <a:prstDash val="solid"/>
          </a:ln>
        </p:spPr>
      </p:sp>
      <p:sp>
        <p:nvSpPr>
          <p:cNvPr id="9" name="Text 7"/>
          <p:cNvSpPr txBox="1"/>
          <p:nvPr/>
        </p:nvSpPr>
        <p:spPr>
          <a:xfrm>
            <a:off x="3429000" y="2743200"/>
            <a:ext cx="2651760" cy="1737360"/>
          </a:xfrm>
          <a:prstGeom prst="rect">
            <a:avLst/>
          </a:prstGeom>
          <a:noFill/>
          <a:ln/>
        </p:spPr>
        <p:txBody>
          <a:bodyPr wrap="square" lIns="0" tIns="0" rIns="0" bIns="0" rtlCol="0" anchor="ctr"/>
          <a:lstStyle/>
          <a:p>
            <a:pPr algn="ctr" indent="0" marL="0">
              <a:buNone/>
            </a:pPr>
            <a:r>
              <a:rPr lang="en-US" sz="2400" b="1" spc="300" kern="0" dirty="0">
                <a:solidFill>
                  <a:srgbClr val="E5A934"/>
                </a:solidFill>
                <a:latin typeface="Cambria" pitchFamily="34" charset="0"/>
                <a:ea typeface="Cambria" pitchFamily="34" charset="-122"/>
                <a:cs typeface="Cambria" pitchFamily="34" charset="-120"/>
              </a:rPr>
              <a:t>STRIPE</a:t>
            </a:r>
            <a:endParaRPr lang="en-US" sz="2400" dirty="0"/>
          </a:p>
        </p:txBody>
      </p:sp>
      <p:sp>
        <p:nvSpPr>
          <p:cNvPr id="10" name="Shape 8"/>
          <p:cNvSpPr/>
          <p:nvPr/>
        </p:nvSpPr>
        <p:spPr>
          <a:xfrm>
            <a:off x="6217920" y="2743200"/>
            <a:ext cx="2651760" cy="1737360"/>
          </a:xfrm>
          <a:prstGeom prst="roundRect">
            <a:avLst>
              <a:gd name="adj" fmla="val 5263"/>
            </a:avLst>
          </a:prstGeom>
          <a:solidFill>
            <a:srgbClr val="141B4A"/>
          </a:solidFill>
          <a:ln w="12700">
            <a:solidFill>
              <a:srgbClr val="141B4A"/>
            </a:solidFill>
            <a:prstDash val="solid"/>
          </a:ln>
        </p:spPr>
      </p:sp>
      <p:sp>
        <p:nvSpPr>
          <p:cNvPr id="11" name="Text 9"/>
          <p:cNvSpPr txBox="1"/>
          <p:nvPr/>
        </p:nvSpPr>
        <p:spPr>
          <a:xfrm>
            <a:off x="6217920" y="2743200"/>
            <a:ext cx="2651760" cy="1737360"/>
          </a:xfrm>
          <a:prstGeom prst="rect">
            <a:avLst/>
          </a:prstGeom>
          <a:noFill/>
          <a:ln/>
        </p:spPr>
        <p:txBody>
          <a:bodyPr wrap="square" lIns="0" tIns="0" rIns="0" bIns="0" rtlCol="0" anchor="ctr"/>
          <a:lstStyle/>
          <a:p>
            <a:pPr algn="ctr" indent="0" marL="0">
              <a:buNone/>
            </a:pPr>
            <a:r>
              <a:rPr lang="en-US" sz="2400" b="1" spc="300" kern="0" dirty="0">
                <a:solidFill>
                  <a:srgbClr val="E5A934"/>
                </a:solidFill>
                <a:latin typeface="Cambria" pitchFamily="34" charset="0"/>
                <a:ea typeface="Cambria" pitchFamily="34" charset="-122"/>
                <a:cs typeface="Cambria" pitchFamily="34" charset="-120"/>
              </a:rPr>
              <a:t>CBRE</a:t>
            </a:r>
            <a:endParaRPr lang="en-US" sz="2400" dirty="0"/>
          </a:p>
        </p:txBody>
      </p:sp>
      <p:sp>
        <p:nvSpPr>
          <p:cNvPr id="12" name="Shape 10"/>
          <p:cNvSpPr/>
          <p:nvPr/>
        </p:nvSpPr>
        <p:spPr>
          <a:xfrm>
            <a:off x="9006840" y="2743200"/>
            <a:ext cx="2651760" cy="1737360"/>
          </a:xfrm>
          <a:prstGeom prst="roundRect">
            <a:avLst>
              <a:gd name="adj" fmla="val 5263"/>
            </a:avLst>
          </a:prstGeom>
          <a:solidFill>
            <a:srgbClr val="141B4A"/>
          </a:solidFill>
          <a:ln w="12700">
            <a:solidFill>
              <a:srgbClr val="141B4A"/>
            </a:solidFill>
            <a:prstDash val="solid"/>
          </a:ln>
        </p:spPr>
      </p:sp>
      <p:sp>
        <p:nvSpPr>
          <p:cNvPr id="13" name="Text 11"/>
          <p:cNvSpPr txBox="1"/>
          <p:nvPr/>
        </p:nvSpPr>
        <p:spPr>
          <a:xfrm>
            <a:off x="9006840" y="2743200"/>
            <a:ext cx="2651760" cy="1737360"/>
          </a:xfrm>
          <a:prstGeom prst="rect">
            <a:avLst/>
          </a:prstGeom>
          <a:noFill/>
          <a:ln/>
        </p:spPr>
        <p:txBody>
          <a:bodyPr wrap="square" lIns="0" tIns="0" rIns="0" bIns="0" rtlCol="0" anchor="ctr"/>
          <a:lstStyle/>
          <a:p>
            <a:pPr algn="ctr" indent="0" marL="0">
              <a:buNone/>
            </a:pPr>
            <a:r>
              <a:rPr lang="en-US" sz="2400" b="1" spc="300" kern="0" dirty="0">
                <a:solidFill>
                  <a:srgbClr val="E5A934"/>
                </a:solidFill>
                <a:latin typeface="Cambria" pitchFamily="34" charset="0"/>
                <a:ea typeface="Cambria" pitchFamily="34" charset="-122"/>
                <a:cs typeface="Cambria" pitchFamily="34" charset="-120"/>
              </a:rPr>
              <a:t>HOME DEPOT</a:t>
            </a:r>
            <a:endParaRPr lang="en-US" sz="2400" dirty="0"/>
          </a:p>
        </p:txBody>
      </p:sp>
      <p:sp>
        <p:nvSpPr>
          <p:cNvPr id="14" name="Text 12"/>
          <p:cNvSpPr txBox="1"/>
          <p:nvPr/>
        </p:nvSpPr>
        <p:spPr>
          <a:xfrm>
            <a:off x="640080" y="4937760"/>
            <a:ext cx="10972800" cy="457200"/>
          </a:xfrm>
          <a:prstGeom prst="rect">
            <a:avLst/>
          </a:prstGeom>
          <a:noFill/>
          <a:ln/>
        </p:spPr>
        <p:txBody>
          <a:bodyPr wrap="square" lIns="0" tIns="0" rIns="0" bIns="0" rtlCol="0" anchor="ctr"/>
          <a:lstStyle/>
          <a:p>
            <a:pPr algn="ctr" indent="0" marL="0">
              <a:buNone/>
            </a:pPr>
            <a:r>
              <a:rPr lang="en-US" sz="1800" i="1" dirty="0">
                <a:solidFill>
                  <a:srgbClr val="2C2C2C"/>
                </a:solidFill>
                <a:latin typeface="Calibri" pitchFamily="34" charset="0"/>
                <a:ea typeface="Calibri" pitchFamily="34" charset="-122"/>
                <a:cs typeface="Calibri" pitchFamily="34" charset="-120"/>
              </a:rPr>
              <a:t>The team’s frame of reference doesn’t extend past Bootstrap.</a:t>
            </a:r>
            <a:endParaRPr lang="en-US" sz="1800" dirty="0"/>
          </a:p>
        </p:txBody>
      </p:sp>
      <p:sp>
        <p:nvSpPr>
          <p:cNvPr id="15" name="Text 13"/>
          <p:cNvSpPr txBox="1"/>
          <p:nvPr/>
        </p:nvSpPr>
        <p:spPr>
          <a:xfrm>
            <a:off x="640080" y="5440680"/>
            <a:ext cx="10972800" cy="457200"/>
          </a:xfrm>
          <a:prstGeom prst="rect">
            <a:avLst/>
          </a:prstGeom>
          <a:noFill/>
          <a:ln/>
        </p:spPr>
        <p:txBody>
          <a:bodyPr wrap="square" lIns="0" tIns="0" rIns="0" bIns="0" rtlCol="0" anchor="ctr"/>
          <a:lstStyle/>
          <a:p>
            <a:pPr algn="ctr" indent="0" marL="0">
              <a:buNone/>
            </a:pPr>
            <a:r>
              <a:rPr lang="en-US" sz="1600" dirty="0">
                <a:solidFill>
                  <a:srgbClr val="6B6B6B"/>
                </a:solidFill>
                <a:latin typeface="Calibri" pitchFamily="34" charset="0"/>
                <a:ea typeface="Calibri" pitchFamily="34" charset="-122"/>
                <a:cs typeface="Calibri" pitchFamily="34" charset="-120"/>
              </a:rPr>
              <a:t>That’s not their fault — but it’s why any modernization gets read as “odd-looking / out of process / not in framework” instead of “standard.”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P2</a:t>
            </a:r>
            <a:endParaRPr lang="en-US" sz="1400" dirty="0"/>
          </a:p>
        </p:txBody>
      </p:sp>
      <p:sp>
        <p:nvSpPr>
          <p:cNvPr id="4" name="Text 2"/>
          <p:cNvSpPr txBox="1"/>
          <p:nvPr/>
        </p:nvSpPr>
        <p:spPr>
          <a:xfrm>
            <a:off x="640080" y="822960"/>
            <a:ext cx="10972800" cy="914400"/>
          </a:xfrm>
          <a:prstGeom prst="rect">
            <a:avLst/>
          </a:prstGeom>
          <a:noFill/>
          <a:ln/>
        </p:spPr>
        <p:txBody>
          <a:bodyPr wrap="square" lIns="0" tIns="0" rIns="0" bIns="0" rtlCol="0" anchor="ctr"/>
          <a:lstStyle/>
          <a:p>
            <a:pPr indent="0" marL="0">
              <a:buNone/>
            </a:pPr>
            <a:r>
              <a:rPr lang="en-US" sz="4000" b="1" dirty="0">
                <a:solidFill>
                  <a:srgbClr val="141B4A"/>
                </a:solidFill>
                <a:latin typeface="Cambria" pitchFamily="34" charset="0"/>
                <a:ea typeface="Cambria" pitchFamily="34" charset="-122"/>
                <a:cs typeface="Cambria" pitchFamily="34" charset="-120"/>
              </a:rPr>
              <a:t>The CMS migration is at risk.</a:t>
            </a:r>
            <a:endParaRPr lang="en-US" sz="4000" dirty="0"/>
          </a:p>
        </p:txBody>
      </p:sp>
      <p:sp>
        <p:nvSpPr>
          <p:cNvPr id="5" name="Text 3"/>
          <p:cNvSpPr txBox="1"/>
          <p:nvPr/>
        </p:nvSpPr>
        <p:spPr>
          <a:xfrm>
            <a:off x="640080" y="1737360"/>
            <a:ext cx="10972800" cy="457200"/>
          </a:xfrm>
          <a:prstGeom prst="rect">
            <a:avLst/>
          </a:prstGeom>
          <a:noFill/>
          <a:ln/>
        </p:spPr>
        <p:txBody>
          <a:bodyPr wrap="square" lIns="0" tIns="0" rIns="0" bIns="0" rtlCol="0" anchor="ctr"/>
          <a:lstStyle/>
          <a:p>
            <a:pPr indent="0" marL="0">
              <a:buNone/>
            </a:pPr>
            <a:r>
              <a:rPr lang="en-US" sz="2000" i="1" dirty="0">
                <a:solidFill>
                  <a:srgbClr val="6B6B6B"/>
                </a:solidFill>
                <a:latin typeface="Calibri" pitchFamily="34" charset="0"/>
                <a:ea typeface="Calibri" pitchFamily="34" charset="-122"/>
                <a:cs typeface="Calibri" pitchFamily="34" charset="-120"/>
              </a:rPr>
              <a:t>If the plan is .cms, WordPress, React, Vue, or any modern framework…</a:t>
            </a:r>
            <a:endParaRPr lang="en-US" sz="2000" dirty="0"/>
          </a:p>
        </p:txBody>
      </p:sp>
      <p:sp>
        <p:nvSpPr>
          <p:cNvPr id="6" name="Shape 4"/>
          <p:cNvSpPr/>
          <p:nvPr/>
        </p:nvSpPr>
        <p:spPr>
          <a:xfrm>
            <a:off x="640080" y="2743200"/>
            <a:ext cx="10972800" cy="3200400"/>
          </a:xfrm>
          <a:prstGeom prst="roundRect">
            <a:avLst>
              <a:gd name="adj" fmla="val 4286"/>
            </a:avLst>
          </a:prstGeom>
          <a:solidFill>
            <a:srgbClr val="FFFFFF"/>
          </a:solidFill>
          <a:ln w="38100">
            <a:solidFill>
              <a:srgbClr val="E5A934"/>
            </a:solidFill>
            <a:prstDash val="solid"/>
          </a:ln>
        </p:spPr>
      </p:sp>
      <p:sp>
        <p:nvSpPr>
          <p:cNvPr id="7" name="Text 5"/>
          <p:cNvSpPr txBox="1"/>
          <p:nvPr/>
        </p:nvSpPr>
        <p:spPr>
          <a:xfrm>
            <a:off x="1005840" y="2926080"/>
            <a:ext cx="10241280" cy="2834640"/>
          </a:xfrm>
          <a:prstGeom prst="rect">
            <a:avLst/>
          </a:prstGeom>
          <a:noFill/>
          <a:ln/>
        </p:spPr>
        <p:txBody>
          <a:bodyPr wrap="square" lIns="0" tIns="0" rIns="0" bIns="0" rtlCol="0" anchor="ctr"/>
          <a:lstStyle/>
          <a:p>
            <a:pPr indent="0" marL="0">
              <a:spcAft>
                <a:spcPts val="1200"/>
              </a:spcAft>
              <a:buNone/>
            </a:pPr>
            <a:r>
              <a:rPr lang="en-US" sz="2200" b="1" dirty="0">
                <a:solidFill>
                  <a:srgbClr val="2C2C2C"/>
                </a:solidFill>
                <a:latin typeface="Cambria" pitchFamily="34" charset="0"/>
                <a:ea typeface="Cambria" pitchFamily="34" charset="-122"/>
                <a:cs typeface="Cambria" pitchFamily="34" charset="-120"/>
              </a:rPr>
              <a:t>… the team as currently trained can’t execute in any of those, as far as I’m aware.</a:t>
            </a:r>
            <a:endParaRPr lang="en-US" sz="2200" dirty="0"/>
          </a:p>
          <a:p>
            <a:pPr marL="342900" indent="-342900">
              <a:spcAft>
                <a:spcPts val="800"/>
              </a:spcAft>
              <a:buSzPct val="100000"/>
              <a:buChar char="●"/>
            </a:pPr>
            <a:r>
              <a:rPr lang="en-US" sz="2200" dirty="0">
                <a:solidFill>
                  <a:srgbClr val="2C2C2C"/>
                </a:solidFill>
                <a:latin typeface="Cambria" pitchFamily="34" charset="0"/>
                <a:ea typeface="Cambria" pitchFamily="34" charset="-122"/>
                <a:cs typeface="Cambria" pitchFamily="34" charset="-120"/>
              </a:rPr>
              <a:t>One method of working: legacy TeamSite + Bootstrap classes.</a:t>
            </a:r>
            <a:endParaRPr lang="en-US" sz="2200" dirty="0"/>
          </a:p>
          <a:p>
            <a:pPr marL="342900" indent="-342900">
              <a:spcAft>
                <a:spcPts val="800"/>
              </a:spcAft>
              <a:buSzPct val="100000"/>
              <a:buChar char="●"/>
            </a:pPr>
            <a:r>
              <a:rPr lang="en-US" sz="2200" dirty="0">
                <a:solidFill>
                  <a:srgbClr val="2C2C2C"/>
                </a:solidFill>
                <a:latin typeface="Cambria" pitchFamily="34" charset="0"/>
                <a:ea typeface="Cambria" pitchFamily="34" charset="-122"/>
                <a:cs typeface="Cambria" pitchFamily="34" charset="-120"/>
              </a:rPr>
              <a:t>Modern components, JSX/SFC, utility-first CSS, design tokens — not in the toolkit.</a:t>
            </a:r>
            <a:endParaRPr lang="en-US" sz="2200" dirty="0"/>
          </a:p>
          <a:p>
            <a:pPr marL="342900" indent="-342900">
              <a:spcAft>
                <a:spcPts val="800"/>
              </a:spcAft>
              <a:buSzPct val="100000"/>
              <a:buChar char="●"/>
            </a:pPr>
            <a:r>
              <a:rPr lang="en-US" sz="2200" dirty="0">
                <a:solidFill>
                  <a:srgbClr val="2C2C2C"/>
                </a:solidFill>
                <a:latin typeface="Cambria" pitchFamily="34" charset="0"/>
                <a:ea typeface="Cambria" pitchFamily="34" charset="-122"/>
                <a:cs typeface="Cambria" pitchFamily="34" charset="-120"/>
              </a:rPr>
              <a:t>A bigger institutional risk than any single build’s documentation.</a:t>
            </a:r>
            <a:endParaRPr lang="en-US" sz="2200" dirty="0"/>
          </a:p>
          <a:p>
            <a:pPr marL="342900" indent="-342900">
              <a:buSzPct val="100000"/>
              <a:buChar char="●"/>
            </a:pPr>
            <a:r>
              <a:rPr lang="en-US" sz="2200" i="1" dirty="0">
                <a:solidFill>
                  <a:srgbClr val="2C2C2C"/>
                </a:solidFill>
                <a:latin typeface="Cambria" pitchFamily="34" charset="0"/>
                <a:ea typeface="Cambria" pitchFamily="34" charset="-122"/>
                <a:cs typeface="Cambria" pitchFamily="34" charset="-120"/>
              </a:rPr>
              <a:t>I position a component as future-proof — met with “well, it’s not in the framework.” In short: don’t future-proof it.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P2</a:t>
            </a:r>
            <a:endParaRPr lang="en-US" sz="1400" dirty="0"/>
          </a:p>
        </p:txBody>
      </p:sp>
      <p:sp>
        <p:nvSpPr>
          <p:cNvPr id="4" name="Text 2"/>
          <p:cNvSpPr txBox="1"/>
          <p:nvPr/>
        </p:nvSpPr>
        <p:spPr>
          <a:xfrm>
            <a:off x="640080" y="548640"/>
            <a:ext cx="10972800" cy="457200"/>
          </a:xfrm>
          <a:prstGeom prst="rect">
            <a:avLst/>
          </a:prstGeom>
          <a:noFill/>
          <a:ln/>
        </p:spPr>
        <p:txBody>
          <a:bodyPr wrap="square" lIns="0" tIns="0" rIns="0" bIns="0" rtlCol="0" anchor="ctr"/>
          <a:lstStyle/>
          <a:p>
            <a:pPr indent="0" marL="0">
              <a:buNone/>
            </a:pPr>
            <a:r>
              <a:rPr lang="en-US" sz="1400" b="1" spc="600" kern="0" dirty="0">
                <a:solidFill>
                  <a:srgbClr val="E5A934"/>
                </a:solidFill>
                <a:latin typeface="Calibri" pitchFamily="34" charset="0"/>
                <a:ea typeface="Calibri" pitchFamily="34" charset="-122"/>
                <a:cs typeface="Calibri" pitchFamily="34" charset="-120"/>
              </a:rPr>
              <a:t>THE INFRASTRUCTURE GAP</a:t>
            </a:r>
            <a:endParaRPr lang="en-US" sz="1400" dirty="0"/>
          </a:p>
        </p:txBody>
      </p:sp>
      <p:sp>
        <p:nvSpPr>
          <p:cNvPr id="5" name="Text 3"/>
          <p:cNvSpPr txBox="1"/>
          <p:nvPr/>
        </p:nvSpPr>
        <p:spPr>
          <a:xfrm>
            <a:off x="640080" y="1645920"/>
            <a:ext cx="1097280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There is no QA environment.</a:t>
            </a:r>
            <a:endParaRPr lang="en-US" sz="6000" dirty="0"/>
          </a:p>
        </p:txBody>
      </p:sp>
      <p:sp>
        <p:nvSpPr>
          <p:cNvPr id="6" name="Text 4"/>
          <p:cNvSpPr txBox="1"/>
          <p:nvPr/>
        </p:nvSpPr>
        <p:spPr>
          <a:xfrm>
            <a:off x="640080" y="3017520"/>
            <a:ext cx="10972800" cy="548640"/>
          </a:xfrm>
          <a:prstGeom prst="rect">
            <a:avLst/>
          </a:prstGeom>
          <a:noFill/>
          <a:ln/>
        </p:spPr>
        <p:txBody>
          <a:bodyPr wrap="square" lIns="0" tIns="0" rIns="0" bIns="0" rtlCol="0" anchor="ctr"/>
          <a:lstStyle/>
          <a:p>
            <a:pPr algn="ctr" indent="0" marL="0">
              <a:buNone/>
            </a:pPr>
            <a:r>
              <a:rPr lang="en-US" sz="2200" dirty="0">
                <a:solidFill>
                  <a:srgbClr val="CADCFC"/>
                </a:solidFill>
                <a:latin typeface="Calibri" pitchFamily="34" charset="0"/>
                <a:ea typeface="Calibri" pitchFamily="34" charset="-122"/>
                <a:cs typeface="Calibri" pitchFamily="34" charset="-120"/>
              </a:rPr>
              <a:t>Every build. Every fix. Every change. Straight into production.</a:t>
            </a:r>
            <a:endParaRPr lang="en-US" sz="2200" dirty="0"/>
          </a:p>
        </p:txBody>
      </p:sp>
      <p:sp>
        <p:nvSpPr>
          <p:cNvPr id="7" name="Text 5"/>
          <p:cNvSpPr txBox="1"/>
          <p:nvPr/>
        </p:nvSpPr>
        <p:spPr>
          <a:xfrm>
            <a:off x="1371600" y="4389120"/>
            <a:ext cx="9418320" cy="2011680"/>
          </a:xfrm>
          <a:prstGeom prst="rect">
            <a:avLst/>
          </a:prstGeom>
          <a:noFill/>
          <a:ln/>
        </p:spPr>
        <p:txBody>
          <a:bodyPr wrap="square" lIns="0" tIns="0" rIns="0" bIns="0" rtlCol="0" anchor="ctr"/>
          <a:lstStyle/>
          <a:p>
            <a:pPr algn="ctr" indent="0" marL="0">
              <a:spcAft>
                <a:spcPts val="1200"/>
              </a:spcAft>
              <a:buNone/>
            </a:pPr>
            <a:r>
              <a:rPr lang="en-US" sz="2000" i="1" dirty="0">
                <a:solidFill>
                  <a:srgbClr val="E5A934"/>
                </a:solidFill>
                <a:latin typeface="Cambria" pitchFamily="34" charset="0"/>
                <a:ea typeface="Cambria" pitchFamily="34" charset="-122"/>
                <a:cs typeface="Cambria" pitchFamily="34" charset="-120"/>
              </a:rPr>
              <a:t>“We can’t touch Bootstrap” — loosely stated a few months ago — is a rational fear under this setup.</a:t>
            </a:r>
            <a:endParaRPr lang="en-US" sz="2000" dirty="0"/>
          </a:p>
          <a:p>
            <a:pPr algn="ctr" indent="0" marL="0">
              <a:spcAft>
                <a:spcPts val="1200"/>
              </a:spcAft>
              <a:buNone/>
            </a:pPr>
            <a:r>
              <a:rPr lang="en-US" sz="2000" i="1" dirty="0">
                <a:solidFill>
                  <a:srgbClr val="E5A934"/>
                </a:solidFill>
                <a:latin typeface="Cambria" pitchFamily="34" charset="0"/>
                <a:ea typeface="Cambria" pitchFamily="34" charset="-122"/>
                <a:cs typeface="Cambria" pitchFamily="34" charset="-120"/>
              </a:rPr>
              <a:t>It’s an infrastructure problem, not a component problem.</a:t>
            </a:r>
            <a:endParaRPr lang="en-US" sz="2000" dirty="0"/>
          </a:p>
          <a:p>
            <a:pPr algn="ctr" indent="0" marL="0">
              <a:buNone/>
            </a:pPr>
            <a:r>
              <a:rPr lang="en-US" sz="2000" i="1" dirty="0">
                <a:solidFill>
                  <a:srgbClr val="E5A934"/>
                </a:solidFill>
                <a:latin typeface="Cambria" pitchFamily="34" charset="0"/>
                <a:ea typeface="Cambria" pitchFamily="34" charset="-122"/>
                <a:cs typeface="Cambria" pitchFamily="34" charset="-120"/>
              </a:rPr>
              <a:t>What a QA process would give the team on every build, we don’t have.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P2</a:t>
            </a:r>
            <a:endParaRPr lang="en-US" sz="1400" dirty="0"/>
          </a:p>
        </p:txBody>
      </p:sp>
      <p:sp>
        <p:nvSpPr>
          <p:cNvPr id="4" name="Text 2"/>
          <p:cNvSpPr txBox="1"/>
          <p:nvPr/>
        </p:nvSpPr>
        <p:spPr>
          <a:xfrm>
            <a:off x="640080" y="457200"/>
            <a:ext cx="10241280" cy="822960"/>
          </a:xfrm>
          <a:prstGeom prst="rect">
            <a:avLst/>
          </a:prstGeom>
          <a:noFill/>
          <a:ln/>
        </p:spPr>
        <p:txBody>
          <a:bodyPr wrap="square" lIns="0" tIns="0" rIns="0" bIns="0" rtlCol="0" anchor="ctr"/>
          <a:lstStyle/>
          <a:p>
            <a:pPr indent="0" marL="0">
              <a:buNone/>
            </a:pPr>
            <a:r>
              <a:rPr lang="en-US" sz="3600" b="1" dirty="0">
                <a:solidFill>
                  <a:srgbClr val="141B4A"/>
                </a:solidFill>
                <a:latin typeface="Cambria" pitchFamily="34" charset="0"/>
                <a:ea typeface="Cambria" pitchFamily="34" charset="-122"/>
                <a:cs typeface="Cambria" pitchFamily="34" charset="-120"/>
              </a:rPr>
              <a:t>Fragmentation is already the state.</a:t>
            </a:r>
            <a:endParaRPr lang="en-US" sz="3600" dirty="0"/>
          </a:p>
        </p:txBody>
      </p:sp>
      <p:sp>
        <p:nvSpPr>
          <p:cNvPr id="5" name="Text 3"/>
          <p:cNvSpPr txBox="1"/>
          <p:nvPr/>
        </p:nvSpPr>
        <p:spPr>
          <a:xfrm>
            <a:off x="640080" y="1234440"/>
            <a:ext cx="10515600" cy="45720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Concern raised: “you’re going to fragment things.” Audit shows: it already is.</a:t>
            </a:r>
            <a:endParaRPr lang="en-US" sz="1500" dirty="0"/>
          </a:p>
        </p:txBody>
      </p:sp>
      <p:sp>
        <p:nvSpPr>
          <p:cNvPr id="6" name="Text 4"/>
          <p:cNvSpPr txBox="1"/>
          <p:nvPr/>
        </p:nvSpPr>
        <p:spPr>
          <a:xfrm>
            <a:off x="640080" y="2194560"/>
            <a:ext cx="3931920" cy="2194560"/>
          </a:xfrm>
          <a:prstGeom prst="rect">
            <a:avLst/>
          </a:prstGeom>
          <a:noFill/>
          <a:ln/>
        </p:spPr>
        <p:txBody>
          <a:bodyPr wrap="square" lIns="0" tIns="0" rIns="0" bIns="0" rtlCol="0" anchor="ctr"/>
          <a:lstStyle/>
          <a:p>
            <a:pPr algn="ctr" indent="0" marL="0">
              <a:buNone/>
            </a:pPr>
            <a:r>
              <a:rPr lang="en-US" sz="12000" b="1" dirty="0">
                <a:solidFill>
                  <a:srgbClr val="A03A2E"/>
                </a:solidFill>
                <a:latin typeface="Cambria" pitchFamily="34" charset="0"/>
                <a:ea typeface="Cambria" pitchFamily="34" charset="-122"/>
                <a:cs typeface="Cambria" pitchFamily="34" charset="-120"/>
              </a:rPr>
              <a:t>62%</a:t>
            </a:r>
            <a:endParaRPr lang="en-US" sz="12000" dirty="0"/>
          </a:p>
        </p:txBody>
      </p:sp>
      <p:sp>
        <p:nvSpPr>
          <p:cNvPr id="7" name="Text 5"/>
          <p:cNvSpPr txBox="1"/>
          <p:nvPr/>
        </p:nvSpPr>
        <p:spPr>
          <a:xfrm>
            <a:off x="640080" y="4480560"/>
            <a:ext cx="3931920" cy="457200"/>
          </a:xfrm>
          <a:prstGeom prst="rect">
            <a:avLst/>
          </a:prstGeom>
          <a:noFill/>
          <a:ln/>
        </p:spPr>
        <p:txBody>
          <a:bodyPr wrap="square" lIns="0" tIns="0" rIns="0" bIns="0" rtlCol="0" anchor="ctr"/>
          <a:lstStyle/>
          <a:p>
            <a:pPr algn="ctr" indent="0" marL="0">
              <a:buNone/>
            </a:pPr>
            <a:r>
              <a:rPr lang="en-US" sz="1600" dirty="0">
                <a:solidFill>
                  <a:srgbClr val="141B4A"/>
                </a:solidFill>
                <a:latin typeface="Calibri" pitchFamily="34" charset="0"/>
                <a:ea typeface="Calibri" pitchFamily="34" charset="-122"/>
                <a:cs typeface="Calibri" pitchFamily="34" charset="-120"/>
              </a:rPr>
              <a:t>of assets ship on one page only</a:t>
            </a:r>
            <a:endParaRPr lang="en-US" sz="1600" dirty="0"/>
          </a:p>
        </p:txBody>
      </p:sp>
      <p:sp>
        <p:nvSpPr>
          <p:cNvPr id="8" name="Text 6"/>
          <p:cNvSpPr txBox="1"/>
          <p:nvPr/>
        </p:nvSpPr>
        <p:spPr>
          <a:xfrm>
            <a:off x="640080" y="4892040"/>
            <a:ext cx="3931920" cy="365760"/>
          </a:xfrm>
          <a:prstGeom prst="rect">
            <a:avLst/>
          </a:prstGeom>
          <a:noFill/>
          <a:ln/>
        </p:spPr>
        <p:txBody>
          <a:bodyPr wrap="square" lIns="0" tIns="0" rIns="0" bIns="0"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(across 7 pages audited)</a:t>
            </a:r>
            <a:endParaRPr lang="en-US" sz="1200" dirty="0"/>
          </a:p>
        </p:txBody>
      </p:sp>
      <p:sp>
        <p:nvSpPr>
          <p:cNvPr id="9" name="Text 7"/>
          <p:cNvSpPr txBox="1"/>
          <p:nvPr/>
        </p:nvSpPr>
        <p:spPr>
          <a:xfrm>
            <a:off x="5212080" y="2194560"/>
            <a:ext cx="6217920" cy="320040"/>
          </a:xfrm>
          <a:prstGeom prst="rect">
            <a:avLst/>
          </a:prstGeom>
          <a:noFill/>
          <a:ln/>
        </p:spPr>
        <p:txBody>
          <a:bodyPr wrap="square" lIns="0" tIns="0" rIns="0" bIns="0" rtlCol="0" anchor="ctr"/>
          <a:lstStyle/>
          <a:p>
            <a:pPr indent="0" marL="0">
              <a:buNone/>
            </a:pPr>
            <a:r>
              <a:rPr lang="en-US" sz="1200" b="1" spc="300" kern="0" dirty="0">
                <a:solidFill>
                  <a:srgbClr val="141B4A"/>
                </a:solidFill>
                <a:latin typeface="Calibri" pitchFamily="34" charset="0"/>
                <a:ea typeface="Calibri" pitchFamily="34" charset="-122"/>
                <a:cs typeface="Calibri" pitchFamily="34" charset="-120"/>
              </a:rPr>
              <a:t>CSS  (46 total)</a:t>
            </a:r>
            <a:endParaRPr lang="en-US" sz="1200" dirty="0"/>
          </a:p>
        </p:txBody>
      </p:sp>
      <p:sp>
        <p:nvSpPr>
          <p:cNvPr id="10" name="Shape 8"/>
          <p:cNvSpPr/>
          <p:nvPr/>
        </p:nvSpPr>
        <p:spPr>
          <a:xfrm>
            <a:off x="5212080" y="2560320"/>
            <a:ext cx="811033" cy="457200"/>
          </a:xfrm>
          <a:prstGeom prst="rect">
            <a:avLst/>
          </a:prstGeom>
          <a:solidFill>
            <a:srgbClr val="3B8B38"/>
          </a:solidFill>
          <a:ln w="12700">
            <a:solidFill>
              <a:srgbClr val="3B8B38"/>
            </a:solidFill>
            <a:prstDash val="solid"/>
          </a:ln>
        </p:spPr>
      </p:sp>
      <p:sp>
        <p:nvSpPr>
          <p:cNvPr id="11" name="Shape 9"/>
          <p:cNvSpPr/>
          <p:nvPr/>
        </p:nvSpPr>
        <p:spPr>
          <a:xfrm>
            <a:off x="6023113" y="2560320"/>
            <a:ext cx="1757238" cy="457200"/>
          </a:xfrm>
          <a:prstGeom prst="rect">
            <a:avLst/>
          </a:prstGeom>
          <a:solidFill>
            <a:srgbClr val="A8892D"/>
          </a:solidFill>
          <a:ln w="12700">
            <a:solidFill>
              <a:srgbClr val="A8892D"/>
            </a:solidFill>
            <a:prstDash val="solid"/>
          </a:ln>
        </p:spPr>
      </p:sp>
      <p:sp>
        <p:nvSpPr>
          <p:cNvPr id="12" name="Shape 10"/>
          <p:cNvSpPr/>
          <p:nvPr/>
        </p:nvSpPr>
        <p:spPr>
          <a:xfrm>
            <a:off x="7780351" y="2560320"/>
            <a:ext cx="3649649" cy="457200"/>
          </a:xfrm>
          <a:prstGeom prst="rect">
            <a:avLst/>
          </a:prstGeom>
          <a:solidFill>
            <a:srgbClr val="A03A2E"/>
          </a:solidFill>
          <a:ln w="12700">
            <a:solidFill>
              <a:srgbClr val="A03A2E"/>
            </a:solidFill>
            <a:prstDash val="solid"/>
          </a:ln>
        </p:spPr>
      </p:sp>
      <p:sp>
        <p:nvSpPr>
          <p:cNvPr id="13" name="Text 11"/>
          <p:cNvSpPr txBox="1"/>
          <p:nvPr/>
        </p:nvSpPr>
        <p:spPr>
          <a:xfrm>
            <a:off x="5212080" y="2560320"/>
            <a:ext cx="811033"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4" name="Text 12"/>
          <p:cNvSpPr txBox="1"/>
          <p:nvPr/>
        </p:nvSpPr>
        <p:spPr>
          <a:xfrm>
            <a:off x="6023113" y="2560320"/>
            <a:ext cx="1757238"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5" name="Text 13"/>
          <p:cNvSpPr txBox="1"/>
          <p:nvPr/>
        </p:nvSpPr>
        <p:spPr>
          <a:xfrm>
            <a:off x="7780351" y="2560320"/>
            <a:ext cx="3649649"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27</a:t>
            </a:r>
            <a:endParaRPr lang="en-US" sz="1400" dirty="0"/>
          </a:p>
        </p:txBody>
      </p:sp>
      <p:sp>
        <p:nvSpPr>
          <p:cNvPr id="16" name="Text 14"/>
          <p:cNvSpPr txBox="1"/>
          <p:nvPr/>
        </p:nvSpPr>
        <p:spPr>
          <a:xfrm>
            <a:off x="5212080" y="3383280"/>
            <a:ext cx="6217920" cy="320040"/>
          </a:xfrm>
          <a:prstGeom prst="rect">
            <a:avLst/>
          </a:prstGeom>
          <a:noFill/>
          <a:ln/>
        </p:spPr>
        <p:txBody>
          <a:bodyPr wrap="square" lIns="0" tIns="0" rIns="0" bIns="0" rtlCol="0" anchor="ctr"/>
          <a:lstStyle/>
          <a:p>
            <a:pPr indent="0" marL="0">
              <a:buNone/>
            </a:pPr>
            <a:r>
              <a:rPr lang="en-US" sz="1200" b="1" spc="300" kern="0" dirty="0">
                <a:solidFill>
                  <a:srgbClr val="141B4A"/>
                </a:solidFill>
                <a:latin typeface="Calibri" pitchFamily="34" charset="0"/>
                <a:ea typeface="Calibri" pitchFamily="34" charset="-122"/>
                <a:cs typeface="Calibri" pitchFamily="34" charset="-120"/>
              </a:rPr>
              <a:t>JS  (42 total)</a:t>
            </a:r>
            <a:endParaRPr lang="en-US" sz="1200" dirty="0"/>
          </a:p>
        </p:txBody>
      </p:sp>
      <p:sp>
        <p:nvSpPr>
          <p:cNvPr id="17" name="Shape 15"/>
          <p:cNvSpPr/>
          <p:nvPr/>
        </p:nvSpPr>
        <p:spPr>
          <a:xfrm>
            <a:off x="5212080" y="3703320"/>
            <a:ext cx="888274" cy="457200"/>
          </a:xfrm>
          <a:prstGeom prst="rect">
            <a:avLst/>
          </a:prstGeom>
          <a:solidFill>
            <a:srgbClr val="3B8B38"/>
          </a:solidFill>
          <a:ln w="12700">
            <a:solidFill>
              <a:srgbClr val="3B8B38"/>
            </a:solidFill>
            <a:prstDash val="solid"/>
          </a:ln>
        </p:spPr>
      </p:sp>
      <p:sp>
        <p:nvSpPr>
          <p:cNvPr id="18" name="Shape 16"/>
          <p:cNvSpPr/>
          <p:nvPr/>
        </p:nvSpPr>
        <p:spPr>
          <a:xfrm>
            <a:off x="6100354" y="3703320"/>
            <a:ext cx="1184366" cy="457200"/>
          </a:xfrm>
          <a:prstGeom prst="rect">
            <a:avLst/>
          </a:prstGeom>
          <a:solidFill>
            <a:srgbClr val="A8892D"/>
          </a:solidFill>
          <a:ln w="12700">
            <a:solidFill>
              <a:srgbClr val="A8892D"/>
            </a:solidFill>
            <a:prstDash val="solid"/>
          </a:ln>
        </p:spPr>
      </p:sp>
      <p:sp>
        <p:nvSpPr>
          <p:cNvPr id="19" name="Shape 17"/>
          <p:cNvSpPr/>
          <p:nvPr/>
        </p:nvSpPr>
        <p:spPr>
          <a:xfrm>
            <a:off x="7284720" y="3703320"/>
            <a:ext cx="4145280" cy="457200"/>
          </a:xfrm>
          <a:prstGeom prst="rect">
            <a:avLst/>
          </a:prstGeom>
          <a:solidFill>
            <a:srgbClr val="A03A2E"/>
          </a:solidFill>
          <a:ln w="12700">
            <a:solidFill>
              <a:srgbClr val="A03A2E"/>
            </a:solidFill>
            <a:prstDash val="solid"/>
          </a:ln>
        </p:spPr>
      </p:sp>
      <p:sp>
        <p:nvSpPr>
          <p:cNvPr id="20" name="Text 18"/>
          <p:cNvSpPr txBox="1"/>
          <p:nvPr/>
        </p:nvSpPr>
        <p:spPr>
          <a:xfrm>
            <a:off x="5212080" y="3703320"/>
            <a:ext cx="88827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txBox="1"/>
          <p:nvPr/>
        </p:nvSpPr>
        <p:spPr>
          <a:xfrm>
            <a:off x="6100354" y="3703320"/>
            <a:ext cx="118436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2" name="Text 20"/>
          <p:cNvSpPr txBox="1"/>
          <p:nvPr/>
        </p:nvSpPr>
        <p:spPr>
          <a:xfrm>
            <a:off x="7284720" y="3703320"/>
            <a:ext cx="4145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28</a:t>
            </a:r>
            <a:endParaRPr lang="en-US" sz="1400" dirty="0"/>
          </a:p>
        </p:txBody>
      </p:sp>
      <p:sp>
        <p:nvSpPr>
          <p:cNvPr id="23" name="Shape 21"/>
          <p:cNvSpPr/>
          <p:nvPr/>
        </p:nvSpPr>
        <p:spPr>
          <a:xfrm>
            <a:off x="5212080" y="4526280"/>
            <a:ext cx="201168" cy="201168"/>
          </a:xfrm>
          <a:prstGeom prst="rect">
            <a:avLst/>
          </a:prstGeom>
          <a:solidFill>
            <a:srgbClr val="3B8B38"/>
          </a:solidFill>
          <a:ln w="12700">
            <a:solidFill>
              <a:srgbClr val="3B8B38"/>
            </a:solidFill>
            <a:prstDash val="solid"/>
          </a:ln>
        </p:spPr>
      </p:sp>
      <p:sp>
        <p:nvSpPr>
          <p:cNvPr id="24" name="Text 22"/>
          <p:cNvSpPr txBox="1"/>
          <p:nvPr/>
        </p:nvSpPr>
        <p:spPr>
          <a:xfrm>
            <a:off x="5504688" y="4471416"/>
            <a:ext cx="1828800" cy="32004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Universal (all pages)</a:t>
            </a:r>
            <a:endParaRPr lang="en-US" sz="1100" dirty="0"/>
          </a:p>
        </p:txBody>
      </p:sp>
      <p:sp>
        <p:nvSpPr>
          <p:cNvPr id="25" name="Shape 23"/>
          <p:cNvSpPr/>
          <p:nvPr/>
        </p:nvSpPr>
        <p:spPr>
          <a:xfrm>
            <a:off x="7315200" y="4526280"/>
            <a:ext cx="201168" cy="201168"/>
          </a:xfrm>
          <a:prstGeom prst="rect">
            <a:avLst/>
          </a:prstGeom>
          <a:solidFill>
            <a:srgbClr val="A8892D"/>
          </a:solidFill>
          <a:ln w="12700">
            <a:solidFill>
              <a:srgbClr val="A8892D"/>
            </a:solidFill>
            <a:prstDash val="solid"/>
          </a:ln>
        </p:spPr>
      </p:sp>
      <p:sp>
        <p:nvSpPr>
          <p:cNvPr id="26" name="Text 24"/>
          <p:cNvSpPr txBox="1"/>
          <p:nvPr/>
        </p:nvSpPr>
        <p:spPr>
          <a:xfrm>
            <a:off x="7607808" y="4471416"/>
            <a:ext cx="1828800" cy="32004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Shared (some pages)</a:t>
            </a:r>
            <a:endParaRPr lang="en-US" sz="1100" dirty="0"/>
          </a:p>
        </p:txBody>
      </p:sp>
      <p:sp>
        <p:nvSpPr>
          <p:cNvPr id="27" name="Shape 25"/>
          <p:cNvSpPr/>
          <p:nvPr/>
        </p:nvSpPr>
        <p:spPr>
          <a:xfrm>
            <a:off x="9418320" y="4526280"/>
            <a:ext cx="201168" cy="201168"/>
          </a:xfrm>
          <a:prstGeom prst="rect">
            <a:avLst/>
          </a:prstGeom>
          <a:solidFill>
            <a:srgbClr val="A03A2E"/>
          </a:solidFill>
          <a:ln w="12700">
            <a:solidFill>
              <a:srgbClr val="A03A2E"/>
            </a:solidFill>
            <a:prstDash val="solid"/>
          </a:ln>
        </p:spPr>
      </p:sp>
      <p:sp>
        <p:nvSpPr>
          <p:cNvPr id="28" name="Text 26"/>
          <p:cNvSpPr txBox="1"/>
          <p:nvPr/>
        </p:nvSpPr>
        <p:spPr>
          <a:xfrm>
            <a:off x="9710928" y="4471416"/>
            <a:ext cx="1828800" cy="320040"/>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Page-specific (1 page)</a:t>
            </a:r>
            <a:endParaRPr lang="en-US" sz="1100" dirty="0"/>
          </a:p>
        </p:txBody>
      </p:sp>
      <p:sp>
        <p:nvSpPr>
          <p:cNvPr id="29" name="Text 27"/>
          <p:cNvSpPr txBox="1"/>
          <p:nvPr/>
        </p:nvSpPr>
        <p:spPr>
          <a:xfrm>
            <a:off x="640080" y="5943600"/>
            <a:ext cx="10881360" cy="640080"/>
          </a:xfrm>
          <a:prstGeom prst="rect">
            <a:avLst/>
          </a:prstGeom>
          <a:noFill/>
          <a:ln/>
        </p:spPr>
        <p:txBody>
          <a:bodyPr wrap="square" lIns="0" tIns="0" rIns="0" bIns="0" rtlCol="0" anchor="ctr"/>
          <a:lstStyle/>
          <a:p>
            <a:pPr algn="ctr" indent="0" marL="0">
              <a:buNone/>
            </a:pPr>
            <a:r>
              <a:rPr lang="en-US" sz="1800" b="1" i="1" dirty="0">
                <a:solidFill>
                  <a:srgbClr val="141B4A"/>
                </a:solidFill>
                <a:latin typeface="Cambria" pitchFamily="34" charset="0"/>
                <a:ea typeface="Cambria" pitchFamily="34" charset="-122"/>
                <a:cs typeface="Cambria" pitchFamily="34" charset="-120"/>
              </a:rPr>
              <a:t>6 out of 10 files that ship today only exist on one page. That’s the baseline — before I’ve built anything.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P2</a:t>
            </a:r>
            <a:endParaRPr lang="en-US" sz="1400" dirty="0"/>
          </a:p>
        </p:txBody>
      </p:sp>
      <p:sp>
        <p:nvSpPr>
          <p:cNvPr id="4" name="Text 2"/>
          <p:cNvSpPr txBox="1"/>
          <p:nvPr/>
        </p:nvSpPr>
        <p:spPr>
          <a:xfrm>
            <a:off x="640080" y="457200"/>
            <a:ext cx="10241280" cy="777240"/>
          </a:xfrm>
          <a:prstGeom prst="rect">
            <a:avLst/>
          </a:prstGeom>
          <a:noFill/>
          <a:ln/>
        </p:spPr>
        <p:txBody>
          <a:bodyPr wrap="square" lIns="0" tIns="0" rIns="0" bIns="0" rtlCol="0" anchor="ctr"/>
          <a:lstStyle/>
          <a:p>
            <a:pPr indent="0" marL="0">
              <a:buNone/>
            </a:pPr>
            <a:r>
              <a:rPr lang="en-US" sz="3400" b="1" dirty="0">
                <a:solidFill>
                  <a:srgbClr val="141B4A"/>
                </a:solidFill>
                <a:latin typeface="Cambria" pitchFamily="34" charset="0"/>
                <a:ea typeface="Cambria" pitchFamily="34" charset="-122"/>
                <a:cs typeface="Cambria" pitchFamily="34" charset="-120"/>
              </a:rPr>
              <a:t>The pattern is already established.</a:t>
            </a:r>
            <a:endParaRPr lang="en-US" sz="3400" dirty="0"/>
          </a:p>
        </p:txBody>
      </p:sp>
      <p:sp>
        <p:nvSpPr>
          <p:cNvPr id="5" name="Text 3"/>
          <p:cNvSpPr txBox="1"/>
          <p:nvPr/>
        </p:nvSpPr>
        <p:spPr>
          <a:xfrm>
            <a:off x="640080" y="1188720"/>
            <a:ext cx="10881360" cy="54864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Symptom: year-suffixed overrides, page-scoped folders, duplicate “main” files.  Cause: no NPM, no bundler, no build — every file ships as a raw asset.</a:t>
            </a:r>
            <a:endParaRPr lang="en-US" sz="1400" dirty="0"/>
          </a:p>
        </p:txBody>
      </p:sp>
      <p:sp>
        <p:nvSpPr>
          <p:cNvPr id="6" name="Shape 4"/>
          <p:cNvSpPr/>
          <p:nvPr/>
        </p:nvSpPr>
        <p:spPr>
          <a:xfrm>
            <a:off x="640080" y="1874520"/>
            <a:ext cx="3657600" cy="2880360"/>
          </a:xfrm>
          <a:prstGeom prst="roundRect">
            <a:avLst>
              <a:gd name="adj" fmla="val 3175"/>
            </a:avLst>
          </a:prstGeom>
          <a:solidFill>
            <a:srgbClr val="FFFFFF"/>
          </a:solidFill>
          <a:ln w="12700">
            <a:solidFill>
              <a:srgbClr val="1E2761"/>
            </a:solidFill>
            <a:prstDash val="solid"/>
          </a:ln>
        </p:spPr>
      </p:sp>
      <p:sp>
        <p:nvSpPr>
          <p:cNvPr id="7" name="Shape 5"/>
          <p:cNvSpPr/>
          <p:nvPr/>
        </p:nvSpPr>
        <p:spPr>
          <a:xfrm>
            <a:off x="960120" y="2194560"/>
            <a:ext cx="3017520" cy="502920"/>
          </a:xfrm>
          <a:prstGeom prst="rect">
            <a:avLst/>
          </a:prstGeom>
          <a:solidFill>
            <a:srgbClr val="141B4A"/>
          </a:solidFill>
          <a:ln w="12700">
            <a:solidFill>
              <a:srgbClr val="141B4A"/>
            </a:solidFill>
            <a:prstDash val="solid"/>
          </a:ln>
        </p:spPr>
      </p:sp>
      <p:sp>
        <p:nvSpPr>
          <p:cNvPr id="8" name="Text 6"/>
          <p:cNvSpPr txBox="1"/>
          <p:nvPr/>
        </p:nvSpPr>
        <p:spPr>
          <a:xfrm>
            <a:off x="960120" y="2194560"/>
            <a:ext cx="3017520" cy="502920"/>
          </a:xfrm>
          <a:prstGeom prst="rect">
            <a:avLst/>
          </a:prstGeom>
          <a:noFill/>
          <a:ln/>
        </p:spPr>
        <p:txBody>
          <a:bodyPr wrap="square" lIns="0" tIns="0" rIns="0" bIns="0" rtlCol="0" anchor="ctr"/>
          <a:lstStyle/>
          <a:p>
            <a:pPr algn="ctr" indent="0" marL="0">
              <a:buNone/>
            </a:pPr>
            <a:r>
              <a:rPr lang="en-US" sz="1400" b="1" dirty="0">
                <a:solidFill>
                  <a:srgbClr val="E5A934"/>
                </a:solidFill>
                <a:latin typeface="Courier New" pitchFamily="34" charset="0"/>
                <a:ea typeface="Courier New" pitchFamily="34" charset="-122"/>
                <a:cs typeface="Courier New" pitchFamily="34" charset="-120"/>
              </a:rPr>
              <a:t>in-the-media-2026.css</a:t>
            </a:r>
            <a:endParaRPr lang="en-US" sz="1400" dirty="0"/>
          </a:p>
        </p:txBody>
      </p:sp>
      <p:sp>
        <p:nvSpPr>
          <p:cNvPr id="9" name="Text 7"/>
          <p:cNvSpPr txBox="1"/>
          <p:nvPr/>
        </p:nvSpPr>
        <p:spPr>
          <a:xfrm>
            <a:off x="960120" y="2834640"/>
            <a:ext cx="3017520" cy="36576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Sep 10, 2026  •  /css/sub/about-us/</a:t>
            </a:r>
            <a:endParaRPr lang="en-US" sz="1100" dirty="0"/>
          </a:p>
        </p:txBody>
      </p:sp>
      <p:sp>
        <p:nvSpPr>
          <p:cNvPr id="10" name="Text 8"/>
          <p:cNvSpPr txBox="1"/>
          <p:nvPr/>
        </p:nvSpPr>
        <p:spPr>
          <a:xfrm>
            <a:off x="960120" y="3291840"/>
            <a:ext cx="3017520" cy="1325880"/>
          </a:xfrm>
          <a:prstGeom prst="rect">
            <a:avLst/>
          </a:prstGeom>
          <a:noFill/>
          <a:ln/>
        </p:spPr>
        <p:txBody>
          <a:bodyPr wrap="square" lIns="0" tIns="0" rIns="0" bIns="0" rtlCol="0" anchor="ctr"/>
          <a:lstStyle/>
          <a:p>
            <a:pPr indent="0" marL="0">
              <a:buNone/>
            </a:pPr>
            <a:r>
              <a:rPr lang="en-US" sz="1400" dirty="0">
                <a:solidFill>
                  <a:srgbClr val="2C2C2C"/>
                </a:solidFill>
                <a:latin typeface="Cambria" pitchFamily="34" charset="0"/>
                <a:ea typeface="Cambria" pitchFamily="34" charset="-122"/>
                <a:cs typeface="Cambria" pitchFamily="34" charset="-120"/>
              </a:rPr>
              <a:t>Year-suffixed override of last year’s file. Page-scoped. Sits beside in-the-media-tabs.css.</a:t>
            </a:r>
            <a:endParaRPr lang="en-US" sz="1400" dirty="0"/>
          </a:p>
        </p:txBody>
      </p:sp>
      <p:sp>
        <p:nvSpPr>
          <p:cNvPr id="11" name="Shape 9"/>
          <p:cNvSpPr/>
          <p:nvPr/>
        </p:nvSpPr>
        <p:spPr>
          <a:xfrm>
            <a:off x="4434840" y="1874520"/>
            <a:ext cx="3657600" cy="2880360"/>
          </a:xfrm>
          <a:prstGeom prst="roundRect">
            <a:avLst>
              <a:gd name="adj" fmla="val 3175"/>
            </a:avLst>
          </a:prstGeom>
          <a:solidFill>
            <a:srgbClr val="FFFFFF"/>
          </a:solidFill>
          <a:ln w="12700">
            <a:solidFill>
              <a:srgbClr val="1E2761"/>
            </a:solidFill>
            <a:prstDash val="solid"/>
          </a:ln>
        </p:spPr>
      </p:sp>
      <p:sp>
        <p:nvSpPr>
          <p:cNvPr id="12" name="Shape 10"/>
          <p:cNvSpPr/>
          <p:nvPr/>
        </p:nvSpPr>
        <p:spPr>
          <a:xfrm>
            <a:off x="4754880" y="2194560"/>
            <a:ext cx="3017520" cy="502920"/>
          </a:xfrm>
          <a:prstGeom prst="rect">
            <a:avLst/>
          </a:prstGeom>
          <a:solidFill>
            <a:srgbClr val="141B4A"/>
          </a:solidFill>
          <a:ln w="12700">
            <a:solidFill>
              <a:srgbClr val="141B4A"/>
            </a:solidFill>
            <a:prstDash val="solid"/>
          </a:ln>
        </p:spPr>
      </p:sp>
      <p:sp>
        <p:nvSpPr>
          <p:cNvPr id="13" name="Text 11"/>
          <p:cNvSpPr txBox="1"/>
          <p:nvPr/>
        </p:nvSpPr>
        <p:spPr>
          <a:xfrm>
            <a:off x="4754880" y="2194560"/>
            <a:ext cx="3017520" cy="502920"/>
          </a:xfrm>
          <a:prstGeom prst="rect">
            <a:avLst/>
          </a:prstGeom>
          <a:noFill/>
          <a:ln/>
        </p:spPr>
        <p:txBody>
          <a:bodyPr wrap="square" lIns="0" tIns="0" rIns="0" bIns="0" rtlCol="0" anchor="ctr"/>
          <a:lstStyle/>
          <a:p>
            <a:pPr algn="ctr" indent="0" marL="0">
              <a:buNone/>
            </a:pPr>
            <a:r>
              <a:rPr lang="en-US" sz="1400" b="1" dirty="0">
                <a:solidFill>
                  <a:srgbClr val="E5A934"/>
                </a:solidFill>
                <a:latin typeface="Courier New" pitchFamily="34" charset="0"/>
                <a:ea typeface="Courier New" pitchFamily="34" charset="-122"/>
                <a:cs typeface="Courier New" pitchFamily="34" charset="-120"/>
              </a:rPr>
              <a:t>rbc-elements-unminified.css</a:t>
            </a:r>
            <a:endParaRPr lang="en-US" sz="1400" dirty="0"/>
          </a:p>
        </p:txBody>
      </p:sp>
      <p:sp>
        <p:nvSpPr>
          <p:cNvPr id="14" name="Text 12"/>
          <p:cNvSpPr txBox="1"/>
          <p:nvPr/>
        </p:nvSpPr>
        <p:spPr>
          <a:xfrm>
            <a:off x="4754880" y="2834640"/>
            <a:ext cx="3017520" cy="36576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Mar 6, 2025  •  /css/sub/elements/</a:t>
            </a:r>
            <a:endParaRPr lang="en-US" sz="1100" dirty="0"/>
          </a:p>
        </p:txBody>
      </p:sp>
      <p:sp>
        <p:nvSpPr>
          <p:cNvPr id="15" name="Text 13"/>
          <p:cNvSpPr txBox="1"/>
          <p:nvPr/>
        </p:nvSpPr>
        <p:spPr>
          <a:xfrm>
            <a:off x="4754880" y="3291840"/>
            <a:ext cx="3017520" cy="1325880"/>
          </a:xfrm>
          <a:prstGeom prst="rect">
            <a:avLst/>
          </a:prstGeom>
          <a:noFill/>
          <a:ln/>
        </p:spPr>
        <p:txBody>
          <a:bodyPr wrap="square" lIns="0" tIns="0" rIns="0" bIns="0" rtlCol="0" anchor="ctr"/>
          <a:lstStyle/>
          <a:p>
            <a:pPr indent="0" marL="0">
              <a:buNone/>
            </a:pPr>
            <a:r>
              <a:rPr lang="en-US" sz="1400" dirty="0">
                <a:solidFill>
                  <a:srgbClr val="2C2C2C"/>
                </a:solidFill>
                <a:latin typeface="Cambria" pitchFamily="34" charset="0"/>
                <a:ea typeface="Cambria" pitchFamily="34" charset="-122"/>
                <a:cs typeface="Cambria" pitchFamily="34" charset="-120"/>
              </a:rPr>
              <a:t>Shipped as its own committed file, next to the minified one. “Unminified” cannot be a separate asset if a build step produces both.</a:t>
            </a:r>
            <a:endParaRPr lang="en-US" sz="1400" dirty="0"/>
          </a:p>
        </p:txBody>
      </p:sp>
      <p:sp>
        <p:nvSpPr>
          <p:cNvPr id="16" name="Shape 14"/>
          <p:cNvSpPr/>
          <p:nvPr/>
        </p:nvSpPr>
        <p:spPr>
          <a:xfrm>
            <a:off x="8229600" y="1874520"/>
            <a:ext cx="3657600" cy="2880360"/>
          </a:xfrm>
          <a:prstGeom prst="roundRect">
            <a:avLst>
              <a:gd name="adj" fmla="val 3175"/>
            </a:avLst>
          </a:prstGeom>
          <a:solidFill>
            <a:srgbClr val="FFFFFF"/>
          </a:solidFill>
          <a:ln w="12700">
            <a:solidFill>
              <a:srgbClr val="1E2761"/>
            </a:solidFill>
            <a:prstDash val="solid"/>
          </a:ln>
        </p:spPr>
      </p:sp>
      <p:sp>
        <p:nvSpPr>
          <p:cNvPr id="17" name="Shape 15"/>
          <p:cNvSpPr/>
          <p:nvPr/>
        </p:nvSpPr>
        <p:spPr>
          <a:xfrm>
            <a:off x="8549640" y="2194560"/>
            <a:ext cx="3017520" cy="502920"/>
          </a:xfrm>
          <a:prstGeom prst="rect">
            <a:avLst/>
          </a:prstGeom>
          <a:solidFill>
            <a:srgbClr val="141B4A"/>
          </a:solidFill>
          <a:ln w="12700">
            <a:solidFill>
              <a:srgbClr val="141B4A"/>
            </a:solidFill>
            <a:prstDash val="solid"/>
          </a:ln>
        </p:spPr>
      </p:sp>
      <p:sp>
        <p:nvSpPr>
          <p:cNvPr id="18" name="Text 16"/>
          <p:cNvSpPr txBox="1"/>
          <p:nvPr/>
        </p:nvSpPr>
        <p:spPr>
          <a:xfrm>
            <a:off x="8549640" y="2194560"/>
            <a:ext cx="3017520" cy="502920"/>
          </a:xfrm>
          <a:prstGeom prst="rect">
            <a:avLst/>
          </a:prstGeom>
          <a:noFill/>
          <a:ln/>
        </p:spPr>
        <p:txBody>
          <a:bodyPr wrap="square" lIns="0" tIns="0" rIns="0" bIns="0" rtlCol="0" anchor="ctr"/>
          <a:lstStyle/>
          <a:p>
            <a:pPr algn="ctr" indent="0" marL="0">
              <a:buNone/>
            </a:pPr>
            <a:r>
              <a:rPr lang="en-US" sz="1400" b="1" dirty="0">
                <a:solidFill>
                  <a:srgbClr val="E5A934"/>
                </a:solidFill>
                <a:latin typeface="Courier New" pitchFamily="34" charset="0"/>
                <a:ea typeface="Courier New" pitchFamily="34" charset="-122"/>
                <a:cs typeface="Courier New" pitchFamily="34" charset="-120"/>
              </a:rPr>
              <a:t>rbc-elements_main2.css</a:t>
            </a:r>
            <a:endParaRPr lang="en-US" sz="1400" dirty="0"/>
          </a:p>
        </p:txBody>
      </p:sp>
      <p:sp>
        <p:nvSpPr>
          <p:cNvPr id="19" name="Text 17"/>
          <p:cNvSpPr txBox="1"/>
          <p:nvPr/>
        </p:nvSpPr>
        <p:spPr>
          <a:xfrm>
            <a:off x="8549640" y="2834640"/>
            <a:ext cx="3017520" cy="36576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Jul 9, 2026  •  /css/sub/elements/</a:t>
            </a:r>
            <a:endParaRPr lang="en-US" sz="1100" dirty="0"/>
          </a:p>
        </p:txBody>
      </p:sp>
      <p:sp>
        <p:nvSpPr>
          <p:cNvPr id="20" name="Text 18"/>
          <p:cNvSpPr txBox="1"/>
          <p:nvPr/>
        </p:nvSpPr>
        <p:spPr>
          <a:xfrm>
            <a:off x="8549640" y="3291840"/>
            <a:ext cx="3017520" cy="1325880"/>
          </a:xfrm>
          <a:prstGeom prst="rect">
            <a:avLst/>
          </a:prstGeom>
          <a:noFill/>
          <a:ln/>
        </p:spPr>
        <p:txBody>
          <a:bodyPr wrap="square" lIns="0" tIns="0" rIns="0" bIns="0" rtlCol="0" anchor="ctr"/>
          <a:lstStyle/>
          <a:p>
            <a:pPr indent="0" marL="0">
              <a:buNone/>
            </a:pPr>
            <a:r>
              <a:rPr lang="en-US" sz="1400" dirty="0">
                <a:solidFill>
                  <a:srgbClr val="2C2C2C"/>
                </a:solidFill>
                <a:latin typeface="Cambria" pitchFamily="34" charset="0"/>
                <a:ea typeface="Cambria" pitchFamily="34" charset="-122"/>
                <a:cs typeface="Cambria" pitchFamily="34" charset="-120"/>
              </a:rPr>
              <a:t>Ships alongside rbc-elements_main.css. Two “main” files, one folder, no consolidation.</a:t>
            </a:r>
            <a:endParaRPr lang="en-US" sz="1400" dirty="0"/>
          </a:p>
        </p:txBody>
      </p:sp>
      <p:sp>
        <p:nvSpPr>
          <p:cNvPr id="21" name="Shape 19"/>
          <p:cNvSpPr/>
          <p:nvPr/>
        </p:nvSpPr>
        <p:spPr>
          <a:xfrm>
            <a:off x="640080" y="5074920"/>
            <a:ext cx="10881360" cy="1051560"/>
          </a:xfrm>
          <a:prstGeom prst="roundRect">
            <a:avLst>
              <a:gd name="adj" fmla="val 8696"/>
            </a:avLst>
          </a:prstGeom>
          <a:solidFill>
            <a:srgbClr val="141B4A"/>
          </a:solidFill>
          <a:ln w="12700">
            <a:solidFill>
              <a:srgbClr val="141B4A"/>
            </a:solidFill>
            <a:prstDash val="solid"/>
          </a:ln>
        </p:spPr>
      </p:sp>
      <p:sp>
        <p:nvSpPr>
          <p:cNvPr id="22" name="Text 20"/>
          <p:cNvSpPr txBox="1"/>
          <p:nvPr/>
        </p:nvSpPr>
        <p:spPr>
          <a:xfrm>
            <a:off x="822960" y="5166360"/>
            <a:ext cx="1737360" cy="868680"/>
          </a:xfrm>
          <a:prstGeom prst="rect">
            <a:avLst/>
          </a:prstGeom>
          <a:noFill/>
          <a:ln/>
        </p:spPr>
        <p:txBody>
          <a:bodyPr wrap="square" lIns="0" tIns="0" rIns="0" bIns="0" rtlCol="0" anchor="ctr"/>
          <a:lstStyle/>
          <a:p>
            <a:pPr algn="ctr" indent="0" marL="0">
              <a:buNone/>
            </a:pPr>
            <a:r>
              <a:rPr lang="en-US" sz="5600" b="1" dirty="0">
                <a:solidFill>
                  <a:srgbClr val="E5A934"/>
                </a:solidFill>
                <a:latin typeface="Cambria" pitchFamily="34" charset="0"/>
                <a:ea typeface="Cambria" pitchFamily="34" charset="-122"/>
                <a:cs typeface="Cambria" pitchFamily="34" charset="-120"/>
              </a:rPr>
              <a:t>481</a:t>
            </a:r>
            <a:endParaRPr lang="en-US" sz="5600" dirty="0"/>
          </a:p>
        </p:txBody>
      </p:sp>
      <p:sp>
        <p:nvSpPr>
          <p:cNvPr id="23" name="Text 21"/>
          <p:cNvSpPr txBox="1"/>
          <p:nvPr/>
        </p:nvSpPr>
        <p:spPr>
          <a:xfrm>
            <a:off x="2651760" y="5257800"/>
            <a:ext cx="8686800" cy="77724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items in /css/sub/ — dozens of page-specific folders (about-us, biopharma, btb, geopolitics, charity-day-for-the-kids, energy-transition…)</a:t>
            </a:r>
            <a:endParaRPr lang="en-US" sz="1500" dirty="0"/>
          </a:p>
        </p:txBody>
      </p:sp>
      <p:sp>
        <p:nvSpPr>
          <p:cNvPr id="24" name="Text 22"/>
          <p:cNvSpPr txBox="1"/>
          <p:nvPr/>
        </p:nvSpPr>
        <p:spPr>
          <a:xfrm>
            <a:off x="640080" y="6309360"/>
            <a:ext cx="10881360" cy="365760"/>
          </a:xfrm>
          <a:prstGeom prst="rect">
            <a:avLst/>
          </a:prstGeom>
          <a:noFill/>
          <a:ln/>
        </p:spPr>
        <p:txBody>
          <a:bodyPr wrap="square" lIns="0" tIns="0" rIns="0" bIns="0" rtlCol="0" anchor="ctr"/>
          <a:lstStyle/>
          <a:p>
            <a:pPr algn="ctr" indent="0" marL="0">
              <a:buNone/>
            </a:pPr>
            <a:r>
              <a:rPr lang="en-US" sz="1600" b="1" i="1" dirty="0">
                <a:solidFill>
                  <a:srgbClr val="141B4A"/>
                </a:solidFill>
                <a:latin typeface="Cambria" pitchFamily="34" charset="0"/>
                <a:ea typeface="Cambria" pitchFamily="34" charset="-122"/>
                <a:cs typeface="Cambria" pitchFamily="34" charset="-120"/>
              </a:rPr>
              <a:t>Without a build pipeline, consolidation isn’t a choice — it’s not even an option.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A"/>
        </a:solidFill>
      </p:bgPr>
    </p:bg>
    <p:spTree>
      <p:nvGrpSpPr>
        <p:cNvPr id="1" name=""/>
        <p:cNvGrpSpPr/>
        <p:nvPr/>
      </p:nvGrpSpPr>
      <p:grpSpPr>
        <a:xfrm>
          <a:off x="0" y="0"/>
          <a:ext cx="0" cy="0"/>
          <a:chOff x="0" y="0"/>
          <a:chExt cx="0" cy="0"/>
        </a:xfrm>
      </p:grpSpPr>
      <p:sp>
        <p:nvSpPr>
          <p:cNvPr id="2" name="Shape 0"/>
          <p:cNvSpPr/>
          <p:nvPr/>
        </p:nvSpPr>
        <p:spPr>
          <a:xfrm>
            <a:off x="822960" y="1463040"/>
            <a:ext cx="3291840" cy="3291840"/>
          </a:xfrm>
          <a:prstGeom prst="ellipse">
            <a:avLst/>
          </a:prstGeom>
          <a:solidFill>
            <a:srgbClr val="E5A934"/>
          </a:solidFill>
          <a:ln w="12700">
            <a:solidFill>
              <a:srgbClr val="E5A934"/>
            </a:solidFill>
            <a:prstDash val="solid"/>
          </a:ln>
        </p:spPr>
      </p:sp>
      <p:sp>
        <p:nvSpPr>
          <p:cNvPr id="3" name="Text 1"/>
          <p:cNvSpPr txBox="1"/>
          <p:nvPr/>
        </p:nvSpPr>
        <p:spPr>
          <a:xfrm>
            <a:off x="822960" y="1463040"/>
            <a:ext cx="3291840" cy="3291840"/>
          </a:xfrm>
          <a:prstGeom prst="rect">
            <a:avLst/>
          </a:prstGeom>
          <a:noFill/>
          <a:ln/>
        </p:spPr>
        <p:txBody>
          <a:bodyPr wrap="square" lIns="0" tIns="0" rIns="0" bIns="0" rtlCol="0" anchor="ctr"/>
          <a:lstStyle/>
          <a:p>
            <a:pPr algn="ctr" indent="0" marL="0">
              <a:buNone/>
            </a:pPr>
            <a:r>
              <a:rPr lang="en-US" sz="12240" b="1" dirty="0">
                <a:solidFill>
                  <a:srgbClr val="141B4A"/>
                </a:solidFill>
                <a:latin typeface="Cambria" pitchFamily="34" charset="0"/>
                <a:ea typeface="Cambria" pitchFamily="34" charset="-122"/>
                <a:cs typeface="Cambria" pitchFamily="34" charset="-120"/>
              </a:rPr>
              <a:t>P3</a:t>
            </a:r>
            <a:endParaRPr lang="en-US" sz="12240" dirty="0"/>
          </a:p>
        </p:txBody>
      </p:sp>
      <p:sp>
        <p:nvSpPr>
          <p:cNvPr id="4" name="Text 2"/>
          <p:cNvSpPr txBox="1"/>
          <p:nvPr/>
        </p:nvSpPr>
        <p:spPr>
          <a:xfrm>
            <a:off x="4480560" y="1737360"/>
            <a:ext cx="7315200" cy="118872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Passiveness</a:t>
            </a:r>
            <a:endParaRPr lang="en-US" sz="7600" dirty="0"/>
          </a:p>
        </p:txBody>
      </p:sp>
      <p:sp>
        <p:nvSpPr>
          <p:cNvPr id="5" name="Text 3"/>
          <p:cNvSpPr txBox="1"/>
          <p:nvPr/>
        </p:nvSpPr>
        <p:spPr>
          <a:xfrm>
            <a:off x="4480560" y="2926080"/>
            <a:ext cx="7315200" cy="82296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Process applied to platform produces passiveness.</a:t>
            </a:r>
            <a:endParaRPr lang="en-US" sz="2200" dirty="0"/>
          </a:p>
        </p:txBody>
      </p:sp>
      <p:sp>
        <p:nvSpPr>
          <p:cNvPr id="6" name="Text 4"/>
          <p:cNvSpPr txBox="1"/>
          <p:nvPr/>
        </p:nvSpPr>
        <p:spPr>
          <a:xfrm>
            <a:off x="4480560" y="4023360"/>
            <a:ext cx="7315200" cy="2286000"/>
          </a:xfrm>
          <a:prstGeom prst="rect">
            <a:avLst/>
          </a:prstGeom>
          <a:noFill/>
          <a:ln/>
        </p:spPr>
        <p:txBody>
          <a:bodyPr wrap="square" lIns="0" tIns="0" rIns="0" bIns="0" rtlCol="0" anchor="ctr"/>
          <a:lstStyle/>
          <a:p>
            <a:pPr marL="342900" indent="-342900">
              <a:spcAft>
                <a:spcPts val="1200"/>
              </a:spcAft>
              <a:buSzPct val="100000"/>
              <a:buChar char="■"/>
            </a:pPr>
            <a:r>
              <a:rPr lang="en-US" sz="1800" dirty="0">
                <a:solidFill>
                  <a:srgbClr val="CADCFC"/>
                </a:solidFill>
                <a:latin typeface="Calibri" pitchFamily="34" charset="0"/>
                <a:ea typeface="Calibri" pitchFamily="34" charset="-122"/>
                <a:cs typeface="Calibri" pitchFamily="34" charset="-120"/>
              </a:rPr>
              <a:t>Everyone waits to be told what to do.</a:t>
            </a:r>
            <a:endParaRPr lang="en-US" sz="1800" dirty="0"/>
          </a:p>
          <a:p>
            <a:pPr marL="342900" indent="-342900">
              <a:spcAft>
                <a:spcPts val="1200"/>
              </a:spcAft>
              <a:buSzPct val="100000"/>
              <a:buChar char="■"/>
            </a:pPr>
            <a:r>
              <a:rPr lang="en-US" sz="1800" dirty="0">
                <a:solidFill>
                  <a:srgbClr val="CADCFC"/>
                </a:solidFill>
                <a:latin typeface="Calibri" pitchFamily="34" charset="0"/>
                <a:ea typeface="Calibri" pitchFamily="34" charset="-122"/>
                <a:cs typeface="Calibri" pitchFamily="34" charset="-120"/>
              </a:rPr>
              <a:t>Nobody says “hey, what about this?”</a:t>
            </a:r>
            <a:endParaRPr lang="en-US" sz="1800" dirty="0"/>
          </a:p>
          <a:p>
            <a:pPr marL="342900" indent="-342900">
              <a:buSzPct val="100000"/>
              <a:buChar char="■"/>
            </a:pPr>
            <a:r>
              <a:rPr lang="en-US" sz="1800" dirty="0">
                <a:solidFill>
                  <a:srgbClr val="CADCFC"/>
                </a:solidFill>
                <a:latin typeface="Calibri" pitchFamily="34" charset="0"/>
                <a:ea typeface="Calibri" pitchFamily="34" charset="-122"/>
                <a:cs typeface="Calibri" pitchFamily="34" charset="-120"/>
              </a:rPr>
              <a:t>It’s the rational strategy in a system that punishes initiative.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P3</a:t>
            </a:r>
            <a:endParaRPr lang="en-US" sz="1400" dirty="0"/>
          </a:p>
        </p:txBody>
      </p:sp>
      <p:sp>
        <p:nvSpPr>
          <p:cNvPr id="4" name="Text 2"/>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4000" b="1" dirty="0">
                <a:solidFill>
                  <a:srgbClr val="141B4A"/>
                </a:solidFill>
                <a:latin typeface="Cambria" pitchFamily="34" charset="0"/>
                <a:ea typeface="Cambria" pitchFamily="34" charset="-122"/>
                <a:cs typeface="Cambria" pitchFamily="34" charset="-120"/>
              </a:rPr>
              <a:t>Symptoms</a:t>
            </a:r>
            <a:endParaRPr lang="en-US" sz="4000" dirty="0"/>
          </a:p>
        </p:txBody>
      </p:sp>
      <p:sp>
        <p:nvSpPr>
          <p:cNvPr id="5" name="Text 3"/>
          <p:cNvSpPr txBox="1"/>
          <p:nvPr/>
        </p:nvSpPr>
        <p:spPr>
          <a:xfrm>
            <a:off x="640080" y="1234440"/>
            <a:ext cx="10972800" cy="41148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What passiveness looks like day-to-day.</a:t>
            </a:r>
            <a:endParaRPr lang="en-US" sz="1600" dirty="0"/>
          </a:p>
        </p:txBody>
      </p:sp>
      <p:sp>
        <p:nvSpPr>
          <p:cNvPr id="6" name="Shape 4"/>
          <p:cNvSpPr/>
          <p:nvPr/>
        </p:nvSpPr>
        <p:spPr>
          <a:xfrm>
            <a:off x="640080" y="1920240"/>
            <a:ext cx="5394960" cy="1371600"/>
          </a:xfrm>
          <a:prstGeom prst="roundRect">
            <a:avLst>
              <a:gd name="adj" fmla="val 6667"/>
            </a:avLst>
          </a:prstGeom>
          <a:solidFill>
            <a:srgbClr val="FFFFFF"/>
          </a:solidFill>
          <a:ln w="12700">
            <a:solidFill>
              <a:srgbClr val="1E2761"/>
            </a:solidFill>
            <a:prstDash val="solid"/>
          </a:ln>
        </p:spPr>
      </p:sp>
      <p:sp>
        <p:nvSpPr>
          <p:cNvPr id="7" name="Shape 5"/>
          <p:cNvSpPr/>
          <p:nvPr/>
        </p:nvSpPr>
        <p:spPr>
          <a:xfrm>
            <a:off x="960120" y="2194560"/>
            <a:ext cx="822960" cy="822960"/>
          </a:xfrm>
          <a:prstGeom prst="ellipse">
            <a:avLst/>
          </a:prstGeom>
          <a:solidFill>
            <a:srgbClr val="141B4A"/>
          </a:solidFill>
          <a:ln w="12700">
            <a:solidFill>
              <a:srgbClr val="141B4A"/>
            </a:solidFill>
            <a:prstDash val="solid"/>
          </a:ln>
        </p:spPr>
      </p:sp>
      <p:sp>
        <p:nvSpPr>
          <p:cNvPr id="8" name="Text 6"/>
          <p:cNvSpPr txBox="1"/>
          <p:nvPr/>
        </p:nvSpPr>
        <p:spPr>
          <a:xfrm>
            <a:off x="960120" y="2194560"/>
            <a:ext cx="822960" cy="822960"/>
          </a:xfrm>
          <a:prstGeom prst="rect">
            <a:avLst/>
          </a:prstGeom>
          <a:noFill/>
          <a:ln/>
        </p:spPr>
        <p:txBody>
          <a:bodyPr wrap="square" lIns="0" tIns="0" rIns="0" bIns="0" rtlCol="0" anchor="ctr"/>
          <a:lstStyle/>
          <a:p>
            <a:pPr algn="ctr" indent="0" marL="0">
              <a:buNone/>
            </a:pPr>
            <a:r>
              <a:rPr lang="en-US" sz="2400" b="1" dirty="0">
                <a:solidFill>
                  <a:srgbClr val="E5A934"/>
                </a:solidFill>
                <a:latin typeface="Cambria" pitchFamily="34" charset="0"/>
                <a:ea typeface="Cambria" pitchFamily="34" charset="-122"/>
                <a:cs typeface="Cambria" pitchFamily="34" charset="-120"/>
              </a:rPr>
              <a:t>1</a:t>
            </a:r>
            <a:endParaRPr lang="en-US" sz="2400" dirty="0"/>
          </a:p>
        </p:txBody>
      </p:sp>
      <p:sp>
        <p:nvSpPr>
          <p:cNvPr id="9" name="Text 7"/>
          <p:cNvSpPr txBox="1"/>
          <p:nvPr/>
        </p:nvSpPr>
        <p:spPr>
          <a:xfrm>
            <a:off x="2011680" y="2011680"/>
            <a:ext cx="3749040" cy="1188720"/>
          </a:xfrm>
          <a:prstGeom prst="rect">
            <a:avLst/>
          </a:prstGeom>
          <a:noFill/>
          <a:ln/>
        </p:spPr>
        <p:txBody>
          <a:bodyPr wrap="square" lIns="0" tIns="0" rIns="0" bIns="0" rtlCol="0" anchor="ctr"/>
          <a:lstStyle/>
          <a:p>
            <a:pPr indent="0" marL="0">
              <a:buNone/>
            </a:pPr>
            <a:r>
              <a:rPr lang="en-US" sz="1700" dirty="0">
                <a:solidFill>
                  <a:srgbClr val="2C2C2C"/>
                </a:solidFill>
                <a:latin typeface="Calibri" pitchFamily="34" charset="0"/>
                <a:ea typeface="Calibri" pitchFamily="34" charset="-122"/>
                <a:cs typeface="Calibri" pitchFamily="34" charset="-120"/>
              </a:rPr>
              <a:t>Team only works on what’s assigned.</a:t>
            </a:r>
            <a:endParaRPr lang="en-US" sz="1700" dirty="0"/>
          </a:p>
        </p:txBody>
      </p:sp>
      <p:sp>
        <p:nvSpPr>
          <p:cNvPr id="10" name="Shape 8"/>
          <p:cNvSpPr/>
          <p:nvPr/>
        </p:nvSpPr>
        <p:spPr>
          <a:xfrm>
            <a:off x="6309360" y="1920240"/>
            <a:ext cx="5394960" cy="1371600"/>
          </a:xfrm>
          <a:prstGeom prst="roundRect">
            <a:avLst>
              <a:gd name="adj" fmla="val 6667"/>
            </a:avLst>
          </a:prstGeom>
          <a:solidFill>
            <a:srgbClr val="FFFFFF"/>
          </a:solidFill>
          <a:ln w="12700">
            <a:solidFill>
              <a:srgbClr val="1E2761"/>
            </a:solidFill>
            <a:prstDash val="solid"/>
          </a:ln>
        </p:spPr>
      </p:sp>
      <p:sp>
        <p:nvSpPr>
          <p:cNvPr id="11" name="Shape 9"/>
          <p:cNvSpPr/>
          <p:nvPr/>
        </p:nvSpPr>
        <p:spPr>
          <a:xfrm>
            <a:off x="6629400" y="2194560"/>
            <a:ext cx="822960" cy="822960"/>
          </a:xfrm>
          <a:prstGeom prst="ellipse">
            <a:avLst/>
          </a:prstGeom>
          <a:solidFill>
            <a:srgbClr val="141B4A"/>
          </a:solidFill>
          <a:ln w="12700">
            <a:solidFill>
              <a:srgbClr val="141B4A"/>
            </a:solidFill>
            <a:prstDash val="solid"/>
          </a:ln>
        </p:spPr>
      </p:sp>
      <p:sp>
        <p:nvSpPr>
          <p:cNvPr id="12" name="Text 10"/>
          <p:cNvSpPr txBox="1"/>
          <p:nvPr/>
        </p:nvSpPr>
        <p:spPr>
          <a:xfrm>
            <a:off x="6629400" y="2194560"/>
            <a:ext cx="822960" cy="822960"/>
          </a:xfrm>
          <a:prstGeom prst="rect">
            <a:avLst/>
          </a:prstGeom>
          <a:noFill/>
          <a:ln/>
        </p:spPr>
        <p:txBody>
          <a:bodyPr wrap="square" lIns="0" tIns="0" rIns="0" bIns="0" rtlCol="0" anchor="ctr"/>
          <a:lstStyle/>
          <a:p>
            <a:pPr algn="ctr" indent="0" marL="0">
              <a:buNone/>
            </a:pPr>
            <a:r>
              <a:rPr lang="en-US" sz="2400" b="1" dirty="0">
                <a:solidFill>
                  <a:srgbClr val="E5A934"/>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7680960" y="2011680"/>
            <a:ext cx="3749040" cy="1188720"/>
          </a:xfrm>
          <a:prstGeom prst="rect">
            <a:avLst/>
          </a:prstGeom>
          <a:noFill/>
          <a:ln/>
        </p:spPr>
        <p:txBody>
          <a:bodyPr wrap="square" lIns="0" tIns="0" rIns="0" bIns="0" rtlCol="0" anchor="ctr"/>
          <a:lstStyle/>
          <a:p>
            <a:pPr indent="0" marL="0">
              <a:buNone/>
            </a:pPr>
            <a:r>
              <a:rPr lang="en-US" sz="1700" dirty="0">
                <a:solidFill>
                  <a:srgbClr val="2C2C2C"/>
                </a:solidFill>
                <a:latin typeface="Calibri" pitchFamily="34" charset="0"/>
                <a:ea typeface="Calibri" pitchFamily="34" charset="-122"/>
                <a:cs typeface="Calibri" pitchFamily="34" charset="-120"/>
              </a:rPr>
              <a:t>Marketing bypasses digital, comes direct.</a:t>
            </a:r>
            <a:endParaRPr lang="en-US" sz="1700" dirty="0"/>
          </a:p>
        </p:txBody>
      </p:sp>
      <p:sp>
        <p:nvSpPr>
          <p:cNvPr id="14" name="Shape 12"/>
          <p:cNvSpPr/>
          <p:nvPr/>
        </p:nvSpPr>
        <p:spPr>
          <a:xfrm>
            <a:off x="640080" y="3474720"/>
            <a:ext cx="5394960" cy="1371600"/>
          </a:xfrm>
          <a:prstGeom prst="roundRect">
            <a:avLst>
              <a:gd name="adj" fmla="val 6667"/>
            </a:avLst>
          </a:prstGeom>
          <a:solidFill>
            <a:srgbClr val="FFFFFF"/>
          </a:solidFill>
          <a:ln w="12700">
            <a:solidFill>
              <a:srgbClr val="1E2761"/>
            </a:solidFill>
            <a:prstDash val="solid"/>
          </a:ln>
        </p:spPr>
      </p:sp>
      <p:sp>
        <p:nvSpPr>
          <p:cNvPr id="15" name="Shape 13"/>
          <p:cNvSpPr/>
          <p:nvPr/>
        </p:nvSpPr>
        <p:spPr>
          <a:xfrm>
            <a:off x="960120" y="3749040"/>
            <a:ext cx="822960" cy="822960"/>
          </a:xfrm>
          <a:prstGeom prst="ellipse">
            <a:avLst/>
          </a:prstGeom>
          <a:solidFill>
            <a:srgbClr val="141B4A"/>
          </a:solidFill>
          <a:ln w="12700">
            <a:solidFill>
              <a:srgbClr val="141B4A"/>
            </a:solidFill>
            <a:prstDash val="solid"/>
          </a:ln>
        </p:spPr>
      </p:sp>
      <p:sp>
        <p:nvSpPr>
          <p:cNvPr id="16" name="Text 14"/>
          <p:cNvSpPr txBox="1"/>
          <p:nvPr/>
        </p:nvSpPr>
        <p:spPr>
          <a:xfrm>
            <a:off x="960120" y="3749040"/>
            <a:ext cx="822960" cy="822960"/>
          </a:xfrm>
          <a:prstGeom prst="rect">
            <a:avLst/>
          </a:prstGeom>
          <a:noFill/>
          <a:ln/>
        </p:spPr>
        <p:txBody>
          <a:bodyPr wrap="square" lIns="0" tIns="0" rIns="0" bIns="0" rtlCol="0" anchor="ctr"/>
          <a:lstStyle/>
          <a:p>
            <a:pPr algn="ctr" indent="0" marL="0">
              <a:buNone/>
            </a:pPr>
            <a:r>
              <a:rPr lang="en-US" sz="2400" b="1" dirty="0">
                <a:solidFill>
                  <a:srgbClr val="E5A934"/>
                </a:solidFill>
                <a:latin typeface="Cambria" pitchFamily="34" charset="0"/>
                <a:ea typeface="Cambria" pitchFamily="34" charset="-122"/>
                <a:cs typeface="Cambria" pitchFamily="34" charset="-120"/>
              </a:rPr>
              <a:t>3</a:t>
            </a:r>
            <a:endParaRPr lang="en-US" sz="2400" dirty="0"/>
          </a:p>
        </p:txBody>
      </p:sp>
      <p:sp>
        <p:nvSpPr>
          <p:cNvPr id="17" name="Text 15"/>
          <p:cNvSpPr txBox="1"/>
          <p:nvPr/>
        </p:nvSpPr>
        <p:spPr>
          <a:xfrm>
            <a:off x="2011680" y="3566160"/>
            <a:ext cx="3749040" cy="1188720"/>
          </a:xfrm>
          <a:prstGeom prst="rect">
            <a:avLst/>
          </a:prstGeom>
          <a:noFill/>
          <a:ln/>
        </p:spPr>
        <p:txBody>
          <a:bodyPr wrap="square" lIns="0" tIns="0" rIns="0" bIns="0" rtlCol="0" anchor="ctr"/>
          <a:lstStyle/>
          <a:p>
            <a:pPr indent="0" marL="0">
              <a:buNone/>
            </a:pPr>
            <a:r>
              <a:rPr lang="en-US" sz="1700" dirty="0">
                <a:solidFill>
                  <a:srgbClr val="2C2C2C"/>
                </a:solidFill>
                <a:latin typeface="Calibri" pitchFamily="34" charset="0"/>
                <a:ea typeface="Calibri" pitchFamily="34" charset="-122"/>
                <a:cs typeface="Calibri" pitchFamily="34" charset="-120"/>
              </a:rPr>
              <a:t>Same conversations recur without movement.</a:t>
            </a:r>
            <a:endParaRPr lang="en-US" sz="1700" dirty="0"/>
          </a:p>
        </p:txBody>
      </p:sp>
      <p:sp>
        <p:nvSpPr>
          <p:cNvPr id="18" name="Shape 16"/>
          <p:cNvSpPr/>
          <p:nvPr/>
        </p:nvSpPr>
        <p:spPr>
          <a:xfrm>
            <a:off x="6309360" y="3474720"/>
            <a:ext cx="5394960" cy="1371600"/>
          </a:xfrm>
          <a:prstGeom prst="roundRect">
            <a:avLst>
              <a:gd name="adj" fmla="val 6667"/>
            </a:avLst>
          </a:prstGeom>
          <a:solidFill>
            <a:srgbClr val="FFFFFF"/>
          </a:solidFill>
          <a:ln w="12700">
            <a:solidFill>
              <a:srgbClr val="1E2761"/>
            </a:solidFill>
            <a:prstDash val="solid"/>
          </a:ln>
        </p:spPr>
      </p:sp>
      <p:sp>
        <p:nvSpPr>
          <p:cNvPr id="19" name="Shape 17"/>
          <p:cNvSpPr/>
          <p:nvPr/>
        </p:nvSpPr>
        <p:spPr>
          <a:xfrm>
            <a:off x="6629400" y="3749040"/>
            <a:ext cx="822960" cy="822960"/>
          </a:xfrm>
          <a:prstGeom prst="ellipse">
            <a:avLst/>
          </a:prstGeom>
          <a:solidFill>
            <a:srgbClr val="141B4A"/>
          </a:solidFill>
          <a:ln w="12700">
            <a:solidFill>
              <a:srgbClr val="141B4A"/>
            </a:solidFill>
            <a:prstDash val="solid"/>
          </a:ln>
        </p:spPr>
      </p:sp>
      <p:sp>
        <p:nvSpPr>
          <p:cNvPr id="20" name="Text 18"/>
          <p:cNvSpPr txBox="1"/>
          <p:nvPr/>
        </p:nvSpPr>
        <p:spPr>
          <a:xfrm>
            <a:off x="6629400" y="3749040"/>
            <a:ext cx="822960" cy="822960"/>
          </a:xfrm>
          <a:prstGeom prst="rect">
            <a:avLst/>
          </a:prstGeom>
          <a:noFill/>
          <a:ln/>
        </p:spPr>
        <p:txBody>
          <a:bodyPr wrap="square" lIns="0" tIns="0" rIns="0" bIns="0" rtlCol="0" anchor="ctr"/>
          <a:lstStyle/>
          <a:p>
            <a:pPr algn="ctr" indent="0" marL="0">
              <a:buNone/>
            </a:pPr>
            <a:r>
              <a:rPr lang="en-US" sz="2400" b="1" dirty="0">
                <a:solidFill>
                  <a:srgbClr val="E5A934"/>
                </a:solidFill>
                <a:latin typeface="Cambria" pitchFamily="34" charset="0"/>
                <a:ea typeface="Cambria" pitchFamily="34" charset="-122"/>
                <a:cs typeface="Cambria" pitchFamily="34" charset="-120"/>
              </a:rPr>
              <a:t>4</a:t>
            </a:r>
            <a:endParaRPr lang="en-US" sz="2400" dirty="0"/>
          </a:p>
        </p:txBody>
      </p:sp>
      <p:sp>
        <p:nvSpPr>
          <p:cNvPr id="21" name="Text 19"/>
          <p:cNvSpPr txBox="1"/>
          <p:nvPr/>
        </p:nvSpPr>
        <p:spPr>
          <a:xfrm>
            <a:off x="7680960" y="3566160"/>
            <a:ext cx="3749040" cy="1188720"/>
          </a:xfrm>
          <a:prstGeom prst="rect">
            <a:avLst/>
          </a:prstGeom>
          <a:noFill/>
          <a:ln/>
        </p:spPr>
        <p:txBody>
          <a:bodyPr wrap="square" lIns="0" tIns="0" rIns="0" bIns="0" rtlCol="0" anchor="ctr"/>
          <a:lstStyle/>
          <a:p>
            <a:pPr indent="0" marL="0">
              <a:buNone/>
            </a:pPr>
            <a:r>
              <a:rPr lang="en-US" sz="1700" dirty="0">
                <a:solidFill>
                  <a:srgbClr val="2C2C2C"/>
                </a:solidFill>
                <a:latin typeface="Calibri" pitchFamily="34" charset="0"/>
                <a:ea typeface="Calibri" pitchFamily="34" charset="-122"/>
                <a:cs typeface="Calibri" pitchFamily="34" charset="-120"/>
              </a:rPr>
              <a:t>Duplicate components; runtimes coexist.</a:t>
            </a:r>
            <a:endParaRPr lang="en-US" sz="1700" dirty="0"/>
          </a:p>
        </p:txBody>
      </p:sp>
      <p:sp>
        <p:nvSpPr>
          <p:cNvPr id="22" name="Shape 20"/>
          <p:cNvSpPr/>
          <p:nvPr/>
        </p:nvSpPr>
        <p:spPr>
          <a:xfrm>
            <a:off x="640080" y="5029200"/>
            <a:ext cx="5394960" cy="1371600"/>
          </a:xfrm>
          <a:prstGeom prst="roundRect">
            <a:avLst>
              <a:gd name="adj" fmla="val 6667"/>
            </a:avLst>
          </a:prstGeom>
          <a:solidFill>
            <a:srgbClr val="FFFFFF"/>
          </a:solidFill>
          <a:ln w="12700">
            <a:solidFill>
              <a:srgbClr val="1E2761"/>
            </a:solidFill>
            <a:prstDash val="solid"/>
          </a:ln>
        </p:spPr>
      </p:sp>
      <p:sp>
        <p:nvSpPr>
          <p:cNvPr id="23" name="Shape 21"/>
          <p:cNvSpPr/>
          <p:nvPr/>
        </p:nvSpPr>
        <p:spPr>
          <a:xfrm>
            <a:off x="960120" y="5303520"/>
            <a:ext cx="822960" cy="822960"/>
          </a:xfrm>
          <a:prstGeom prst="ellipse">
            <a:avLst/>
          </a:prstGeom>
          <a:solidFill>
            <a:srgbClr val="141B4A"/>
          </a:solidFill>
          <a:ln w="12700">
            <a:solidFill>
              <a:srgbClr val="141B4A"/>
            </a:solidFill>
            <a:prstDash val="solid"/>
          </a:ln>
        </p:spPr>
      </p:sp>
      <p:sp>
        <p:nvSpPr>
          <p:cNvPr id="24" name="Text 22"/>
          <p:cNvSpPr txBox="1"/>
          <p:nvPr/>
        </p:nvSpPr>
        <p:spPr>
          <a:xfrm>
            <a:off x="960120" y="5303520"/>
            <a:ext cx="822960" cy="822960"/>
          </a:xfrm>
          <a:prstGeom prst="rect">
            <a:avLst/>
          </a:prstGeom>
          <a:noFill/>
          <a:ln/>
        </p:spPr>
        <p:txBody>
          <a:bodyPr wrap="square" lIns="0" tIns="0" rIns="0" bIns="0" rtlCol="0" anchor="ctr"/>
          <a:lstStyle/>
          <a:p>
            <a:pPr algn="ctr" indent="0" marL="0">
              <a:buNone/>
            </a:pPr>
            <a:r>
              <a:rPr lang="en-US" sz="2400" b="1" dirty="0">
                <a:solidFill>
                  <a:srgbClr val="E5A934"/>
                </a:solidFill>
                <a:latin typeface="Cambria" pitchFamily="34" charset="0"/>
                <a:ea typeface="Cambria" pitchFamily="34" charset="-122"/>
                <a:cs typeface="Cambria" pitchFamily="34" charset="-120"/>
              </a:rPr>
              <a:t>5</a:t>
            </a:r>
            <a:endParaRPr lang="en-US" sz="2400" dirty="0"/>
          </a:p>
        </p:txBody>
      </p:sp>
      <p:sp>
        <p:nvSpPr>
          <p:cNvPr id="25" name="Text 23"/>
          <p:cNvSpPr txBox="1"/>
          <p:nvPr/>
        </p:nvSpPr>
        <p:spPr>
          <a:xfrm>
            <a:off x="2011680" y="5120640"/>
            <a:ext cx="3749040" cy="1188720"/>
          </a:xfrm>
          <a:prstGeom prst="rect">
            <a:avLst/>
          </a:prstGeom>
          <a:noFill/>
          <a:ln/>
        </p:spPr>
        <p:txBody>
          <a:bodyPr wrap="square" lIns="0" tIns="0" rIns="0" bIns="0" rtlCol="0" anchor="ctr"/>
          <a:lstStyle/>
          <a:p>
            <a:pPr indent="0" marL="0">
              <a:buNone/>
            </a:pPr>
            <a:r>
              <a:rPr lang="en-US" sz="1700" dirty="0">
                <a:solidFill>
                  <a:srgbClr val="2C2C2C"/>
                </a:solidFill>
                <a:latin typeface="Calibri" pitchFamily="34" charset="0"/>
                <a:ea typeface="Calibri" pitchFamily="34" charset="-122"/>
                <a:cs typeface="Calibri" pitchFamily="34" charset="-120"/>
              </a:rPr>
              <a:t>“When we move to the new CMS…” for 12+ months.</a:t>
            </a:r>
            <a:endParaRPr lang="en-US" sz="1700" dirty="0"/>
          </a:p>
        </p:txBody>
      </p:sp>
      <p:sp>
        <p:nvSpPr>
          <p:cNvPr id="26" name="Shape 24"/>
          <p:cNvSpPr/>
          <p:nvPr/>
        </p:nvSpPr>
        <p:spPr>
          <a:xfrm>
            <a:off x="6309360" y="5029200"/>
            <a:ext cx="5394960" cy="1371600"/>
          </a:xfrm>
          <a:prstGeom prst="roundRect">
            <a:avLst>
              <a:gd name="adj" fmla="val 6667"/>
            </a:avLst>
          </a:prstGeom>
          <a:solidFill>
            <a:srgbClr val="FFFFFF"/>
          </a:solidFill>
          <a:ln w="12700">
            <a:solidFill>
              <a:srgbClr val="1E2761"/>
            </a:solidFill>
            <a:prstDash val="solid"/>
          </a:ln>
        </p:spPr>
      </p:sp>
      <p:sp>
        <p:nvSpPr>
          <p:cNvPr id="27" name="Shape 25"/>
          <p:cNvSpPr/>
          <p:nvPr/>
        </p:nvSpPr>
        <p:spPr>
          <a:xfrm>
            <a:off x="6629400" y="5303520"/>
            <a:ext cx="822960" cy="822960"/>
          </a:xfrm>
          <a:prstGeom prst="ellipse">
            <a:avLst/>
          </a:prstGeom>
          <a:solidFill>
            <a:srgbClr val="141B4A"/>
          </a:solidFill>
          <a:ln w="12700">
            <a:solidFill>
              <a:srgbClr val="141B4A"/>
            </a:solidFill>
            <a:prstDash val="solid"/>
          </a:ln>
        </p:spPr>
      </p:sp>
      <p:sp>
        <p:nvSpPr>
          <p:cNvPr id="28" name="Text 26"/>
          <p:cNvSpPr txBox="1"/>
          <p:nvPr/>
        </p:nvSpPr>
        <p:spPr>
          <a:xfrm>
            <a:off x="6629400" y="5303520"/>
            <a:ext cx="822960" cy="822960"/>
          </a:xfrm>
          <a:prstGeom prst="rect">
            <a:avLst/>
          </a:prstGeom>
          <a:noFill/>
          <a:ln/>
        </p:spPr>
        <p:txBody>
          <a:bodyPr wrap="square" lIns="0" tIns="0" rIns="0" bIns="0" rtlCol="0" anchor="ctr"/>
          <a:lstStyle/>
          <a:p>
            <a:pPr algn="ctr" indent="0" marL="0">
              <a:buNone/>
            </a:pPr>
            <a:r>
              <a:rPr lang="en-US" sz="2400" b="1" dirty="0">
                <a:solidFill>
                  <a:srgbClr val="E5A934"/>
                </a:solidFill>
                <a:latin typeface="Cambria" pitchFamily="34" charset="0"/>
                <a:ea typeface="Cambria" pitchFamily="34" charset="-122"/>
                <a:cs typeface="Cambria" pitchFamily="34" charset="-120"/>
              </a:rPr>
              <a:t>6</a:t>
            </a:r>
            <a:endParaRPr lang="en-US" sz="2400" dirty="0"/>
          </a:p>
        </p:txBody>
      </p:sp>
      <p:sp>
        <p:nvSpPr>
          <p:cNvPr id="29" name="Text 27"/>
          <p:cNvSpPr txBox="1"/>
          <p:nvPr/>
        </p:nvSpPr>
        <p:spPr>
          <a:xfrm>
            <a:off x="7680960" y="5120640"/>
            <a:ext cx="3749040" cy="1188720"/>
          </a:xfrm>
          <a:prstGeom prst="rect">
            <a:avLst/>
          </a:prstGeom>
          <a:noFill/>
          <a:ln/>
        </p:spPr>
        <p:txBody>
          <a:bodyPr wrap="square" lIns="0" tIns="0" rIns="0" bIns="0" rtlCol="0" anchor="ctr"/>
          <a:lstStyle/>
          <a:p>
            <a:pPr indent="0" marL="0">
              <a:buNone/>
            </a:pPr>
            <a:r>
              <a:rPr lang="en-US" sz="1700" dirty="0">
                <a:solidFill>
                  <a:srgbClr val="2C2C2C"/>
                </a:solidFill>
                <a:latin typeface="Calibri" pitchFamily="34" charset="0"/>
                <a:ea typeface="Calibri" pitchFamily="34" charset="-122"/>
                <a:cs typeface="Calibri" pitchFamily="34" charset="-120"/>
              </a:rPr>
              <a:t>Standing syncs rehash the same reactionary talking points.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11247120" y="320040"/>
            <a:ext cx="640080" cy="640080"/>
          </a:xfrm>
          <a:prstGeom prst="ellipse">
            <a:avLst/>
          </a:prstGeom>
          <a:solidFill>
            <a:srgbClr val="E5A934"/>
          </a:solidFill>
          <a:ln w="12700">
            <a:solidFill>
              <a:srgbClr val="E5A934"/>
            </a:solidFill>
            <a:prstDash val="solid"/>
          </a:ln>
        </p:spPr>
      </p:sp>
      <p:sp>
        <p:nvSpPr>
          <p:cNvPr id="3" name="Text 1"/>
          <p:cNvSpPr txBox="1"/>
          <p:nvPr/>
        </p:nvSpPr>
        <p:spPr>
          <a:xfrm>
            <a:off x="11247120" y="320040"/>
            <a:ext cx="640080" cy="640080"/>
          </a:xfrm>
          <a:prstGeom prst="rect">
            <a:avLst/>
          </a:prstGeom>
          <a:noFill/>
          <a:ln/>
        </p:spPr>
        <p:txBody>
          <a:bodyPr wrap="square" lIns="0" tIns="0" rIns="0" bIns="0" rtlCol="0" anchor="ctr"/>
          <a:lstStyle/>
          <a:p>
            <a:pPr algn="ctr" indent="0" marL="0">
              <a:buNone/>
            </a:pPr>
            <a:r>
              <a:rPr lang="en-US" sz="1400" b="1" dirty="0">
                <a:solidFill>
                  <a:srgbClr val="141B4A"/>
                </a:solidFill>
                <a:latin typeface="Cambria" pitchFamily="34" charset="0"/>
                <a:ea typeface="Cambria" pitchFamily="34" charset="-122"/>
                <a:cs typeface="Cambria" pitchFamily="34" charset="-120"/>
              </a:rPr>
              <a:t>P3</a:t>
            </a:r>
            <a:endParaRPr lang="en-US" sz="1400" dirty="0"/>
          </a:p>
        </p:txBody>
      </p:sp>
      <p:sp>
        <p:nvSpPr>
          <p:cNvPr id="4" name="Text 2"/>
          <p:cNvSpPr txBox="1"/>
          <p:nvPr/>
        </p:nvSpPr>
        <p:spPr>
          <a:xfrm>
            <a:off x="640080" y="640080"/>
            <a:ext cx="10332720" cy="1280160"/>
          </a:xfrm>
          <a:prstGeom prst="rect">
            <a:avLst/>
          </a:prstGeom>
          <a:noFill/>
          <a:ln/>
        </p:spPr>
        <p:txBody>
          <a:bodyPr wrap="square" lIns="0" tIns="0" rIns="0" bIns="0" rtlCol="0" anchor="ctr"/>
          <a:lstStyle/>
          <a:p>
            <a:pPr indent="0" marL="0">
              <a:buNone/>
            </a:pPr>
            <a:r>
              <a:rPr lang="en-US" sz="3600" b="1" dirty="0">
                <a:solidFill>
                  <a:srgbClr val="141B4A"/>
                </a:solidFill>
                <a:latin typeface="Cambria" pitchFamily="34" charset="0"/>
                <a:ea typeface="Cambria" pitchFamily="34" charset="-122"/>
                <a:cs typeface="Cambria" pitchFamily="34" charset="-120"/>
              </a:rPr>
              <a:t>The communication deadhorse: too slow AND too noisy.</a:t>
            </a:r>
            <a:endParaRPr lang="en-US" sz="3600" dirty="0"/>
          </a:p>
        </p:txBody>
      </p:sp>
      <p:sp>
        <p:nvSpPr>
          <p:cNvPr id="5" name="Shape 3"/>
          <p:cNvSpPr/>
          <p:nvPr/>
        </p:nvSpPr>
        <p:spPr>
          <a:xfrm>
            <a:off x="640080" y="2011680"/>
            <a:ext cx="5394960" cy="3657600"/>
          </a:xfrm>
          <a:prstGeom prst="roundRect">
            <a:avLst>
              <a:gd name="adj" fmla="val 3000"/>
            </a:avLst>
          </a:prstGeom>
          <a:solidFill>
            <a:srgbClr val="FFFFFF"/>
          </a:solidFill>
          <a:ln w="38100">
            <a:solidFill>
              <a:srgbClr val="A03A2E"/>
            </a:solidFill>
            <a:prstDash val="solid"/>
          </a:ln>
        </p:spPr>
      </p:sp>
      <p:sp>
        <p:nvSpPr>
          <p:cNvPr id="6" name="Text 4"/>
          <p:cNvSpPr txBox="1"/>
          <p:nvPr/>
        </p:nvSpPr>
        <p:spPr>
          <a:xfrm>
            <a:off x="914400" y="2194560"/>
            <a:ext cx="4846320" cy="365760"/>
          </a:xfrm>
          <a:prstGeom prst="rect">
            <a:avLst/>
          </a:prstGeom>
          <a:noFill/>
          <a:ln/>
        </p:spPr>
        <p:txBody>
          <a:bodyPr wrap="square" lIns="0" tIns="0" rIns="0" bIns="0" rtlCol="0" anchor="ctr"/>
          <a:lstStyle/>
          <a:p>
            <a:pPr indent="0" marL="0">
              <a:buNone/>
            </a:pPr>
            <a:r>
              <a:rPr lang="en-US" sz="1300" b="1" spc="400" kern="0" dirty="0">
                <a:solidFill>
                  <a:srgbClr val="A03A2E"/>
                </a:solidFill>
                <a:latin typeface="Calibri" pitchFamily="34" charset="0"/>
                <a:ea typeface="Calibri" pitchFamily="34" charset="-122"/>
                <a:cs typeface="Calibri" pitchFamily="34" charset="-120"/>
              </a:rPr>
              <a:t>TOO SLOW</a:t>
            </a:r>
            <a:endParaRPr lang="en-US" sz="1300" dirty="0"/>
          </a:p>
        </p:txBody>
      </p:sp>
      <p:sp>
        <p:nvSpPr>
          <p:cNvPr id="7" name="Text 5"/>
          <p:cNvSpPr txBox="1"/>
          <p:nvPr/>
        </p:nvSpPr>
        <p:spPr>
          <a:xfrm>
            <a:off x="914400" y="2651760"/>
            <a:ext cx="4846320" cy="1463040"/>
          </a:xfrm>
          <a:prstGeom prst="rect">
            <a:avLst/>
          </a:prstGeom>
          <a:noFill/>
          <a:ln/>
        </p:spPr>
        <p:txBody>
          <a:bodyPr wrap="square" lIns="0" tIns="0" rIns="0" bIns="0" rtlCol="0" anchor="ctr"/>
          <a:lstStyle/>
          <a:p>
            <a:pPr indent="0" marL="0">
              <a:buNone/>
            </a:pPr>
            <a:r>
              <a:rPr lang="en-US" sz="2000" dirty="0">
                <a:solidFill>
                  <a:srgbClr val="2C2C2C"/>
                </a:solidFill>
                <a:latin typeface="Cambria" pitchFamily="34" charset="0"/>
                <a:ea typeface="Cambria" pitchFamily="34" charset="-122"/>
                <a:cs typeface="Cambria" pitchFamily="34" charset="-120"/>
              </a:rPr>
              <a:t>Every conversation routed through the PM. Translate to marketing, Joon, Lauren — then wait.</a:t>
            </a:r>
            <a:endParaRPr lang="en-US" sz="2000" dirty="0"/>
          </a:p>
        </p:txBody>
      </p:sp>
      <p:sp>
        <p:nvSpPr>
          <p:cNvPr id="8" name="Text 6"/>
          <p:cNvSpPr txBox="1"/>
          <p:nvPr/>
        </p:nvSpPr>
        <p:spPr>
          <a:xfrm>
            <a:off x="914400" y="4480560"/>
            <a:ext cx="4846320" cy="91440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Queue management, not collaboration.</a:t>
            </a:r>
            <a:endParaRPr lang="en-US" sz="1600" dirty="0"/>
          </a:p>
        </p:txBody>
      </p:sp>
      <p:sp>
        <p:nvSpPr>
          <p:cNvPr id="9" name="Shape 7"/>
          <p:cNvSpPr/>
          <p:nvPr/>
        </p:nvSpPr>
        <p:spPr>
          <a:xfrm>
            <a:off x="6309360" y="2011680"/>
            <a:ext cx="5394960" cy="3657600"/>
          </a:xfrm>
          <a:prstGeom prst="roundRect">
            <a:avLst>
              <a:gd name="adj" fmla="val 3000"/>
            </a:avLst>
          </a:prstGeom>
          <a:solidFill>
            <a:srgbClr val="FFFFFF"/>
          </a:solidFill>
          <a:ln w="38100">
            <a:solidFill>
              <a:srgbClr val="A03A2E"/>
            </a:solidFill>
            <a:prstDash val="solid"/>
          </a:ln>
        </p:spPr>
      </p:sp>
      <p:sp>
        <p:nvSpPr>
          <p:cNvPr id="10" name="Text 8"/>
          <p:cNvSpPr txBox="1"/>
          <p:nvPr/>
        </p:nvSpPr>
        <p:spPr>
          <a:xfrm>
            <a:off x="6583680" y="2194560"/>
            <a:ext cx="4846320" cy="365760"/>
          </a:xfrm>
          <a:prstGeom prst="rect">
            <a:avLst/>
          </a:prstGeom>
          <a:noFill/>
          <a:ln/>
        </p:spPr>
        <p:txBody>
          <a:bodyPr wrap="square" lIns="0" tIns="0" rIns="0" bIns="0" rtlCol="0" anchor="ctr"/>
          <a:lstStyle/>
          <a:p>
            <a:pPr indent="0" marL="0">
              <a:buNone/>
            </a:pPr>
            <a:r>
              <a:rPr lang="en-US" sz="1300" b="1" spc="400" kern="0" dirty="0">
                <a:solidFill>
                  <a:srgbClr val="A03A2E"/>
                </a:solidFill>
                <a:latin typeface="Calibri" pitchFamily="34" charset="0"/>
                <a:ea typeface="Calibri" pitchFamily="34" charset="-122"/>
                <a:cs typeface="Calibri" pitchFamily="34" charset="-120"/>
              </a:rPr>
              <a:t>TOO NOISY</a:t>
            </a:r>
            <a:endParaRPr lang="en-US" sz="1300" dirty="0"/>
          </a:p>
        </p:txBody>
      </p:sp>
      <p:sp>
        <p:nvSpPr>
          <p:cNvPr id="11" name="Text 9"/>
          <p:cNvSpPr txBox="1"/>
          <p:nvPr/>
        </p:nvSpPr>
        <p:spPr>
          <a:xfrm>
            <a:off x="6583680" y="2651760"/>
            <a:ext cx="4846320" cy="1463040"/>
          </a:xfrm>
          <a:prstGeom prst="rect">
            <a:avLst/>
          </a:prstGeom>
          <a:noFill/>
          <a:ln/>
        </p:spPr>
        <p:txBody>
          <a:bodyPr wrap="square" lIns="0" tIns="0" rIns="0" bIns="0" rtlCol="0" anchor="ctr"/>
          <a:lstStyle/>
          <a:p>
            <a:pPr indent="0" marL="0">
              <a:buNone/>
            </a:pPr>
            <a:r>
              <a:rPr lang="en-US" sz="2000" dirty="0">
                <a:solidFill>
                  <a:srgbClr val="2C2C2C"/>
                </a:solidFill>
                <a:latin typeface="Cambria" pitchFamily="34" charset="0"/>
                <a:ea typeface="Cambria" pitchFamily="34" charset="-122"/>
                <a:cs typeface="Cambria" pitchFamily="34" charset="-120"/>
              </a:rPr>
              <a:t>Asana notifications, emails, Slack pings, immediate follow-ups on everything.</a:t>
            </a:r>
            <a:endParaRPr lang="en-US" sz="2000" dirty="0"/>
          </a:p>
        </p:txBody>
      </p:sp>
      <p:sp>
        <p:nvSpPr>
          <p:cNvPr id="12" name="Text 10"/>
          <p:cNvSpPr txBox="1"/>
          <p:nvPr/>
        </p:nvSpPr>
        <p:spPr>
          <a:xfrm>
            <a:off x="6583680" y="4480560"/>
            <a:ext cx="4846320" cy="91440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Channel spam wrapped around every decision.</a:t>
            </a:r>
            <a:endParaRPr lang="en-US" sz="1600" dirty="0"/>
          </a:p>
        </p:txBody>
      </p:sp>
      <p:sp>
        <p:nvSpPr>
          <p:cNvPr id="13" name="Text 11"/>
          <p:cNvSpPr txBox="1"/>
          <p:nvPr/>
        </p:nvSpPr>
        <p:spPr>
          <a:xfrm>
            <a:off x="640080" y="5943600"/>
            <a:ext cx="10972800" cy="548640"/>
          </a:xfrm>
          <a:prstGeom prst="rect">
            <a:avLst/>
          </a:prstGeom>
          <a:noFill/>
          <a:ln/>
        </p:spPr>
        <p:txBody>
          <a:bodyPr wrap="square" lIns="0" tIns="0" rIns="0" bIns="0" rtlCol="0" anchor="ctr"/>
          <a:lstStyle/>
          <a:p>
            <a:pPr algn="ctr" indent="0" marL="0">
              <a:buNone/>
            </a:pPr>
            <a:r>
              <a:rPr lang="en-US" sz="2200" b="1" i="1" dirty="0">
                <a:solidFill>
                  <a:srgbClr val="141B4A"/>
                </a:solidFill>
                <a:latin typeface="Cambria" pitchFamily="34" charset="0"/>
                <a:ea typeface="Cambria" pitchFamily="34" charset="-122"/>
                <a:cs typeface="Cambria" pitchFamily="34" charset="-120"/>
              </a:rPr>
              <a:t>Let people own their assignments. Let people own their responsibilities.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4A"/>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457200"/>
          </a:xfrm>
          <a:prstGeom prst="rect">
            <a:avLst/>
          </a:prstGeom>
          <a:noFill/>
          <a:ln/>
        </p:spPr>
        <p:txBody>
          <a:bodyPr wrap="square" lIns="0" tIns="0" rIns="0" bIns="0" rtlCol="0" anchor="ctr"/>
          <a:lstStyle/>
          <a:p>
            <a:pPr indent="0" marL="0">
              <a:buNone/>
            </a:pPr>
            <a:r>
              <a:rPr lang="en-US" sz="1400" b="1" spc="600" kern="0" dirty="0">
                <a:solidFill>
                  <a:srgbClr val="E5A934"/>
                </a:solidFill>
                <a:latin typeface="Calibri" pitchFamily="34" charset="0"/>
                <a:ea typeface="Calibri" pitchFamily="34" charset="-122"/>
                <a:cs typeface="Calibri" pitchFamily="34" charset="-120"/>
              </a:rPr>
              <a:t>THE CYCLE</a:t>
            </a:r>
            <a:endParaRPr lang="en-US" sz="1400" dirty="0"/>
          </a:p>
        </p:txBody>
      </p:sp>
      <p:sp>
        <p:nvSpPr>
          <p:cNvPr id="3" name="Text 1"/>
          <p:cNvSpPr txBox="1"/>
          <p:nvPr/>
        </p:nvSpPr>
        <p:spPr>
          <a:xfrm>
            <a:off x="640080" y="914400"/>
            <a:ext cx="10972800" cy="10058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Process defends the platform. The platform can’t evolve. The team goes passive.</a:t>
            </a:r>
            <a:endParaRPr lang="en-US" sz="3000" dirty="0"/>
          </a:p>
        </p:txBody>
      </p:sp>
      <p:sp>
        <p:nvSpPr>
          <p:cNvPr id="4" name="Shape 2"/>
          <p:cNvSpPr/>
          <p:nvPr/>
        </p:nvSpPr>
        <p:spPr>
          <a:xfrm>
            <a:off x="1325880" y="3200400"/>
            <a:ext cx="2011680" cy="2011680"/>
          </a:xfrm>
          <a:prstGeom prst="ellipse">
            <a:avLst/>
          </a:prstGeom>
          <a:solidFill>
            <a:srgbClr val="E5A934"/>
          </a:solidFill>
          <a:ln w="12700">
            <a:solidFill>
              <a:srgbClr val="E5A934"/>
            </a:solidFill>
            <a:prstDash val="solid"/>
          </a:ln>
        </p:spPr>
      </p:sp>
      <p:sp>
        <p:nvSpPr>
          <p:cNvPr id="5" name="Text 3"/>
          <p:cNvSpPr txBox="1"/>
          <p:nvPr/>
        </p:nvSpPr>
        <p:spPr>
          <a:xfrm>
            <a:off x="1325880" y="3200400"/>
            <a:ext cx="2011680" cy="2011680"/>
          </a:xfrm>
          <a:prstGeom prst="rect">
            <a:avLst/>
          </a:prstGeom>
          <a:noFill/>
          <a:ln/>
        </p:spPr>
        <p:txBody>
          <a:bodyPr wrap="square" lIns="0" tIns="0" rIns="0" bIns="0" rtlCol="0" anchor="ctr"/>
          <a:lstStyle/>
          <a:p>
            <a:pPr algn="ctr" indent="0" marL="0">
              <a:buNone/>
            </a:pPr>
            <a:r>
              <a:rPr lang="en-US" sz="7800" b="1" dirty="0">
                <a:solidFill>
                  <a:srgbClr val="141B4A"/>
                </a:solidFill>
                <a:latin typeface="Cambria" pitchFamily="34" charset="0"/>
                <a:ea typeface="Cambria" pitchFamily="34" charset="-122"/>
                <a:cs typeface="Cambria" pitchFamily="34" charset="-120"/>
              </a:rPr>
              <a:t>P1</a:t>
            </a:r>
            <a:endParaRPr lang="en-US" sz="7800" dirty="0"/>
          </a:p>
        </p:txBody>
      </p:sp>
      <p:sp>
        <p:nvSpPr>
          <p:cNvPr id="6" name="Text 4"/>
          <p:cNvSpPr txBox="1"/>
          <p:nvPr/>
        </p:nvSpPr>
        <p:spPr>
          <a:xfrm>
            <a:off x="868680" y="5349240"/>
            <a:ext cx="2926080" cy="457200"/>
          </a:xfrm>
          <a:prstGeom prst="rect">
            <a:avLst/>
          </a:prstGeom>
          <a:noFill/>
          <a:ln/>
        </p:spPr>
        <p:txBody>
          <a:bodyPr wrap="square" lIns="0" tIns="0" rIns="0" bIns="0" rtlCol="0" anchor="ctr"/>
          <a:lstStyle/>
          <a:p>
            <a:pPr algn="ctr" indent="0" marL="0">
              <a:buNone/>
            </a:pPr>
            <a:r>
              <a:rPr lang="en-US" sz="2200" b="1" dirty="0">
                <a:solidFill>
                  <a:srgbClr val="CADCFC"/>
                </a:solidFill>
                <a:latin typeface="Cambria" pitchFamily="34" charset="0"/>
                <a:ea typeface="Cambria" pitchFamily="34" charset="-122"/>
                <a:cs typeface="Cambria" pitchFamily="34" charset="-120"/>
              </a:rPr>
              <a:t>Process</a:t>
            </a:r>
            <a:endParaRPr lang="en-US" sz="2200" dirty="0"/>
          </a:p>
        </p:txBody>
      </p:sp>
      <p:sp>
        <p:nvSpPr>
          <p:cNvPr id="7" name="Text 5"/>
          <p:cNvSpPr txBox="1"/>
          <p:nvPr/>
        </p:nvSpPr>
        <p:spPr>
          <a:xfrm>
            <a:off x="3474720" y="3794760"/>
            <a:ext cx="1463040" cy="822960"/>
          </a:xfrm>
          <a:prstGeom prst="rect">
            <a:avLst/>
          </a:prstGeom>
          <a:noFill/>
          <a:ln/>
        </p:spPr>
        <p:txBody>
          <a:bodyPr wrap="square" lIns="0" tIns="0" rIns="0" bIns="0" rtlCol="0" anchor="ctr"/>
          <a:lstStyle/>
          <a:p>
            <a:pPr algn="ctr" indent="0" marL="0">
              <a:buNone/>
            </a:pPr>
            <a:r>
              <a:rPr lang="en-US" sz="6000" b="1" dirty="0">
                <a:solidFill>
                  <a:srgbClr val="E5A934"/>
                </a:solidFill>
                <a:latin typeface="Calibri" pitchFamily="34" charset="0"/>
                <a:ea typeface="Calibri" pitchFamily="34" charset="-122"/>
                <a:cs typeface="Calibri" pitchFamily="34" charset="-120"/>
              </a:rPr>
              <a:t>→</a:t>
            </a:r>
            <a:endParaRPr lang="en-US" sz="6000" dirty="0"/>
          </a:p>
        </p:txBody>
      </p:sp>
      <p:sp>
        <p:nvSpPr>
          <p:cNvPr id="8" name="Shape 6"/>
          <p:cNvSpPr/>
          <p:nvPr/>
        </p:nvSpPr>
        <p:spPr>
          <a:xfrm>
            <a:off x="5074920" y="3200400"/>
            <a:ext cx="2011680" cy="2011680"/>
          </a:xfrm>
          <a:prstGeom prst="ellipse">
            <a:avLst/>
          </a:prstGeom>
          <a:solidFill>
            <a:srgbClr val="E5A934"/>
          </a:solidFill>
          <a:ln w="12700">
            <a:solidFill>
              <a:srgbClr val="E5A934"/>
            </a:solidFill>
            <a:prstDash val="solid"/>
          </a:ln>
        </p:spPr>
      </p:sp>
      <p:sp>
        <p:nvSpPr>
          <p:cNvPr id="9" name="Text 7"/>
          <p:cNvSpPr txBox="1"/>
          <p:nvPr/>
        </p:nvSpPr>
        <p:spPr>
          <a:xfrm>
            <a:off x="5074920" y="3200400"/>
            <a:ext cx="2011680" cy="2011680"/>
          </a:xfrm>
          <a:prstGeom prst="rect">
            <a:avLst/>
          </a:prstGeom>
          <a:noFill/>
          <a:ln/>
        </p:spPr>
        <p:txBody>
          <a:bodyPr wrap="square" lIns="0" tIns="0" rIns="0" bIns="0" rtlCol="0" anchor="ctr"/>
          <a:lstStyle/>
          <a:p>
            <a:pPr algn="ctr" indent="0" marL="0">
              <a:buNone/>
            </a:pPr>
            <a:r>
              <a:rPr lang="en-US" sz="7800" b="1" dirty="0">
                <a:solidFill>
                  <a:srgbClr val="141B4A"/>
                </a:solidFill>
                <a:latin typeface="Cambria" pitchFamily="34" charset="0"/>
                <a:ea typeface="Cambria" pitchFamily="34" charset="-122"/>
                <a:cs typeface="Cambria" pitchFamily="34" charset="-120"/>
              </a:rPr>
              <a:t>P2</a:t>
            </a:r>
            <a:endParaRPr lang="en-US" sz="7800" dirty="0"/>
          </a:p>
        </p:txBody>
      </p:sp>
      <p:sp>
        <p:nvSpPr>
          <p:cNvPr id="10" name="Text 8"/>
          <p:cNvSpPr txBox="1"/>
          <p:nvPr/>
        </p:nvSpPr>
        <p:spPr>
          <a:xfrm>
            <a:off x="4617720" y="5349240"/>
            <a:ext cx="2926080" cy="457200"/>
          </a:xfrm>
          <a:prstGeom prst="rect">
            <a:avLst/>
          </a:prstGeom>
          <a:noFill/>
          <a:ln/>
        </p:spPr>
        <p:txBody>
          <a:bodyPr wrap="square" lIns="0" tIns="0" rIns="0" bIns="0" rtlCol="0" anchor="ctr"/>
          <a:lstStyle/>
          <a:p>
            <a:pPr algn="ctr" indent="0" marL="0">
              <a:buNone/>
            </a:pPr>
            <a:r>
              <a:rPr lang="en-US" sz="2200" b="1" dirty="0">
                <a:solidFill>
                  <a:srgbClr val="CADCFC"/>
                </a:solidFill>
                <a:latin typeface="Cambria" pitchFamily="34" charset="0"/>
                <a:ea typeface="Cambria" pitchFamily="34" charset="-122"/>
                <a:cs typeface="Cambria" pitchFamily="34" charset="-120"/>
              </a:rPr>
              <a:t>Platform</a:t>
            </a:r>
            <a:endParaRPr lang="en-US" sz="2200" dirty="0"/>
          </a:p>
        </p:txBody>
      </p:sp>
      <p:sp>
        <p:nvSpPr>
          <p:cNvPr id="11" name="Text 9"/>
          <p:cNvSpPr txBox="1"/>
          <p:nvPr/>
        </p:nvSpPr>
        <p:spPr>
          <a:xfrm>
            <a:off x="7223760" y="3794760"/>
            <a:ext cx="1463040" cy="822960"/>
          </a:xfrm>
          <a:prstGeom prst="rect">
            <a:avLst/>
          </a:prstGeom>
          <a:noFill/>
          <a:ln/>
        </p:spPr>
        <p:txBody>
          <a:bodyPr wrap="square" lIns="0" tIns="0" rIns="0" bIns="0" rtlCol="0" anchor="ctr"/>
          <a:lstStyle/>
          <a:p>
            <a:pPr algn="ctr" indent="0" marL="0">
              <a:buNone/>
            </a:pPr>
            <a:r>
              <a:rPr lang="en-US" sz="6000" b="1" dirty="0">
                <a:solidFill>
                  <a:srgbClr val="E5A934"/>
                </a:solidFill>
                <a:latin typeface="Calibri" pitchFamily="34" charset="0"/>
                <a:ea typeface="Calibri" pitchFamily="34" charset="-122"/>
                <a:cs typeface="Calibri" pitchFamily="34" charset="-120"/>
              </a:rPr>
              <a:t>→</a:t>
            </a:r>
            <a:endParaRPr lang="en-US" sz="6000" dirty="0"/>
          </a:p>
        </p:txBody>
      </p:sp>
      <p:sp>
        <p:nvSpPr>
          <p:cNvPr id="12" name="Shape 10"/>
          <p:cNvSpPr/>
          <p:nvPr/>
        </p:nvSpPr>
        <p:spPr>
          <a:xfrm>
            <a:off x="8823960" y="3200400"/>
            <a:ext cx="2011680" cy="2011680"/>
          </a:xfrm>
          <a:prstGeom prst="ellipse">
            <a:avLst/>
          </a:prstGeom>
          <a:solidFill>
            <a:srgbClr val="E5A934"/>
          </a:solidFill>
          <a:ln w="12700">
            <a:solidFill>
              <a:srgbClr val="E5A934"/>
            </a:solidFill>
            <a:prstDash val="solid"/>
          </a:ln>
        </p:spPr>
      </p:sp>
      <p:sp>
        <p:nvSpPr>
          <p:cNvPr id="13" name="Text 11"/>
          <p:cNvSpPr txBox="1"/>
          <p:nvPr/>
        </p:nvSpPr>
        <p:spPr>
          <a:xfrm>
            <a:off x="8823960" y="3200400"/>
            <a:ext cx="2011680" cy="2011680"/>
          </a:xfrm>
          <a:prstGeom prst="rect">
            <a:avLst/>
          </a:prstGeom>
          <a:noFill/>
          <a:ln/>
        </p:spPr>
        <p:txBody>
          <a:bodyPr wrap="square" lIns="0" tIns="0" rIns="0" bIns="0" rtlCol="0" anchor="ctr"/>
          <a:lstStyle/>
          <a:p>
            <a:pPr algn="ctr" indent="0" marL="0">
              <a:buNone/>
            </a:pPr>
            <a:r>
              <a:rPr lang="en-US" sz="7800" b="1" dirty="0">
                <a:solidFill>
                  <a:srgbClr val="141B4A"/>
                </a:solidFill>
                <a:latin typeface="Cambria" pitchFamily="34" charset="0"/>
                <a:ea typeface="Cambria" pitchFamily="34" charset="-122"/>
                <a:cs typeface="Cambria" pitchFamily="34" charset="-120"/>
              </a:rPr>
              <a:t>P3</a:t>
            </a:r>
            <a:endParaRPr lang="en-US" sz="7800" dirty="0"/>
          </a:p>
        </p:txBody>
      </p:sp>
      <p:sp>
        <p:nvSpPr>
          <p:cNvPr id="14" name="Text 12"/>
          <p:cNvSpPr txBox="1"/>
          <p:nvPr/>
        </p:nvSpPr>
        <p:spPr>
          <a:xfrm>
            <a:off x="8366760" y="5349240"/>
            <a:ext cx="2926080" cy="457200"/>
          </a:xfrm>
          <a:prstGeom prst="rect">
            <a:avLst/>
          </a:prstGeom>
          <a:noFill/>
          <a:ln/>
        </p:spPr>
        <p:txBody>
          <a:bodyPr wrap="square" lIns="0" tIns="0" rIns="0" bIns="0" rtlCol="0" anchor="ctr"/>
          <a:lstStyle/>
          <a:p>
            <a:pPr algn="ctr" indent="0" marL="0">
              <a:buNone/>
            </a:pPr>
            <a:r>
              <a:rPr lang="en-US" sz="2200" b="1" dirty="0">
                <a:solidFill>
                  <a:srgbClr val="CADCFC"/>
                </a:solidFill>
                <a:latin typeface="Cambria" pitchFamily="34" charset="0"/>
                <a:ea typeface="Cambria" pitchFamily="34" charset="-122"/>
                <a:cs typeface="Cambria" pitchFamily="34" charset="-120"/>
              </a:rPr>
              <a:t>Passiveness</a:t>
            </a:r>
            <a:endParaRPr lang="en-US" sz="2200" dirty="0"/>
          </a:p>
        </p:txBody>
      </p:sp>
      <p:sp>
        <p:nvSpPr>
          <p:cNvPr id="15" name="Text 13"/>
          <p:cNvSpPr txBox="1"/>
          <p:nvPr/>
        </p:nvSpPr>
        <p:spPr>
          <a:xfrm>
            <a:off x="640080" y="6035040"/>
            <a:ext cx="10972800" cy="548640"/>
          </a:xfrm>
          <a:prstGeom prst="rect">
            <a:avLst/>
          </a:prstGeom>
          <a:noFill/>
          <a:ln/>
        </p:spPr>
        <p:txBody>
          <a:bodyPr wrap="square" lIns="0" tIns="0" rIns="0" bIns="0" rtlCol="0" anchor="ctr"/>
          <a:lstStyle/>
          <a:p>
            <a:pPr algn="ctr" indent="0" marL="0">
              <a:buNone/>
            </a:pPr>
            <a:r>
              <a:rPr lang="en-US" sz="2000" i="1" dirty="0">
                <a:solidFill>
                  <a:srgbClr val="CADCFC"/>
                </a:solidFill>
                <a:latin typeface="Calibri" pitchFamily="34" charset="0"/>
                <a:ea typeface="Calibri" pitchFamily="34" charset="-122"/>
                <a:cs typeface="Calibri" pitchFamily="34" charset="-120"/>
              </a:rPr>
              <a:t>15 months. Same conversation. This is the mechanism.</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B4A"/>
        </a:solidFill>
      </p:bgPr>
    </p:bg>
    <p:spTree>
      <p:nvGrpSpPr>
        <p:cNvPr id="1" name=""/>
        <p:cNvGrpSpPr/>
        <p:nvPr/>
      </p:nvGrpSpPr>
      <p:grpSpPr>
        <a:xfrm>
          <a:off x="0" y="0"/>
          <a:ext cx="0" cy="0"/>
          <a:chOff x="0" y="0"/>
          <a:chExt cx="0" cy="0"/>
        </a:xfrm>
      </p:grpSpPr>
      <p:sp>
        <p:nvSpPr>
          <p:cNvPr id="2" name="Text 0"/>
          <p:cNvSpPr txBox="1"/>
          <p:nvPr/>
        </p:nvSpPr>
        <p:spPr>
          <a:xfrm>
            <a:off x="640080" y="548640"/>
            <a:ext cx="10972800" cy="457200"/>
          </a:xfrm>
          <a:prstGeom prst="rect">
            <a:avLst/>
          </a:prstGeom>
          <a:noFill/>
          <a:ln/>
        </p:spPr>
        <p:txBody>
          <a:bodyPr wrap="square" lIns="0" tIns="0" rIns="0" bIns="0" rtlCol="0" anchor="ctr"/>
          <a:lstStyle/>
          <a:p>
            <a:pPr indent="0" marL="0">
              <a:buNone/>
            </a:pPr>
            <a:r>
              <a:rPr lang="en-US" sz="1400" b="1" spc="600" kern="0" dirty="0">
                <a:solidFill>
                  <a:srgbClr val="E5A934"/>
                </a:solidFill>
                <a:latin typeface="Calibri" pitchFamily="34" charset="0"/>
                <a:ea typeface="Calibri" pitchFamily="34" charset="-122"/>
                <a:cs typeface="Calibri" pitchFamily="34" charset="-120"/>
              </a:rPr>
              <a:t>THE OPERATING MANUAL</a:t>
            </a:r>
            <a:endParaRPr lang="en-US" sz="1400" dirty="0"/>
          </a:p>
        </p:txBody>
      </p:sp>
      <p:sp>
        <p:nvSpPr>
          <p:cNvPr id="3" name="Text 1"/>
          <p:cNvSpPr txBox="1"/>
          <p:nvPr/>
        </p:nvSpPr>
        <p:spPr>
          <a:xfrm>
            <a:off x="640080" y="1645920"/>
            <a:ext cx="10972800" cy="1645920"/>
          </a:xfrm>
          <a:prstGeom prst="rect">
            <a:avLst/>
          </a:prstGeom>
          <a:noFill/>
          <a:ln/>
        </p:spPr>
        <p:txBody>
          <a:bodyPr wrap="square" lIns="0" tIns="0" rIns="0" bIns="0" rtlCol="0" anchor="ctr"/>
          <a:lstStyle/>
          <a:p>
            <a:pPr indent="0" marL="0">
              <a:buNone/>
            </a:pPr>
            <a:r>
              <a:rPr lang="en-US" sz="8400" b="1" dirty="0">
                <a:solidFill>
                  <a:srgbClr val="FFFFFF"/>
                </a:solidFill>
                <a:latin typeface="Cambria" pitchFamily="34" charset="0"/>
                <a:ea typeface="Cambria" pitchFamily="34" charset="-122"/>
                <a:cs typeface="Cambria" pitchFamily="34" charset="-120"/>
              </a:rPr>
              <a:t>In her own words.</a:t>
            </a:r>
            <a:endParaRPr lang="en-US" sz="8400" dirty="0"/>
          </a:p>
        </p:txBody>
      </p:sp>
      <p:sp>
        <p:nvSpPr>
          <p:cNvPr id="4" name="Text 2"/>
          <p:cNvSpPr txBox="1"/>
          <p:nvPr/>
        </p:nvSpPr>
        <p:spPr>
          <a:xfrm>
            <a:off x="640080" y="3840480"/>
            <a:ext cx="10972800" cy="1280160"/>
          </a:xfrm>
          <a:prstGeom prst="rect">
            <a:avLst/>
          </a:prstGeom>
          <a:noFill/>
          <a:ln/>
        </p:spPr>
        <p:txBody>
          <a:bodyPr wrap="square" lIns="0" tIns="0" rIns="0" bIns="0" rtlCol="0" anchor="ctr"/>
          <a:lstStyle/>
          <a:p>
            <a:pPr indent="0" marL="0">
              <a:buNone/>
            </a:pPr>
            <a:r>
              <a:rPr lang="en-US" sz="2600" i="1" dirty="0">
                <a:solidFill>
                  <a:srgbClr val="CADCFC"/>
                </a:solidFill>
                <a:latin typeface="Cambria" pitchFamily="34" charset="0"/>
                <a:ea typeface="Cambria" pitchFamily="34" charset="-122"/>
                <a:cs typeface="Cambria" pitchFamily="34" charset="-120"/>
              </a:rPr>
              <a:t>Every quote in the next four slides comes verbatim from the follow-up email summarizing the team’s process.</a:t>
            </a:r>
            <a:endParaRPr lang="en-US" sz="2600" dirty="0"/>
          </a:p>
        </p:txBody>
      </p:sp>
      <p:sp>
        <p:nvSpPr>
          <p:cNvPr id="5" name="Text 3"/>
          <p:cNvSpPr txBox="1"/>
          <p:nvPr/>
        </p:nvSpPr>
        <p:spPr>
          <a:xfrm>
            <a:off x="640080" y="5303520"/>
            <a:ext cx="10972800" cy="640080"/>
          </a:xfrm>
          <a:prstGeom prst="rect">
            <a:avLst/>
          </a:prstGeom>
          <a:noFill/>
          <a:ln/>
        </p:spPr>
        <p:txBody>
          <a:bodyPr wrap="square" lIns="0" tIns="0" rIns="0" bIns="0" rtlCol="0" anchor="ctr"/>
          <a:lstStyle/>
          <a:p>
            <a:pPr indent="0" marL="0">
              <a:buNone/>
            </a:pPr>
            <a:r>
              <a:rPr lang="en-US" sz="2000" spc="200" kern="0" dirty="0">
                <a:solidFill>
                  <a:srgbClr val="E5A934"/>
                </a:solidFill>
                <a:latin typeface="Calibri" pitchFamily="34" charset="0"/>
                <a:ea typeface="Calibri" pitchFamily="34" charset="-122"/>
                <a:cs typeface="Calibri" pitchFamily="34" charset="-120"/>
              </a:rPr>
              <a:t>Each quote is paired with the problem it creates.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0"/>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lIns="0" tIns="0" rIns="0" bIns="0" rtlCol="0" anchor="ctr"/>
          <a:lstStyle/>
          <a:p>
            <a:pPr indent="0" marL="0">
              <a:buNone/>
            </a:pPr>
            <a:r>
              <a:rPr lang="en-US" sz="3400" b="1" dirty="0">
                <a:solidFill>
                  <a:srgbClr val="141B4A"/>
                </a:solidFill>
                <a:latin typeface="Cambria" pitchFamily="34" charset="0"/>
                <a:ea typeface="Cambria" pitchFamily="34" charset="-122"/>
                <a:cs typeface="Cambria" pitchFamily="34" charset="-120"/>
              </a:rPr>
              <a:t>P2, written down: Bootstrap is non-negotiable.</a:t>
            </a:r>
            <a:endParaRPr lang="en-US" sz="3400" dirty="0"/>
          </a:p>
        </p:txBody>
      </p:sp>
      <p:sp>
        <p:nvSpPr>
          <p:cNvPr id="3" name="Text 1"/>
          <p:cNvSpPr txBox="1"/>
          <p:nvPr/>
        </p:nvSpPr>
        <p:spPr>
          <a:xfrm>
            <a:off x="640080" y="1143000"/>
            <a:ext cx="10515600" cy="41148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From “Figma” and “Team processes” sections</a:t>
            </a:r>
            <a:endParaRPr lang="en-US" sz="1400" dirty="0"/>
          </a:p>
        </p:txBody>
      </p:sp>
      <p:sp>
        <p:nvSpPr>
          <p:cNvPr id="4" name="Shape 2"/>
          <p:cNvSpPr/>
          <p:nvPr/>
        </p:nvSpPr>
        <p:spPr>
          <a:xfrm>
            <a:off x="640080" y="1737360"/>
            <a:ext cx="6583680" cy="2286000"/>
          </a:xfrm>
          <a:prstGeom prst="roundRect">
            <a:avLst>
              <a:gd name="adj" fmla="val 4000"/>
            </a:avLst>
          </a:prstGeom>
          <a:solidFill>
            <a:srgbClr val="FFFFFF"/>
          </a:solidFill>
          <a:ln w="12700">
            <a:solidFill>
              <a:srgbClr val="1E2761"/>
            </a:solidFill>
            <a:prstDash val="solid"/>
          </a:ln>
        </p:spPr>
      </p:sp>
      <p:sp>
        <p:nvSpPr>
          <p:cNvPr id="5" name="Text 3"/>
          <p:cNvSpPr txBox="1"/>
          <p:nvPr/>
        </p:nvSpPr>
        <p:spPr>
          <a:xfrm>
            <a:off x="914400" y="187452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6" name="Text 4"/>
          <p:cNvSpPr txBox="1"/>
          <p:nvPr/>
        </p:nvSpPr>
        <p:spPr>
          <a:xfrm>
            <a:off x="914400" y="224028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“Ensuring we are building within the CMS and Bootstrap established within the team even if the Figma mockup is slightly different.”</a:t>
            </a:r>
            <a:endParaRPr lang="en-US" sz="1500" dirty="0"/>
          </a:p>
        </p:txBody>
      </p:sp>
      <p:sp>
        <p:nvSpPr>
          <p:cNvPr id="7" name="Shape 5"/>
          <p:cNvSpPr/>
          <p:nvPr/>
        </p:nvSpPr>
        <p:spPr>
          <a:xfrm>
            <a:off x="7406640" y="1737360"/>
            <a:ext cx="4114800" cy="2286000"/>
          </a:xfrm>
          <a:prstGeom prst="roundRect">
            <a:avLst>
              <a:gd name="adj" fmla="val 4000"/>
            </a:avLst>
          </a:prstGeom>
          <a:solidFill>
            <a:srgbClr val="141B4A"/>
          </a:solidFill>
          <a:ln w="38100">
            <a:solidFill>
              <a:srgbClr val="A03A2E"/>
            </a:solidFill>
            <a:prstDash val="solid"/>
          </a:ln>
        </p:spPr>
      </p:sp>
      <p:sp>
        <p:nvSpPr>
          <p:cNvPr id="8" name="Text 6"/>
          <p:cNvSpPr txBox="1"/>
          <p:nvPr/>
        </p:nvSpPr>
        <p:spPr>
          <a:xfrm>
            <a:off x="7680960" y="187452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9" name="Text 7"/>
          <p:cNvSpPr txBox="1"/>
          <p:nvPr/>
        </p:nvSpPr>
        <p:spPr>
          <a:xfrm>
            <a:off x="7680960" y="224028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Design accuracy is negotiable. The framework wins over the brief — by policy.</a:t>
            </a:r>
            <a:endParaRPr lang="en-US" sz="1500" dirty="0"/>
          </a:p>
        </p:txBody>
      </p:sp>
      <p:sp>
        <p:nvSpPr>
          <p:cNvPr id="10" name="Shape 8"/>
          <p:cNvSpPr/>
          <p:nvPr/>
        </p:nvSpPr>
        <p:spPr>
          <a:xfrm>
            <a:off x="640080" y="4160520"/>
            <a:ext cx="6583680" cy="2286000"/>
          </a:xfrm>
          <a:prstGeom prst="roundRect">
            <a:avLst>
              <a:gd name="adj" fmla="val 4000"/>
            </a:avLst>
          </a:prstGeom>
          <a:solidFill>
            <a:srgbClr val="FFFFFF"/>
          </a:solidFill>
          <a:ln w="12700">
            <a:solidFill>
              <a:srgbClr val="1E2761"/>
            </a:solidFill>
            <a:prstDash val="solid"/>
          </a:ln>
        </p:spPr>
      </p:sp>
      <p:sp>
        <p:nvSpPr>
          <p:cNvPr id="11" name="Text 9"/>
          <p:cNvSpPr txBox="1"/>
          <p:nvPr/>
        </p:nvSpPr>
        <p:spPr>
          <a:xfrm>
            <a:off x="914400" y="429768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12" name="Text 10"/>
          <p:cNvSpPr txBox="1"/>
          <p:nvPr/>
        </p:nvSpPr>
        <p:spPr>
          <a:xfrm>
            <a:off x="914400" y="466344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“Reviewing the designs from GlueIQ and building out the pages within our set standard layout — using Bootstrap grid, existing components with modifications using skins and existing CSS.”</a:t>
            </a:r>
            <a:endParaRPr lang="en-US" sz="1500" dirty="0"/>
          </a:p>
        </p:txBody>
      </p:sp>
      <p:sp>
        <p:nvSpPr>
          <p:cNvPr id="13" name="Shape 11"/>
          <p:cNvSpPr/>
          <p:nvPr/>
        </p:nvSpPr>
        <p:spPr>
          <a:xfrm>
            <a:off x="7406640" y="4160520"/>
            <a:ext cx="4114800" cy="2286000"/>
          </a:xfrm>
          <a:prstGeom prst="roundRect">
            <a:avLst>
              <a:gd name="adj" fmla="val 4000"/>
            </a:avLst>
          </a:prstGeom>
          <a:solidFill>
            <a:srgbClr val="141B4A"/>
          </a:solidFill>
          <a:ln w="38100">
            <a:solidFill>
              <a:srgbClr val="A03A2E"/>
            </a:solidFill>
            <a:prstDash val="solid"/>
          </a:ln>
        </p:spPr>
      </p:sp>
      <p:sp>
        <p:nvSpPr>
          <p:cNvPr id="14" name="Text 12"/>
          <p:cNvSpPr txBox="1"/>
          <p:nvPr/>
        </p:nvSpPr>
        <p:spPr>
          <a:xfrm>
            <a:off x="7680960" y="429768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15" name="Text 13"/>
          <p:cNvSpPr txBox="1"/>
          <p:nvPr/>
        </p:nvSpPr>
        <p:spPr>
          <a:xfrm>
            <a:off x="7680960" y="466344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The Figma is treated as inspiration, not spec. Overrides are the default — which is where the rework loops start.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0"/>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lIns="0" tIns="0" rIns="0" bIns="0" rtlCol="0" anchor="ctr"/>
          <a:lstStyle/>
          <a:p>
            <a:pPr indent="0" marL="0">
              <a:buNone/>
            </a:pPr>
            <a:r>
              <a:rPr lang="en-US" sz="3400" b="1" dirty="0">
                <a:solidFill>
                  <a:srgbClr val="141B4A"/>
                </a:solidFill>
                <a:latin typeface="Cambria" pitchFamily="34" charset="0"/>
                <a:ea typeface="Cambria" pitchFamily="34" charset="-122"/>
                <a:cs typeface="Cambria" pitchFamily="34" charset="-120"/>
              </a:rPr>
              <a:t>The QA claim — and the gatekeeping.</a:t>
            </a:r>
            <a:endParaRPr lang="en-US" sz="3400" dirty="0"/>
          </a:p>
        </p:txBody>
      </p:sp>
      <p:sp>
        <p:nvSpPr>
          <p:cNvPr id="3" name="Text 1"/>
          <p:cNvSpPr txBox="1"/>
          <p:nvPr/>
        </p:nvSpPr>
        <p:spPr>
          <a:xfrm>
            <a:off x="640080" y="1143000"/>
            <a:ext cx="10515600" cy="41148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From “QA Review” and “AI exploration” sections</a:t>
            </a:r>
            <a:endParaRPr lang="en-US" sz="1400" dirty="0"/>
          </a:p>
        </p:txBody>
      </p:sp>
      <p:sp>
        <p:nvSpPr>
          <p:cNvPr id="4" name="Shape 2"/>
          <p:cNvSpPr/>
          <p:nvPr/>
        </p:nvSpPr>
        <p:spPr>
          <a:xfrm>
            <a:off x="640080" y="1737360"/>
            <a:ext cx="6583680" cy="2286000"/>
          </a:xfrm>
          <a:prstGeom prst="roundRect">
            <a:avLst>
              <a:gd name="adj" fmla="val 4000"/>
            </a:avLst>
          </a:prstGeom>
          <a:solidFill>
            <a:srgbClr val="FFFFFF"/>
          </a:solidFill>
          <a:ln w="12700">
            <a:solidFill>
              <a:srgbClr val="1E2761"/>
            </a:solidFill>
            <a:prstDash val="solid"/>
          </a:ln>
        </p:spPr>
      </p:sp>
      <p:sp>
        <p:nvSpPr>
          <p:cNvPr id="5" name="Text 3"/>
          <p:cNvSpPr txBox="1"/>
          <p:nvPr/>
        </p:nvSpPr>
        <p:spPr>
          <a:xfrm>
            <a:off x="914400" y="187452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6" name="Text 4"/>
          <p:cNvSpPr txBox="1"/>
          <p:nvPr/>
        </p:nvSpPr>
        <p:spPr>
          <a:xfrm>
            <a:off x="914400" y="224028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“Always testing in QA — no live pages for exploration.”</a:t>
            </a:r>
            <a:endParaRPr lang="en-US" sz="1500" dirty="0"/>
          </a:p>
        </p:txBody>
      </p:sp>
      <p:sp>
        <p:nvSpPr>
          <p:cNvPr id="7" name="Shape 5"/>
          <p:cNvSpPr/>
          <p:nvPr/>
        </p:nvSpPr>
        <p:spPr>
          <a:xfrm>
            <a:off x="7406640" y="1737360"/>
            <a:ext cx="4114800" cy="2286000"/>
          </a:xfrm>
          <a:prstGeom prst="roundRect">
            <a:avLst>
              <a:gd name="adj" fmla="val 4000"/>
            </a:avLst>
          </a:prstGeom>
          <a:solidFill>
            <a:srgbClr val="141B4A"/>
          </a:solidFill>
          <a:ln w="38100">
            <a:solidFill>
              <a:srgbClr val="A03A2E"/>
            </a:solidFill>
            <a:prstDash val="solid"/>
          </a:ln>
        </p:spPr>
      </p:sp>
      <p:sp>
        <p:nvSpPr>
          <p:cNvPr id="8" name="Text 6"/>
          <p:cNvSpPr txBox="1"/>
          <p:nvPr/>
        </p:nvSpPr>
        <p:spPr>
          <a:xfrm>
            <a:off x="7680960" y="187452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9" name="Text 7"/>
          <p:cNvSpPr txBox="1"/>
          <p:nvPr/>
        </p:nvSpPr>
        <p:spPr>
          <a:xfrm>
            <a:off x="7680960" y="224028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There is no QA environment. Everything ships to production. Naming a process that doesn’t exist doesn’t make it exist.</a:t>
            </a:r>
            <a:endParaRPr lang="en-US" sz="1500" dirty="0"/>
          </a:p>
        </p:txBody>
      </p:sp>
      <p:sp>
        <p:nvSpPr>
          <p:cNvPr id="10" name="Shape 8"/>
          <p:cNvSpPr/>
          <p:nvPr/>
        </p:nvSpPr>
        <p:spPr>
          <a:xfrm>
            <a:off x="640080" y="4160520"/>
            <a:ext cx="6583680" cy="2286000"/>
          </a:xfrm>
          <a:prstGeom prst="roundRect">
            <a:avLst>
              <a:gd name="adj" fmla="val 4000"/>
            </a:avLst>
          </a:prstGeom>
          <a:solidFill>
            <a:srgbClr val="FFFFFF"/>
          </a:solidFill>
          <a:ln w="12700">
            <a:solidFill>
              <a:srgbClr val="1E2761"/>
            </a:solidFill>
            <a:prstDash val="solid"/>
          </a:ln>
        </p:spPr>
      </p:sp>
      <p:sp>
        <p:nvSpPr>
          <p:cNvPr id="11" name="Text 9"/>
          <p:cNvSpPr txBox="1"/>
          <p:nvPr/>
        </p:nvSpPr>
        <p:spPr>
          <a:xfrm>
            <a:off x="914400" y="429768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12" name="Text 10"/>
          <p:cNvSpPr txBox="1"/>
          <p:nvPr/>
        </p:nvSpPr>
        <p:spPr>
          <a:xfrm>
            <a:off x="914400" y="466344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“All reviews and dev-related questions to happen outside of Marketing reviews. Aligning before sending the first preview to Marketing.”</a:t>
            </a:r>
            <a:endParaRPr lang="en-US" sz="1500" dirty="0"/>
          </a:p>
        </p:txBody>
      </p:sp>
      <p:sp>
        <p:nvSpPr>
          <p:cNvPr id="13" name="Shape 11"/>
          <p:cNvSpPr/>
          <p:nvPr/>
        </p:nvSpPr>
        <p:spPr>
          <a:xfrm>
            <a:off x="7406640" y="4160520"/>
            <a:ext cx="4114800" cy="2286000"/>
          </a:xfrm>
          <a:prstGeom prst="roundRect">
            <a:avLst>
              <a:gd name="adj" fmla="val 4000"/>
            </a:avLst>
          </a:prstGeom>
          <a:solidFill>
            <a:srgbClr val="141B4A"/>
          </a:solidFill>
          <a:ln w="38100">
            <a:solidFill>
              <a:srgbClr val="A03A2E"/>
            </a:solidFill>
            <a:prstDash val="solid"/>
          </a:ln>
        </p:spPr>
      </p:sp>
      <p:sp>
        <p:nvSpPr>
          <p:cNvPr id="14" name="Text 12"/>
          <p:cNvSpPr txBox="1"/>
          <p:nvPr/>
        </p:nvSpPr>
        <p:spPr>
          <a:xfrm>
            <a:off x="7680960" y="429768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15" name="Text 13"/>
          <p:cNvSpPr txBox="1"/>
          <p:nvPr/>
        </p:nvSpPr>
        <p:spPr>
          <a:xfrm>
            <a:off x="7680960" y="466344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Marketing gets a curated preview after internal alignment. That’s not collaboration — it’s message control.</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0"/>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lIns="0" tIns="0" rIns="0" bIns="0" rtlCol="0" anchor="ctr"/>
          <a:lstStyle/>
          <a:p>
            <a:pPr indent="0" marL="0">
              <a:buNone/>
            </a:pPr>
            <a:r>
              <a:rPr lang="en-US" sz="3400" b="1" dirty="0">
                <a:solidFill>
                  <a:srgbClr val="141B4A"/>
                </a:solidFill>
                <a:latin typeface="Cambria" pitchFamily="34" charset="0"/>
                <a:ea typeface="Cambria" pitchFamily="34" charset="-122"/>
                <a:cs typeface="Cambria" pitchFamily="34" charset="-120"/>
              </a:rPr>
              <a:t>P3, written down: route everything through the PM.</a:t>
            </a:r>
            <a:endParaRPr lang="en-US" sz="3400" dirty="0"/>
          </a:p>
        </p:txBody>
      </p:sp>
      <p:sp>
        <p:nvSpPr>
          <p:cNvPr id="3" name="Text 1"/>
          <p:cNvSpPr txBox="1"/>
          <p:nvPr/>
        </p:nvSpPr>
        <p:spPr>
          <a:xfrm>
            <a:off x="640080" y="1143000"/>
            <a:ext cx="10515600" cy="41148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From the “PM” and “Asana” sections</a:t>
            </a:r>
            <a:endParaRPr lang="en-US" sz="1400" dirty="0"/>
          </a:p>
        </p:txBody>
      </p:sp>
      <p:sp>
        <p:nvSpPr>
          <p:cNvPr id="4" name="Shape 2"/>
          <p:cNvSpPr/>
          <p:nvPr/>
        </p:nvSpPr>
        <p:spPr>
          <a:xfrm>
            <a:off x="640080" y="1737360"/>
            <a:ext cx="6583680" cy="2286000"/>
          </a:xfrm>
          <a:prstGeom prst="roundRect">
            <a:avLst>
              <a:gd name="adj" fmla="val 4000"/>
            </a:avLst>
          </a:prstGeom>
          <a:solidFill>
            <a:srgbClr val="FFFFFF"/>
          </a:solidFill>
          <a:ln w="12700">
            <a:solidFill>
              <a:srgbClr val="1E2761"/>
            </a:solidFill>
            <a:prstDash val="solid"/>
          </a:ln>
        </p:spPr>
      </p:sp>
      <p:sp>
        <p:nvSpPr>
          <p:cNvPr id="5" name="Text 3"/>
          <p:cNvSpPr txBox="1"/>
          <p:nvPr/>
        </p:nvSpPr>
        <p:spPr>
          <a:xfrm>
            <a:off x="914400" y="187452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6" name="Text 4"/>
          <p:cNvSpPr txBox="1"/>
          <p:nvPr/>
        </p:nvSpPr>
        <p:spPr>
          <a:xfrm>
            <a:off x="914400" y="224028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“Relying on the PM as intermediary between Marketing team and web team. To check in with the PM frequently on timelines, extended project scope, new requirements, etc.”</a:t>
            </a:r>
            <a:endParaRPr lang="en-US" sz="1500" dirty="0"/>
          </a:p>
        </p:txBody>
      </p:sp>
      <p:sp>
        <p:nvSpPr>
          <p:cNvPr id="7" name="Shape 5"/>
          <p:cNvSpPr/>
          <p:nvPr/>
        </p:nvSpPr>
        <p:spPr>
          <a:xfrm>
            <a:off x="7406640" y="1737360"/>
            <a:ext cx="4114800" cy="2286000"/>
          </a:xfrm>
          <a:prstGeom prst="roundRect">
            <a:avLst>
              <a:gd name="adj" fmla="val 4000"/>
            </a:avLst>
          </a:prstGeom>
          <a:solidFill>
            <a:srgbClr val="141B4A"/>
          </a:solidFill>
          <a:ln w="38100">
            <a:solidFill>
              <a:srgbClr val="A03A2E"/>
            </a:solidFill>
            <a:prstDash val="solid"/>
          </a:ln>
        </p:spPr>
      </p:sp>
      <p:sp>
        <p:nvSpPr>
          <p:cNvPr id="8" name="Text 6"/>
          <p:cNvSpPr txBox="1"/>
          <p:nvPr/>
        </p:nvSpPr>
        <p:spPr>
          <a:xfrm>
            <a:off x="7680960" y="187452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9" name="Text 7"/>
          <p:cNvSpPr txBox="1"/>
          <p:nvPr/>
        </p:nvSpPr>
        <p:spPr>
          <a:xfrm>
            <a:off x="7680960" y="224028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Every conversation goes through one PM. No direct collaboration — by design. That’s the queue-management pattern from earlier, in policy form.</a:t>
            </a:r>
            <a:endParaRPr lang="en-US" sz="1500" dirty="0"/>
          </a:p>
        </p:txBody>
      </p:sp>
      <p:sp>
        <p:nvSpPr>
          <p:cNvPr id="10" name="Shape 8"/>
          <p:cNvSpPr/>
          <p:nvPr/>
        </p:nvSpPr>
        <p:spPr>
          <a:xfrm>
            <a:off x="640080" y="4160520"/>
            <a:ext cx="6583680" cy="2286000"/>
          </a:xfrm>
          <a:prstGeom prst="roundRect">
            <a:avLst>
              <a:gd name="adj" fmla="val 4000"/>
            </a:avLst>
          </a:prstGeom>
          <a:solidFill>
            <a:srgbClr val="FFFFFF"/>
          </a:solidFill>
          <a:ln w="12700">
            <a:solidFill>
              <a:srgbClr val="1E2761"/>
            </a:solidFill>
            <a:prstDash val="solid"/>
          </a:ln>
        </p:spPr>
      </p:sp>
      <p:sp>
        <p:nvSpPr>
          <p:cNvPr id="11" name="Text 9"/>
          <p:cNvSpPr txBox="1"/>
          <p:nvPr/>
        </p:nvSpPr>
        <p:spPr>
          <a:xfrm>
            <a:off x="914400" y="429768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12" name="Text 10"/>
          <p:cNvSpPr txBox="1"/>
          <p:nvPr/>
        </p:nvSpPr>
        <p:spPr>
          <a:xfrm>
            <a:off x="914400" y="466344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“Working through the solution as a team before presenting to Marketing. Ensuring that we are not presenting anything to Marketing that has not been fully discussed within the web team.”</a:t>
            </a:r>
            <a:endParaRPr lang="en-US" sz="1500" dirty="0"/>
          </a:p>
        </p:txBody>
      </p:sp>
      <p:sp>
        <p:nvSpPr>
          <p:cNvPr id="13" name="Shape 11"/>
          <p:cNvSpPr/>
          <p:nvPr/>
        </p:nvSpPr>
        <p:spPr>
          <a:xfrm>
            <a:off x="7406640" y="4160520"/>
            <a:ext cx="4114800" cy="2286000"/>
          </a:xfrm>
          <a:prstGeom prst="roundRect">
            <a:avLst>
              <a:gd name="adj" fmla="val 4000"/>
            </a:avLst>
          </a:prstGeom>
          <a:solidFill>
            <a:srgbClr val="141B4A"/>
          </a:solidFill>
          <a:ln w="38100">
            <a:solidFill>
              <a:srgbClr val="A03A2E"/>
            </a:solidFill>
            <a:prstDash val="solid"/>
          </a:ln>
        </p:spPr>
      </p:sp>
      <p:sp>
        <p:nvSpPr>
          <p:cNvPr id="14" name="Text 12"/>
          <p:cNvSpPr txBox="1"/>
          <p:nvPr/>
        </p:nvSpPr>
        <p:spPr>
          <a:xfrm>
            <a:off x="7680960" y="429768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15" name="Text 13"/>
          <p:cNvSpPr txBox="1"/>
          <p:nvPr/>
        </p:nvSpPr>
        <p:spPr>
          <a:xfrm>
            <a:off x="7680960" y="466344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Marketing is kept out of the middle. That’s why they DM me directly — the process explicitly excludes them until we’ve pre-decided.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0"/>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lIns="0" tIns="0" rIns="0" bIns="0" rtlCol="0" anchor="ctr"/>
          <a:lstStyle/>
          <a:p>
            <a:pPr indent="0" marL="0">
              <a:buNone/>
            </a:pPr>
            <a:r>
              <a:rPr lang="en-US" sz="3400" b="1" dirty="0">
                <a:solidFill>
                  <a:srgbClr val="141B4A"/>
                </a:solidFill>
                <a:latin typeface="Cambria" pitchFamily="34" charset="0"/>
                <a:ea typeface="Cambria" pitchFamily="34" charset="-122"/>
                <a:cs typeface="Cambria" pitchFamily="34" charset="-120"/>
              </a:rPr>
              <a:t>P1, written down: innovation, in a box.</a:t>
            </a:r>
            <a:endParaRPr lang="en-US" sz="3400" dirty="0"/>
          </a:p>
        </p:txBody>
      </p:sp>
      <p:sp>
        <p:nvSpPr>
          <p:cNvPr id="3" name="Text 1"/>
          <p:cNvSpPr txBox="1"/>
          <p:nvPr/>
        </p:nvSpPr>
        <p:spPr>
          <a:xfrm>
            <a:off x="640080" y="1143000"/>
            <a:ext cx="10515600" cy="41148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From “AI exploration” section</a:t>
            </a:r>
            <a:endParaRPr lang="en-US" sz="1400" dirty="0"/>
          </a:p>
        </p:txBody>
      </p:sp>
      <p:sp>
        <p:nvSpPr>
          <p:cNvPr id="4" name="Shape 2"/>
          <p:cNvSpPr/>
          <p:nvPr/>
        </p:nvSpPr>
        <p:spPr>
          <a:xfrm>
            <a:off x="640080" y="1737360"/>
            <a:ext cx="6583680" cy="2286000"/>
          </a:xfrm>
          <a:prstGeom prst="roundRect">
            <a:avLst>
              <a:gd name="adj" fmla="val 4000"/>
            </a:avLst>
          </a:prstGeom>
          <a:solidFill>
            <a:srgbClr val="FFFFFF"/>
          </a:solidFill>
          <a:ln w="12700">
            <a:solidFill>
              <a:srgbClr val="1E2761"/>
            </a:solidFill>
            <a:prstDash val="solid"/>
          </a:ln>
        </p:spPr>
      </p:sp>
      <p:sp>
        <p:nvSpPr>
          <p:cNvPr id="5" name="Text 3"/>
          <p:cNvSpPr txBox="1"/>
          <p:nvPr/>
        </p:nvSpPr>
        <p:spPr>
          <a:xfrm>
            <a:off x="914400" y="187452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6" name="Text 4"/>
          <p:cNvSpPr txBox="1"/>
          <p:nvPr/>
        </p:nvSpPr>
        <p:spPr>
          <a:xfrm>
            <a:off x="914400" y="224028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“Setting aside specific time during the week for exploration not interfering with our priority tasks/builds — maybe 1-2 hours per week dedicated to exploration.”</a:t>
            </a:r>
            <a:endParaRPr lang="en-US" sz="1500" dirty="0"/>
          </a:p>
        </p:txBody>
      </p:sp>
      <p:sp>
        <p:nvSpPr>
          <p:cNvPr id="7" name="Shape 5"/>
          <p:cNvSpPr/>
          <p:nvPr/>
        </p:nvSpPr>
        <p:spPr>
          <a:xfrm>
            <a:off x="7406640" y="1737360"/>
            <a:ext cx="4114800" cy="2286000"/>
          </a:xfrm>
          <a:prstGeom prst="roundRect">
            <a:avLst>
              <a:gd name="adj" fmla="val 4000"/>
            </a:avLst>
          </a:prstGeom>
          <a:solidFill>
            <a:srgbClr val="141B4A"/>
          </a:solidFill>
          <a:ln w="38100">
            <a:solidFill>
              <a:srgbClr val="A03A2E"/>
            </a:solidFill>
            <a:prstDash val="solid"/>
          </a:ln>
        </p:spPr>
      </p:sp>
      <p:sp>
        <p:nvSpPr>
          <p:cNvPr id="8" name="Text 6"/>
          <p:cNvSpPr txBox="1"/>
          <p:nvPr/>
        </p:nvSpPr>
        <p:spPr>
          <a:xfrm>
            <a:off x="7680960" y="187452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9" name="Text 7"/>
          <p:cNvSpPr txBox="1"/>
          <p:nvPr/>
        </p:nvSpPr>
        <p:spPr>
          <a:xfrm>
            <a:off x="7680960" y="224028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Innovation is capped at 1–2 hours a week and demoted below “priority builds.” In other words: don’t future-proof anything on paid time.</a:t>
            </a:r>
            <a:endParaRPr lang="en-US" sz="1500" dirty="0"/>
          </a:p>
        </p:txBody>
      </p:sp>
      <p:sp>
        <p:nvSpPr>
          <p:cNvPr id="10" name="Shape 8"/>
          <p:cNvSpPr/>
          <p:nvPr/>
        </p:nvSpPr>
        <p:spPr>
          <a:xfrm>
            <a:off x="640080" y="4160520"/>
            <a:ext cx="6583680" cy="2286000"/>
          </a:xfrm>
          <a:prstGeom prst="roundRect">
            <a:avLst>
              <a:gd name="adj" fmla="val 4000"/>
            </a:avLst>
          </a:prstGeom>
          <a:solidFill>
            <a:srgbClr val="FFFFFF"/>
          </a:solidFill>
          <a:ln w="12700">
            <a:solidFill>
              <a:srgbClr val="1E2761"/>
            </a:solidFill>
            <a:prstDash val="solid"/>
          </a:ln>
        </p:spPr>
      </p:sp>
      <p:sp>
        <p:nvSpPr>
          <p:cNvPr id="11" name="Text 9"/>
          <p:cNvSpPr txBox="1"/>
          <p:nvPr/>
        </p:nvSpPr>
        <p:spPr>
          <a:xfrm>
            <a:off x="914400" y="4297680"/>
            <a:ext cx="6035040" cy="320040"/>
          </a:xfrm>
          <a:prstGeom prst="rect">
            <a:avLst/>
          </a:prstGeom>
          <a:noFill/>
          <a:ln/>
        </p:spPr>
        <p:txBody>
          <a:bodyPr wrap="square" lIns="0" tIns="0" rIns="0" bIns="0" rtlCol="0" anchor="ctr"/>
          <a:lstStyle/>
          <a:p>
            <a:pPr indent="0" marL="0">
              <a:buNone/>
            </a:pPr>
            <a:r>
              <a:rPr lang="en-US" sz="1100" b="1" spc="400" kern="0" dirty="0">
                <a:solidFill>
                  <a:srgbClr val="141B4A"/>
                </a:solidFill>
                <a:latin typeface="Calibri" pitchFamily="34" charset="0"/>
                <a:ea typeface="Calibri" pitchFamily="34" charset="-122"/>
                <a:cs typeface="Calibri" pitchFamily="34" charset="-120"/>
              </a:rPr>
              <a:t>AS DEFINED</a:t>
            </a:r>
            <a:endParaRPr lang="en-US" sz="1100" dirty="0"/>
          </a:p>
        </p:txBody>
      </p:sp>
      <p:sp>
        <p:nvSpPr>
          <p:cNvPr id="12" name="Text 10"/>
          <p:cNvSpPr txBox="1"/>
          <p:nvPr/>
        </p:nvSpPr>
        <p:spPr>
          <a:xfrm>
            <a:off x="914400" y="4663440"/>
            <a:ext cx="6035040" cy="1600200"/>
          </a:xfrm>
          <a:prstGeom prst="rect">
            <a:avLst/>
          </a:prstGeom>
          <a:noFill/>
          <a:ln/>
        </p:spPr>
        <p:txBody>
          <a:bodyPr wrap="square" lIns="0" tIns="0" rIns="0" bIns="0" rtlCol="0" anchor="ctr"/>
          <a:lstStyle/>
          <a:p>
            <a:pPr indent="0" marL="0">
              <a:buNone/>
            </a:pPr>
            <a:r>
              <a:rPr lang="en-US" sz="1500" i="1" dirty="0">
                <a:solidFill>
                  <a:srgbClr val="2C2C2C"/>
                </a:solidFill>
                <a:latin typeface="Cambria" pitchFamily="34" charset="0"/>
                <a:ea typeface="Cambria" pitchFamily="34" charset="-122"/>
                <a:cs typeface="Cambria" pitchFamily="34" charset="-120"/>
              </a:rPr>
              <a:t>“Using AI to facilitate specific component builds/updates but ensuring it aligns with our team setup and can be easily supported.”</a:t>
            </a:r>
            <a:endParaRPr lang="en-US" sz="1500" dirty="0"/>
          </a:p>
        </p:txBody>
      </p:sp>
      <p:sp>
        <p:nvSpPr>
          <p:cNvPr id="13" name="Shape 11"/>
          <p:cNvSpPr/>
          <p:nvPr/>
        </p:nvSpPr>
        <p:spPr>
          <a:xfrm>
            <a:off x="7406640" y="4160520"/>
            <a:ext cx="4114800" cy="2286000"/>
          </a:xfrm>
          <a:prstGeom prst="roundRect">
            <a:avLst>
              <a:gd name="adj" fmla="val 4000"/>
            </a:avLst>
          </a:prstGeom>
          <a:solidFill>
            <a:srgbClr val="141B4A"/>
          </a:solidFill>
          <a:ln w="38100">
            <a:solidFill>
              <a:srgbClr val="A03A2E"/>
            </a:solidFill>
            <a:prstDash val="solid"/>
          </a:ln>
        </p:spPr>
      </p:sp>
      <p:sp>
        <p:nvSpPr>
          <p:cNvPr id="14" name="Text 12"/>
          <p:cNvSpPr txBox="1"/>
          <p:nvPr/>
        </p:nvSpPr>
        <p:spPr>
          <a:xfrm>
            <a:off x="7680960" y="4297680"/>
            <a:ext cx="3566160" cy="320040"/>
          </a:xfrm>
          <a:prstGeom prst="rect">
            <a:avLst/>
          </a:prstGeom>
          <a:noFill/>
          <a:ln/>
        </p:spPr>
        <p:txBody>
          <a:bodyPr wrap="square" lIns="0" tIns="0" rIns="0" bIns="0" rtlCol="0" anchor="ctr"/>
          <a:lstStyle/>
          <a:p>
            <a:pPr indent="0" marL="0">
              <a:buNone/>
            </a:pPr>
            <a:r>
              <a:rPr lang="en-US" sz="1100" b="1" spc="400" kern="0" dirty="0">
                <a:solidFill>
                  <a:srgbClr val="E5A934"/>
                </a:solidFill>
                <a:latin typeface="Calibri" pitchFamily="34" charset="0"/>
                <a:ea typeface="Calibri" pitchFamily="34" charset="-122"/>
                <a:cs typeface="Calibri" pitchFamily="34" charset="-120"/>
              </a:rPr>
              <a:t>THE PROBLEM</a:t>
            </a:r>
            <a:endParaRPr lang="en-US" sz="1100" dirty="0"/>
          </a:p>
        </p:txBody>
      </p:sp>
      <p:sp>
        <p:nvSpPr>
          <p:cNvPr id="15" name="Text 13"/>
          <p:cNvSpPr txBox="1"/>
          <p:nvPr/>
        </p:nvSpPr>
        <p:spPr>
          <a:xfrm>
            <a:off x="7680960" y="4663440"/>
            <a:ext cx="356616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AI framed as the reason for BEM — which is not what BEM is. Modernization only counts if it fits the existing setup, which defeats the point of modernizing.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48640"/>
            <a:ext cx="10972800" cy="457200"/>
          </a:xfrm>
          <a:prstGeom prst="rect">
            <a:avLst/>
          </a:prstGeom>
          <a:noFill/>
          <a:ln/>
        </p:spPr>
        <p:txBody>
          <a:bodyPr wrap="square" lIns="0" tIns="0" rIns="0" bIns="0" rtlCol="0" anchor="ctr"/>
          <a:lstStyle/>
          <a:p>
            <a:pPr indent="0" marL="0">
              <a:buNone/>
            </a:pPr>
            <a:r>
              <a:rPr lang="en-US" sz="1400" b="1" spc="600" kern="0" dirty="0">
                <a:solidFill>
                  <a:srgbClr val="E5A934"/>
                </a:solidFill>
                <a:latin typeface="Calibri" pitchFamily="34" charset="0"/>
                <a:ea typeface="Calibri" pitchFamily="34" charset="-122"/>
                <a:cs typeface="Calibri" pitchFamily="34" charset="-120"/>
              </a:rPr>
              <a:t>BOTTOM LINE</a:t>
            </a:r>
            <a:endParaRPr lang="en-US" sz="1400" dirty="0"/>
          </a:p>
        </p:txBody>
      </p:sp>
      <p:sp>
        <p:nvSpPr>
          <p:cNvPr id="3" name="Text 1"/>
          <p:cNvSpPr txBox="1"/>
          <p:nvPr/>
        </p:nvSpPr>
        <p:spPr>
          <a:xfrm>
            <a:off x="640080" y="1280160"/>
            <a:ext cx="10972800" cy="31089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15+ months.</a:t>
            </a:r>
            <a:endParaRPr lang="en-US" sz="6000" dirty="0"/>
          </a:p>
          <a:p>
            <a:pPr indent="0" marL="0">
              <a:buNone/>
            </a:pPr>
            <a:r>
              <a:rPr lang="en-US" sz="6000" b="1" dirty="0">
                <a:solidFill>
                  <a:srgbClr val="FFFFFF"/>
                </a:solidFill>
                <a:latin typeface="Cambria" pitchFamily="34" charset="0"/>
                <a:ea typeface="Cambria" pitchFamily="34" charset="-122"/>
                <a:cs typeface="Cambria" pitchFamily="34" charset="-120"/>
              </a:rPr>
              <a:t>Same conversation.</a:t>
            </a:r>
            <a:endParaRPr lang="en-US" sz="6000" dirty="0"/>
          </a:p>
          <a:p>
            <a:pPr indent="0" marL="0">
              <a:buNone/>
            </a:pPr>
            <a:r>
              <a:rPr lang="en-US" sz="6000" b="1" dirty="0">
                <a:solidFill>
                  <a:srgbClr val="FFFFFF"/>
                </a:solidFill>
                <a:latin typeface="Cambria" pitchFamily="34" charset="0"/>
                <a:ea typeface="Cambria" pitchFamily="34" charset="-122"/>
                <a:cs typeface="Cambria" pitchFamily="34" charset="-120"/>
              </a:rPr>
              <a:t>Now in writing.</a:t>
            </a:r>
            <a:endParaRPr lang="en-US" sz="6000" dirty="0"/>
          </a:p>
        </p:txBody>
      </p:sp>
      <p:sp>
        <p:nvSpPr>
          <p:cNvPr id="4" name="Text 2"/>
          <p:cNvSpPr txBox="1"/>
          <p:nvPr/>
        </p:nvSpPr>
        <p:spPr>
          <a:xfrm>
            <a:off x="640080" y="4937760"/>
            <a:ext cx="10972800" cy="1645920"/>
          </a:xfrm>
          <a:prstGeom prst="rect">
            <a:avLst/>
          </a:prstGeom>
          <a:noFill/>
          <a:ln/>
        </p:spPr>
        <p:txBody>
          <a:bodyPr wrap="square" lIns="0" tIns="0" rIns="0" bIns="0" rtlCol="0" anchor="ctr"/>
          <a:lstStyle/>
          <a:p>
            <a:pPr indent="0" marL="0">
              <a:spcAft>
                <a:spcPts val="1800"/>
              </a:spcAft>
              <a:buNone/>
            </a:pPr>
            <a:r>
              <a:rPr lang="en-US" sz="2400" dirty="0">
                <a:solidFill>
                  <a:srgbClr val="CADCFC"/>
                </a:solidFill>
                <a:latin typeface="Cambria" pitchFamily="34" charset="0"/>
                <a:ea typeface="Cambria" pitchFamily="34" charset="-122"/>
                <a:cs typeface="Cambria" pitchFamily="34" charset="-120"/>
              </a:rPr>
              <a:t>This meeting isn’t about BEM, documentation, or DMs.</a:t>
            </a:r>
            <a:endParaRPr lang="en-US" sz="2400" dirty="0"/>
          </a:p>
          <a:p>
            <a:pPr indent="0" marL="0">
              <a:buNone/>
            </a:pPr>
            <a:r>
              <a:rPr lang="en-US" sz="2400" b="1" dirty="0">
                <a:solidFill>
                  <a:srgbClr val="E5A934"/>
                </a:solidFill>
                <a:latin typeface="Cambria" pitchFamily="34" charset="0"/>
                <a:ea typeface="Cambria" pitchFamily="34" charset="-122"/>
                <a:cs typeface="Cambria" pitchFamily="34" charset="-120"/>
              </a:rPr>
              <a:t>It’s about breaking the cycle — or committing to 15 more months of it.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2026-09-11T13:49:06Z</dcterms:created>
  <dcterms:modified xsi:type="dcterms:W3CDTF">2026-09-11T13:49:06Z</dcterms:modified>
</cp:coreProperties>
</file>