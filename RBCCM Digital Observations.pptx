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 name="Shape 25"/>
          <p:cNvSpPr/>
          <p:nvPr>
            <p:ph type="sldImg"/>
          </p:nvPr>
        </p:nvSpPr>
        <p:spPr>
          <a:prstGeom prst="rect">
            <a:avLst/>
          </a:prstGeom>
        </p:spPr>
        <p:txBody>
          <a:bodyPr/>
          <a:lstStyle/>
          <a:p>
            <a:pPr/>
          </a:p>
        </p:txBody>
      </p:sp>
      <p:sp>
        <p:nvSpPr>
          <p:cNvPr id="26" name="Shape 26"/>
          <p:cNvSpPr/>
          <p:nvPr>
            <p:ph type="body" sz="quarter" idx="1"/>
          </p:nvPr>
        </p:nvSpPr>
        <p:spPr>
          <a:prstGeom prst="rect">
            <a:avLst/>
          </a:prstGeom>
        </p:spPr>
        <p:txBody>
          <a:bodyPr/>
          <a:lstStyle/>
          <a:p>
            <a:pPr/>
            <a:r>
              <a:t>Thanks for the time. I'm here as a contractor, but Marketing has been routing work through me for a while now, so I've had a view most people in my seat don't. What I want to walk you through is a pattern - not a list of complaints - and how it maps to what modern shops are doing.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 name="Shape 41"/>
          <p:cNvSpPr/>
          <p:nvPr>
            <p:ph type="sldImg"/>
          </p:nvPr>
        </p:nvSpPr>
        <p:spPr>
          <a:prstGeom prst="rect">
            <a:avLst/>
          </a:prstGeom>
        </p:spPr>
        <p:txBody>
          <a:bodyPr/>
          <a:lstStyle/>
          <a:p>
            <a:pPr/>
          </a:p>
        </p:txBody>
      </p:sp>
      <p:sp>
        <p:nvSpPr>
          <p:cNvPr id="42" name="Shape 42"/>
          <p:cNvSpPr/>
          <p:nvPr>
            <p:ph type="body" sz="quarter" idx="1"/>
          </p:nvPr>
        </p:nvSpPr>
        <p:spPr>
          <a:prstGeom prst="rect">
            <a:avLst/>
          </a:prstGeom>
        </p:spPr>
        <p:txBody>
          <a:bodyPr/>
          <a:lstStyle/>
          <a:p>
            <a:pPr/>
            <a:r>
              <a:t>Before we talk about how it's built - it's worth being explicit about what it is. This is a marketing site. No login. No client data. No transactional layer. The only external touchpoint is the Marketo form. That matters because it should shape what we assume it needs to run.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 name="Shape 58"/>
          <p:cNvSpPr/>
          <p:nvPr>
            <p:ph type="sldImg"/>
          </p:nvPr>
        </p:nvSpPr>
        <p:spPr>
          <a:prstGeom prst="rect">
            <a:avLst/>
          </a:prstGeom>
        </p:spPr>
        <p:txBody>
          <a:bodyPr/>
          <a:lstStyle/>
          <a:p>
            <a:pPr/>
          </a:p>
        </p:txBody>
      </p:sp>
      <p:sp>
        <p:nvSpPr>
          <p:cNvPr id="59" name="Shape 59"/>
          <p:cNvSpPr/>
          <p:nvPr>
            <p:ph type="body" sz="quarter" idx="1"/>
          </p:nvPr>
        </p:nvSpPr>
        <p:spPr>
          <a:prstGeom prst="rect">
            <a:avLst/>
          </a:prstGeom>
        </p:spPr>
        <p:txBody>
          <a:bodyPr/>
          <a:lstStyle/>
          <a:p>
            <a:pPr/>
            <a:r>
              <a:t>A modern financial-brand marketing site of this complexity is usually run by 3–5 people. We're at 10–15. You know the actual dollar number - the ratio is what matters: about 3× the team, producing below the market. The workflow underneath is genuinely from 1999. Someone downloads a CSS file, edits it, and SFTPs it back. No version control. No history. No rollback. And nothing in that stack has been kept current for years.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 name="Shape 77"/>
          <p:cNvSpPr/>
          <p:nvPr>
            <p:ph type="sldImg"/>
          </p:nvPr>
        </p:nvSpPr>
        <p:spPr>
          <a:prstGeom prst="rect">
            <a:avLst/>
          </a:prstGeom>
        </p:spPr>
        <p:txBody>
          <a:bodyPr/>
          <a:lstStyle/>
          <a:p>
            <a:pPr/>
          </a:p>
        </p:txBody>
      </p:sp>
      <p:sp>
        <p:nvSpPr>
          <p:cNvPr id="78" name="Shape 78"/>
          <p:cNvSpPr/>
          <p:nvPr>
            <p:ph type="body" sz="quarter" idx="1"/>
          </p:nvPr>
        </p:nvSpPr>
        <p:spPr>
          <a:prstGeom prst="rect">
            <a:avLst/>
          </a:prstGeom>
        </p:spPr>
        <p:txBody>
          <a:bodyPr/>
          <a:lstStyle/>
          <a:p>
            <a:pPr/>
            <a:r>
              <a:t>Our peers - Morgan Stanley, JPMorgan, most of the bulge bracket - are on Adobe AEM, which is an enterprise CMS in the same category as TeamSite. Their component naming is BEM, same as ours. At the code layer we're at parity. What's different is everything around the code: real build pipelines, content-hashed assets, one-click deploys. We SFTP.</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 name="Shape 90"/>
          <p:cNvSpPr/>
          <p:nvPr>
            <p:ph type="sldImg"/>
          </p:nvPr>
        </p:nvSpPr>
        <p:spPr>
          <a:prstGeom prst="rect">
            <a:avLst/>
          </a:prstGeom>
        </p:spPr>
        <p:txBody>
          <a:bodyPr/>
          <a:lstStyle/>
          <a:p>
            <a:pPr/>
          </a:p>
        </p:txBody>
      </p:sp>
      <p:sp>
        <p:nvSpPr>
          <p:cNvPr id="91" name="Shape 91"/>
          <p:cNvSpPr/>
          <p:nvPr>
            <p:ph type="body" sz="quarter" idx="1"/>
          </p:nvPr>
        </p:nvSpPr>
        <p:spPr>
          <a:prstGeom prst="rect">
            <a:avLst/>
          </a:prstGeom>
        </p:spPr>
        <p:txBody>
          <a:bodyPr/>
          <a:lstStyle/>
          <a:p>
            <a:pPr/>
            <a:r>
              <a:t>This isn't about being on old technology - we're on Bootstrap 5. What's ancient is the maintenance posture. Nothing has been kept current for years. Framework updates get deferred, small fixes accumulate as patches, and every subsequent change collides with the accumulated debt. What used to be a one-line CSS change now takes weeks. That flips the calculus: rebuilding on a modern stack is actually faster than continuing to patch this. That's an unusual claim. It usually means the codebase is past the point where routine maintenance is economically rational.</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101"/>
          <p:cNvSpPr/>
          <p:nvPr>
            <p:ph type="sldImg"/>
          </p:nvPr>
        </p:nvSpPr>
        <p:spPr>
          <a:prstGeom prst="rect">
            <a:avLst/>
          </a:prstGeom>
        </p:spPr>
        <p:txBody>
          <a:bodyPr/>
          <a:lstStyle/>
          <a:p>
            <a:pPr/>
          </a:p>
        </p:txBody>
      </p:sp>
      <p:sp>
        <p:nvSpPr>
          <p:cNvPr id="102" name="Shape 102"/>
          <p:cNvSpPr/>
          <p:nvPr>
            <p:ph type="body" sz="quarter" idx="1"/>
          </p:nvPr>
        </p:nvSpPr>
        <p:spPr>
          <a:prstGeom prst="rect">
            <a:avLst/>
          </a:prstGeom>
        </p:spPr>
        <p:txBody>
          <a:bodyPr/>
          <a:lstStyle/>
          <a:p>
            <a:pPr/>
            <a:r>
              <a:t>This is what the authoring UI looks like. It's not one bad screen. This is what content editors, marketers, and devs are working through every day, everywhere in the system. When the tooling looks like this, it's the tell for the whole stack - and it's what everyone downstream of it is fighting.</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p>
            <a:pPr/>
            <a:r>
              <a:t>Four patterns I've noticed that hinder forward thinking. One: architecture accretes. When I started, three carousel libraries were shipping in production side by side. I was asked to analyze it and pick a direction. I picked Slick because ~80% of instances were already on it. That's what happens without a design system or clear ownership. Two: 'security' as a shutdown. I built a client-side CMS preview to speed up local editing. No server calls, no data leaving the browser. It was called a security risk. There is no security surface on a page that doesn't touch a network - that I'm aware of. Three: everything looks back, not forward. Retros focus on what broke, roadmaps focus on catching up. Nobody's asking what a great product would look like. Four: passivity as the safe posture. When errors get punished visibly and initiative gets shut down, waiting to be told is the rational move. The culture reproduces itself. Not a critique of individuals - a fact about the environment.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Shape 157"/>
          <p:cNvSpPr/>
          <p:nvPr>
            <p:ph type="sldImg"/>
          </p:nvPr>
        </p:nvSpPr>
        <p:spPr>
          <a:prstGeom prst="rect">
            <a:avLst/>
          </a:prstGeom>
        </p:spPr>
        <p:txBody>
          <a:bodyPr/>
          <a:lstStyle/>
          <a:p>
            <a:pPr/>
          </a:p>
        </p:txBody>
      </p:sp>
      <p:sp>
        <p:nvSpPr>
          <p:cNvPr id="158" name="Shape 158"/>
          <p:cNvSpPr/>
          <p:nvPr>
            <p:ph type="body" sz="quarter" idx="1"/>
          </p:nvPr>
        </p:nvSpPr>
        <p:spPr>
          <a:prstGeom prst="rect">
            <a:avLst/>
          </a:prstGeom>
        </p:spPr>
        <p:txBody>
          <a:bodyPr/>
          <a:lstStyle/>
          <a:p>
            <a:pPr/>
            <a:r>
              <a:t>Four more patterns, this time in the tech itself. Five: override-first authoring. Every new page, component, or variation is shipped as an override on top of existing code, not composed from a system. Six: no build pipeline. No npm, no Sass or Less compilation. Every override becomes a hardcoded patch, not a reusable pattern. Seven: asset bloat. Pages ship JS, CSS, and fonts they don't need. Every page pays the tax of every other page's dependencies. Eight: feedback loops on every change. Remove, replace, check SEO, re-check, sign off. One change becomes three or four rounds.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Shape 169"/>
          <p:cNvSpPr/>
          <p:nvPr>
            <p:ph type="sldImg"/>
          </p:nvPr>
        </p:nvSpPr>
        <p:spPr>
          <a:prstGeom prst="rect">
            <a:avLst/>
          </a:prstGeom>
        </p:spPr>
        <p:txBody>
          <a:bodyPr/>
          <a:lstStyle/>
          <a:p>
            <a:pPr/>
          </a:p>
        </p:txBody>
      </p:sp>
      <p:sp>
        <p:nvSpPr>
          <p:cNvPr id="170" name="Shape 170"/>
          <p:cNvSpPr/>
          <p:nvPr>
            <p:ph type="body" sz="quarter" idx="1"/>
          </p:nvPr>
        </p:nvSpPr>
        <p:spPr>
          <a:prstGeom prst="rect">
            <a:avLst/>
          </a:prstGeom>
        </p:spPr>
        <p:txBody>
          <a:bodyPr/>
          <a:lstStyle/>
          <a:p>
            <a:pPr/>
            <a:r>
              <a:t>This is our &lt;head&gt;. Every component ships its own CSS and JS file, loaded individually. jQuery, Bootstrap, Slick theme, twelve or more component-specific stylesheets, eight or more component-specific JS files. Notice the 'sub/test/' folder loading in production. There's no npm build. No bundling. No minification pipeline. Modern shops collapse this to one main.css and one bundle.js, built by npm. Every file we add here is another network request, another dependency to keep in sync, another surface for regressions to hide 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0" name="Shape 200"/>
          <p:cNvSpPr/>
          <p:nvPr>
            <p:ph type="sldImg"/>
          </p:nvPr>
        </p:nvSpPr>
        <p:spPr>
          <a:prstGeom prst="rect">
            <a:avLst/>
          </a:prstGeom>
        </p:spPr>
        <p:txBody>
          <a:bodyPr/>
          <a:lstStyle/>
          <a:p>
            <a:pPr/>
          </a:p>
        </p:txBody>
      </p:sp>
      <p:sp>
        <p:nvSpPr>
          <p:cNvPr id="201" name="Shape 201"/>
          <p:cNvSpPr/>
          <p:nvPr>
            <p:ph type="body" sz="quarter" idx="1"/>
          </p:nvPr>
        </p:nvSpPr>
        <p:spPr>
          <a:prstGeom prst="rect">
            <a:avLst/>
          </a:prstGeom>
        </p:spPr>
        <p:txBody>
          <a:bodyPr/>
          <a:lstStyle/>
          <a:p>
            <a:pPr/>
            <a:r>
              <a:t>None of these patterns individually is fatal. What makes them costly is that they compound. An override piles onto the last one, which slows the next patch, which triggers a feedback loop, which delays the next release. The team spends most of its time patching, checking, and re-checking - not building. That's why the team-size ratio at the start of this deck is what it is. It's not that 10 to 15 people are doing 3 to 5 people's work slowly. It's that the environment forces them to do the same work three times over. The inefficiency isn't a leak somewhere - it's a tax on every hour of every day.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hape 221"/>
          <p:cNvSpPr/>
          <p:nvPr>
            <p:ph type="sldImg"/>
          </p:nvPr>
        </p:nvSpPr>
        <p:spPr>
          <a:prstGeom prst="rect">
            <a:avLst/>
          </a:prstGeom>
        </p:spPr>
        <p:txBody>
          <a:bodyPr/>
          <a:lstStyle/>
          <a:p>
            <a:pPr/>
          </a:p>
        </p:txBody>
      </p:sp>
      <p:sp>
        <p:nvSpPr>
          <p:cNvPr id="222" name="Shape 222"/>
          <p:cNvSpPr/>
          <p:nvPr>
            <p:ph type="body" sz="quarter" idx="1"/>
          </p:nvPr>
        </p:nvSpPr>
        <p:spPr>
          <a:prstGeom prst="rect">
            <a:avLst/>
          </a:prstGeom>
        </p:spPr>
        <p:txBody>
          <a:bodyPr/>
          <a:lstStyle/>
          <a:p>
            <a:pPr/>
            <a:r>
              <a:t>If we were to modernize, the good news is we'd keep the BEM component work - that transfers. What changes is the plumbing: a static-site generator, GitHub with previews on every PR, CI/CD, one-click rollback, and a design system Marketing can pull on directly. Right-sized to what this actually is - a marketing site. And this improves our compliance posture, not the reverse. Automated dependency updates keep vulnerability scans clean. CI-integrated a11y testing catches regressions before deploy. Consent management is a plug-in, not a rebuild.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7" name="Shape 247"/>
          <p:cNvSpPr/>
          <p:nvPr>
            <p:ph type="sldImg"/>
          </p:nvPr>
        </p:nvSpPr>
        <p:spPr>
          <a:prstGeom prst="rect">
            <a:avLst/>
          </a:prstGeom>
        </p:spPr>
        <p:txBody>
          <a:bodyPr/>
          <a:lstStyle/>
          <a:p>
            <a:pPr/>
          </a:p>
        </p:txBody>
      </p:sp>
      <p:sp>
        <p:nvSpPr>
          <p:cNvPr id="248" name="Shape 248"/>
          <p:cNvSpPr/>
          <p:nvPr>
            <p:ph type="body" sz="quarter" idx="1"/>
          </p:nvPr>
        </p:nvSpPr>
        <p:spPr>
          <a:prstGeom prst="rect">
            <a:avLst/>
          </a:prstGeom>
        </p:spPr>
        <p:txBody>
          <a:bodyPr/>
          <a:lstStyle/>
          <a:p>
            <a:pPr/>
            <a:r>
              <a:t>One more piece of context. The team is currently evaluating six platforms, all headless: Storyblok, DotCMS, WordPress, AEM, Contentful, Contentstack. From what I've seen, no one on the team has actually shipped a headless site before. That's my read, not a formal audit, but it's the pattern I keep running into. Same operating-model gap as everywhere else: we're evaluating what to buy without evaluating who can operate it. For context on my end: I've shipped production sites on WordPress in both headless and classic modes, on AEM, on Contentful, and on DotCMS. I've built on modern frameworks and modern CMSs, and I've led teams at the tech-lead and director level in past roles. Whichever way this goes, I know how to lead this.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Shape 258"/>
          <p:cNvSpPr/>
          <p:nvPr>
            <p:ph type="sldImg"/>
          </p:nvPr>
        </p:nvSpPr>
        <p:spPr>
          <a:prstGeom prst="rect">
            <a:avLst/>
          </a:prstGeom>
        </p:spPr>
        <p:txBody>
          <a:bodyPr/>
          <a:lstStyle/>
          <a:p>
            <a:pPr/>
          </a:p>
        </p:txBody>
      </p:sp>
      <p:sp>
        <p:nvSpPr>
          <p:cNvPr id="259" name="Shape 259"/>
          <p:cNvSpPr/>
          <p:nvPr>
            <p:ph type="body" sz="quarter" idx="1"/>
          </p:nvPr>
        </p:nvSpPr>
        <p:spPr>
          <a:prstGeom prst="rect">
            <a:avLst/>
          </a:prstGeom>
        </p:spPr>
        <p:txBody>
          <a:bodyPr/>
          <a:lstStyle/>
          <a:p>
            <a:pPr/>
            <a:r>
              <a:t>That's what I'm seeing, and where I think we should go. Focus forward, not on patching what's behind us. We can build something better than what we have. Happy to lead it. We just need to make the decision to.</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3168"/>
        </a:solidFill>
      </p:bgPr>
    </p:bg>
    <p:spTree>
      <p:nvGrpSpPr>
        <p:cNvPr id="1" name=""/>
        <p:cNvGrpSpPr/>
        <p:nvPr/>
      </p:nvGrpSpPr>
      <p:grpSpPr>
        <a:xfrm>
          <a:off x="0" y="0"/>
          <a:ext cx="0" cy="0"/>
          <a:chOff x="0" y="0"/>
          <a:chExt cx="0" cy="0"/>
        </a:xfrm>
      </p:grpSpPr>
      <p:sp>
        <p:nvSpPr>
          <p:cNvPr id="20" name="Shape 0"/>
          <p:cNvSpPr/>
          <p:nvPr/>
        </p:nvSpPr>
        <p:spPr>
          <a:xfrm>
            <a:off x="9601199" y="548639"/>
            <a:ext cx="2103122" cy="2103122"/>
          </a:xfrm>
          <a:prstGeom prst="ellipse">
            <a:avLst/>
          </a:prstGeom>
          <a:solidFill>
            <a:srgbClr val="FFC72C"/>
          </a:solidFill>
          <a:ln w="12700">
            <a:miter lim="400000"/>
          </a:ln>
        </p:spPr>
        <p:txBody>
          <a:bodyPr lIns="45719" rIns="45719"/>
          <a:lstStyle/>
          <a:p>
            <a:pPr/>
          </a:p>
        </p:txBody>
      </p:sp>
      <p:sp>
        <p:nvSpPr>
          <p:cNvPr id="21" name="Shape 1"/>
          <p:cNvSpPr/>
          <p:nvPr/>
        </p:nvSpPr>
        <p:spPr>
          <a:xfrm>
            <a:off x="9966959" y="914400"/>
            <a:ext cx="1371601" cy="1371600"/>
          </a:xfrm>
          <a:prstGeom prst="ellipse">
            <a:avLst/>
          </a:prstGeom>
          <a:solidFill>
            <a:srgbClr val="003168"/>
          </a:solidFill>
          <a:ln w="12700">
            <a:miter lim="400000"/>
          </a:ln>
        </p:spPr>
        <p:txBody>
          <a:bodyPr lIns="45719" rIns="45719"/>
          <a:lstStyle/>
          <a:p>
            <a:pPr/>
          </a:p>
        </p:txBody>
      </p:sp>
      <p:sp>
        <p:nvSpPr>
          <p:cNvPr id="22" name="Text 2"/>
          <p:cNvSpPr txBox="1"/>
          <p:nvPr/>
        </p:nvSpPr>
        <p:spPr>
          <a:xfrm>
            <a:off x="640080" y="653087"/>
            <a:ext cx="7315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200">
                <a:solidFill>
                  <a:srgbClr val="FFC72C"/>
                </a:solidFill>
              </a:defRPr>
            </a:lvl1pPr>
          </a:lstStyle>
          <a:p>
            <a:pPr/>
            <a:r>
              <a:t>RBCCM DIGITAL</a:t>
            </a:r>
          </a:p>
        </p:txBody>
      </p:sp>
      <p:sp>
        <p:nvSpPr>
          <p:cNvPr id="23" name="Text 3"/>
          <p:cNvSpPr txBox="1"/>
          <p:nvPr/>
        </p:nvSpPr>
        <p:spPr>
          <a:xfrm>
            <a:off x="640080" y="2800350"/>
            <a:ext cx="9601201"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5400">
                <a:solidFill>
                  <a:srgbClr val="FFFFFF"/>
                </a:solidFill>
                <a:latin typeface="Cambria"/>
                <a:ea typeface="Cambria"/>
                <a:cs typeface="Cambria"/>
                <a:sym typeface="Cambria"/>
              </a:defRPr>
            </a:lvl1pPr>
          </a:lstStyle>
          <a:p>
            <a:pPr/>
            <a:r>
              <a:t>What I'm seeing from inside.</a:t>
            </a:r>
          </a:p>
        </p:txBody>
      </p:sp>
      <p:sp>
        <p:nvSpPr>
          <p:cNvPr id="24" name="Text 4"/>
          <p:cNvSpPr txBox="1"/>
          <p:nvPr/>
        </p:nvSpPr>
        <p:spPr>
          <a:xfrm>
            <a:off x="640080" y="4542616"/>
            <a:ext cx="96012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a:solidFill>
                  <a:srgbClr val="FFC72C"/>
                </a:solidFill>
              </a:defRPr>
            </a:lvl1pPr>
          </a:lstStyle>
          <a:p>
            <a:pPr/>
            <a:r>
              <a:t>An observation, and how it maps to what modern shops are doing.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29" name="Text 1"/>
          <p:cNvSpPr txBox="1"/>
          <p:nvPr/>
        </p:nvSpPr>
        <p:spPr>
          <a:xfrm>
            <a:off x="640080" y="999489"/>
            <a:ext cx="100584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What the site actually is</a:t>
            </a:r>
          </a:p>
        </p:txBody>
      </p:sp>
      <p:sp>
        <p:nvSpPr>
          <p:cNvPr id="30" name="Text 2"/>
          <p:cNvSpPr txBox="1"/>
          <p:nvPr/>
        </p:nvSpPr>
        <p:spPr>
          <a:xfrm>
            <a:off x="640080" y="2343150"/>
            <a:ext cx="10972801" cy="800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5400">
                <a:solidFill>
                  <a:srgbClr val="1A1A1A"/>
                </a:solidFill>
                <a:latin typeface="Cambria"/>
                <a:ea typeface="Cambria"/>
                <a:cs typeface="Cambria"/>
                <a:sym typeface="Cambria"/>
              </a:defRPr>
            </a:lvl1pPr>
          </a:lstStyle>
          <a:p>
            <a:pPr/>
            <a:r>
              <a:t>HTML pages. A Marketo form.</a:t>
            </a:r>
          </a:p>
        </p:txBody>
      </p:sp>
      <p:sp>
        <p:nvSpPr>
          <p:cNvPr id="31" name="Shape 3"/>
          <p:cNvSpPr/>
          <p:nvPr/>
        </p:nvSpPr>
        <p:spPr>
          <a:xfrm>
            <a:off x="1340967" y="4023359"/>
            <a:ext cx="2926081" cy="777241"/>
          </a:xfrm>
          <a:prstGeom prst="roundRect">
            <a:avLst>
              <a:gd name="adj" fmla="val 49412"/>
            </a:avLst>
          </a:prstGeom>
          <a:solidFill>
            <a:srgbClr val="F9FAFB"/>
          </a:solidFill>
          <a:ln w="12700">
            <a:solidFill>
              <a:srgbClr val="E5E7EB"/>
            </a:solidFill>
          </a:ln>
        </p:spPr>
        <p:txBody>
          <a:bodyPr lIns="45719" rIns="45719"/>
          <a:lstStyle/>
          <a:p>
            <a:pPr/>
          </a:p>
        </p:txBody>
      </p:sp>
      <p:sp>
        <p:nvSpPr>
          <p:cNvPr id="32" name="Text 4"/>
          <p:cNvSpPr txBox="1"/>
          <p:nvPr/>
        </p:nvSpPr>
        <p:spPr>
          <a:xfrm>
            <a:off x="1340967" y="4291156"/>
            <a:ext cx="2926082"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03168"/>
                </a:solidFill>
              </a:defRPr>
            </a:lvl1pPr>
          </a:lstStyle>
          <a:p>
            <a:pPr/>
            <a:r>
              <a:t>No login</a:t>
            </a:r>
          </a:p>
        </p:txBody>
      </p:sp>
      <p:sp>
        <p:nvSpPr>
          <p:cNvPr id="33" name="Shape 5"/>
          <p:cNvSpPr/>
          <p:nvPr/>
        </p:nvSpPr>
        <p:spPr>
          <a:xfrm>
            <a:off x="4632807" y="4023359"/>
            <a:ext cx="2926081" cy="777241"/>
          </a:xfrm>
          <a:prstGeom prst="roundRect">
            <a:avLst>
              <a:gd name="adj" fmla="val 49412"/>
            </a:avLst>
          </a:prstGeom>
          <a:solidFill>
            <a:srgbClr val="F9FAFB"/>
          </a:solidFill>
          <a:ln w="12700">
            <a:solidFill>
              <a:srgbClr val="E5E7EB"/>
            </a:solidFill>
          </a:ln>
        </p:spPr>
        <p:txBody>
          <a:bodyPr lIns="45719" rIns="45719"/>
          <a:lstStyle/>
          <a:p>
            <a:pPr/>
          </a:p>
        </p:txBody>
      </p:sp>
      <p:sp>
        <p:nvSpPr>
          <p:cNvPr id="34" name="Text 6"/>
          <p:cNvSpPr txBox="1"/>
          <p:nvPr/>
        </p:nvSpPr>
        <p:spPr>
          <a:xfrm>
            <a:off x="4632807" y="4291156"/>
            <a:ext cx="29260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03168"/>
                </a:solidFill>
              </a:defRPr>
            </a:lvl1pPr>
          </a:lstStyle>
          <a:p>
            <a:pPr/>
            <a:r>
              <a:t>No client data</a:t>
            </a:r>
          </a:p>
        </p:txBody>
      </p:sp>
      <p:sp>
        <p:nvSpPr>
          <p:cNvPr id="35" name="Shape 7"/>
          <p:cNvSpPr/>
          <p:nvPr/>
        </p:nvSpPr>
        <p:spPr>
          <a:xfrm>
            <a:off x="7924648" y="4023359"/>
            <a:ext cx="2926080" cy="777241"/>
          </a:xfrm>
          <a:prstGeom prst="roundRect">
            <a:avLst>
              <a:gd name="adj" fmla="val 49412"/>
            </a:avLst>
          </a:prstGeom>
          <a:solidFill>
            <a:srgbClr val="F9FAFB"/>
          </a:solidFill>
          <a:ln w="12700">
            <a:solidFill>
              <a:srgbClr val="E5E7EB"/>
            </a:solidFill>
          </a:ln>
        </p:spPr>
        <p:txBody>
          <a:bodyPr lIns="45719" rIns="45719"/>
          <a:lstStyle/>
          <a:p>
            <a:pPr/>
          </a:p>
        </p:txBody>
      </p:sp>
      <p:sp>
        <p:nvSpPr>
          <p:cNvPr id="36" name="Text 8"/>
          <p:cNvSpPr txBox="1"/>
          <p:nvPr/>
        </p:nvSpPr>
        <p:spPr>
          <a:xfrm>
            <a:off x="7924648" y="4291156"/>
            <a:ext cx="292608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003168"/>
                </a:solidFill>
              </a:defRPr>
            </a:lvl1pPr>
          </a:lstStyle>
          <a:p>
            <a:pPr/>
            <a:r>
              <a:t>No APIs</a:t>
            </a:r>
          </a:p>
        </p:txBody>
      </p:sp>
      <p:sp>
        <p:nvSpPr>
          <p:cNvPr id="37" name="Text 9"/>
          <p:cNvSpPr txBox="1"/>
          <p:nvPr/>
        </p:nvSpPr>
        <p:spPr>
          <a:xfrm>
            <a:off x="640080" y="5747583"/>
            <a:ext cx="10972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600">
                <a:solidFill>
                  <a:srgbClr val="6B7280"/>
                </a:solidFill>
              </a:defRPr>
            </a:lvl1pPr>
          </a:lstStyle>
          <a:p>
            <a:pPr/>
            <a:r>
              <a:t>A marketing site. Nothing more, nothing less.</a:t>
            </a:r>
          </a:p>
        </p:txBody>
      </p:sp>
      <p:sp>
        <p:nvSpPr>
          <p:cNvPr id="38" name="Shape 10"/>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39" name="Text 11"/>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2</a:t>
            </a:r>
          </a:p>
        </p:txBody>
      </p:sp>
      <p:sp>
        <p:nvSpPr>
          <p:cNvPr id="40" name="Text 12"/>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45" name="Text 1"/>
          <p:cNvSpPr txBox="1"/>
          <p:nvPr/>
        </p:nvSpPr>
        <p:spPr>
          <a:xfrm>
            <a:off x="640080" y="999489"/>
            <a:ext cx="100584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What it takes to run it today</a:t>
            </a:r>
          </a:p>
        </p:txBody>
      </p:sp>
      <p:sp>
        <p:nvSpPr>
          <p:cNvPr id="46" name="Text 2"/>
          <p:cNvSpPr txBox="1"/>
          <p:nvPr/>
        </p:nvSpPr>
        <p:spPr>
          <a:xfrm>
            <a:off x="640080" y="2024687"/>
            <a:ext cx="54864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200">
                <a:solidFill>
                  <a:srgbClr val="6B7280"/>
                </a:solidFill>
              </a:defRPr>
            </a:lvl1pPr>
          </a:lstStyle>
          <a:p>
            <a:pPr/>
            <a:r>
              <a:t>Current</a:t>
            </a:r>
          </a:p>
        </p:txBody>
      </p:sp>
      <p:sp>
        <p:nvSpPr>
          <p:cNvPr id="47" name="Text 3"/>
          <p:cNvSpPr txBox="1"/>
          <p:nvPr/>
        </p:nvSpPr>
        <p:spPr>
          <a:xfrm>
            <a:off x="640080" y="2306319"/>
            <a:ext cx="5486401" cy="142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600">
                <a:solidFill>
                  <a:srgbClr val="003168"/>
                </a:solidFill>
                <a:latin typeface="Cambria"/>
                <a:ea typeface="Cambria"/>
                <a:cs typeface="Cambria"/>
                <a:sym typeface="Cambria"/>
              </a:defRPr>
            </a:lvl1pPr>
          </a:lstStyle>
          <a:p>
            <a:pPr/>
            <a:r>
              <a:t>10–15</a:t>
            </a:r>
          </a:p>
        </p:txBody>
      </p:sp>
      <p:sp>
        <p:nvSpPr>
          <p:cNvPr id="48" name="Text 4"/>
          <p:cNvSpPr txBox="1"/>
          <p:nvPr/>
        </p:nvSpPr>
        <p:spPr>
          <a:xfrm>
            <a:off x="640080" y="3873063"/>
            <a:ext cx="5486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1A1A1A"/>
                </a:solidFill>
              </a:defRPr>
            </a:lvl1pPr>
          </a:lstStyle>
          <a:p>
            <a:pPr/>
            <a:r>
              <a:t>people running the site</a:t>
            </a:r>
          </a:p>
        </p:txBody>
      </p:sp>
      <p:sp>
        <p:nvSpPr>
          <p:cNvPr id="49" name="Text 5"/>
          <p:cNvSpPr txBox="1"/>
          <p:nvPr/>
        </p:nvSpPr>
        <p:spPr>
          <a:xfrm>
            <a:off x="6400800" y="2024687"/>
            <a:ext cx="502920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200">
                <a:solidFill>
                  <a:srgbClr val="6B7280"/>
                </a:solidFill>
              </a:defRPr>
            </a:lvl1pPr>
          </a:lstStyle>
          <a:p>
            <a:pPr/>
            <a:r>
              <a:t>Ideal</a:t>
            </a:r>
          </a:p>
        </p:txBody>
      </p:sp>
      <p:sp>
        <p:nvSpPr>
          <p:cNvPr id="50" name="Text 6"/>
          <p:cNvSpPr txBox="1"/>
          <p:nvPr/>
        </p:nvSpPr>
        <p:spPr>
          <a:xfrm>
            <a:off x="6400800" y="2306319"/>
            <a:ext cx="5029200" cy="1422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9600">
                <a:solidFill>
                  <a:srgbClr val="FFC72C"/>
                </a:solidFill>
                <a:latin typeface="Cambria"/>
                <a:ea typeface="Cambria"/>
                <a:cs typeface="Cambria"/>
                <a:sym typeface="Cambria"/>
              </a:defRPr>
            </a:lvl1pPr>
          </a:lstStyle>
          <a:p>
            <a:pPr/>
            <a:r>
              <a:t>3–5</a:t>
            </a:r>
          </a:p>
        </p:txBody>
      </p:sp>
      <p:sp>
        <p:nvSpPr>
          <p:cNvPr id="51" name="Text 7"/>
          <p:cNvSpPr txBox="1"/>
          <p:nvPr/>
        </p:nvSpPr>
        <p:spPr>
          <a:xfrm>
            <a:off x="6400800" y="3873063"/>
            <a:ext cx="5029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1A1A1A"/>
                </a:solidFill>
              </a:defRPr>
            </a:lvl1pPr>
          </a:lstStyle>
          <a:p>
            <a:pPr/>
            <a:r>
              <a:t>for a static marketing site of this scope</a:t>
            </a:r>
          </a:p>
        </p:txBody>
      </p:sp>
      <p:sp>
        <p:nvSpPr>
          <p:cNvPr id="52" name="Shape 8"/>
          <p:cNvSpPr/>
          <p:nvPr/>
        </p:nvSpPr>
        <p:spPr>
          <a:xfrm>
            <a:off x="640080" y="4754879"/>
            <a:ext cx="10881360" cy="1280161"/>
          </a:xfrm>
          <a:prstGeom prst="rect">
            <a:avLst/>
          </a:prstGeom>
          <a:solidFill>
            <a:srgbClr val="F9FAFB"/>
          </a:solidFill>
          <a:ln w="12700">
            <a:solidFill>
              <a:srgbClr val="E5E7EB"/>
            </a:solidFill>
          </a:ln>
        </p:spPr>
        <p:txBody>
          <a:bodyPr lIns="45719" rIns="45719"/>
          <a:lstStyle/>
          <a:p>
            <a:pPr/>
          </a:p>
        </p:txBody>
      </p:sp>
      <p:sp>
        <p:nvSpPr>
          <p:cNvPr id="53" name="Text 9"/>
          <p:cNvSpPr txBox="1"/>
          <p:nvPr/>
        </p:nvSpPr>
        <p:spPr>
          <a:xfrm>
            <a:off x="914399" y="5016063"/>
            <a:ext cx="10332722"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1A1A"/>
                </a:solidFill>
              </a:defRPr>
            </a:lvl1pPr>
          </a:lstStyle>
          <a:p>
            <a:pPr/>
            <a:r>
              <a:t>Underneath: SFTP files by hand. No version control. No CI/CD.</a:t>
            </a:r>
          </a:p>
        </p:txBody>
      </p:sp>
      <p:sp>
        <p:nvSpPr>
          <p:cNvPr id="54" name="Text 10"/>
          <p:cNvSpPr txBox="1"/>
          <p:nvPr/>
        </p:nvSpPr>
        <p:spPr>
          <a:xfrm>
            <a:off x="914399" y="5506020"/>
            <a:ext cx="103327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6B7280"/>
                </a:solidFill>
              </a:defRPr>
            </a:lvl1pPr>
          </a:lstStyle>
          <a:p>
            <a:pPr/>
            <a:r>
              <a:t>The stack - TeamSite, Bootstrap, dependencies - isn't updated at safe intervals, so every change risks regression. It's fragile.</a:t>
            </a:r>
          </a:p>
        </p:txBody>
      </p:sp>
      <p:sp>
        <p:nvSpPr>
          <p:cNvPr id="55" name="Shape 11"/>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56" name="Text 12"/>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3</a:t>
            </a:r>
          </a:p>
        </p:txBody>
      </p:sp>
      <p:sp>
        <p:nvSpPr>
          <p:cNvPr id="57" name="Text 13"/>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62" name="Text 1"/>
          <p:cNvSpPr txBox="1"/>
          <p:nvPr/>
        </p:nvSpPr>
        <p:spPr>
          <a:xfrm>
            <a:off x="640080" y="999489"/>
            <a:ext cx="100584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What peers ship</a:t>
            </a:r>
          </a:p>
        </p:txBody>
      </p:sp>
      <p:sp>
        <p:nvSpPr>
          <p:cNvPr id="63" name="Text 2"/>
          <p:cNvSpPr txBox="1"/>
          <p:nvPr/>
        </p:nvSpPr>
        <p:spPr>
          <a:xfrm>
            <a:off x="640080" y="1724223"/>
            <a:ext cx="100584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6B7280"/>
                </a:solidFill>
              </a:defRPr>
            </a:lvl1pPr>
          </a:lstStyle>
          <a:p>
            <a:pPr/>
            <a:r>
              <a:t>The gap isn't the code - it's the plumbing.</a:t>
            </a:r>
          </a:p>
        </p:txBody>
      </p:sp>
      <p:sp>
        <p:nvSpPr>
          <p:cNvPr id="64" name="Shape 3"/>
          <p:cNvSpPr/>
          <p:nvPr/>
        </p:nvSpPr>
        <p:spPr>
          <a:xfrm>
            <a:off x="640080" y="2377439"/>
            <a:ext cx="10881360" cy="868681"/>
          </a:xfrm>
          <a:prstGeom prst="rect">
            <a:avLst/>
          </a:prstGeom>
          <a:solidFill>
            <a:srgbClr val="FFFFFF"/>
          </a:solidFill>
          <a:ln w="12700">
            <a:solidFill>
              <a:srgbClr val="E5E7EB"/>
            </a:solidFill>
          </a:ln>
        </p:spPr>
        <p:txBody>
          <a:bodyPr lIns="45719" rIns="45719"/>
          <a:lstStyle/>
          <a:p>
            <a:pPr/>
          </a:p>
        </p:txBody>
      </p:sp>
      <p:sp>
        <p:nvSpPr>
          <p:cNvPr id="65" name="Text 4"/>
          <p:cNvSpPr txBox="1"/>
          <p:nvPr/>
        </p:nvSpPr>
        <p:spPr>
          <a:xfrm>
            <a:off x="914400" y="2717100"/>
            <a:ext cx="3200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6B7280"/>
                </a:solidFill>
              </a:defRPr>
            </a:lvl1pPr>
          </a:lstStyle>
          <a:p>
            <a:pPr/>
            <a:r>
              <a:t>Morgan Stanley</a:t>
            </a:r>
          </a:p>
        </p:txBody>
      </p:sp>
      <p:sp>
        <p:nvSpPr>
          <p:cNvPr id="66" name="Text 5"/>
          <p:cNvSpPr txBox="1"/>
          <p:nvPr/>
        </p:nvSpPr>
        <p:spPr>
          <a:xfrm>
            <a:off x="4297679" y="2697479"/>
            <a:ext cx="713232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1A1A1A"/>
                </a:solidFill>
                <a:latin typeface="Courier New"/>
                <a:ea typeface="Courier New"/>
                <a:cs typeface="Courier New"/>
                <a:sym typeface="Courier New"/>
              </a:defRPr>
            </a:lvl1pPr>
          </a:lstStyle>
          <a:p>
            <a:pPr/>
            <a:r>
              <a:t>.whatwedo__button</a:t>
            </a:r>
          </a:p>
        </p:txBody>
      </p:sp>
      <p:sp>
        <p:nvSpPr>
          <p:cNvPr id="67" name="Shape 6"/>
          <p:cNvSpPr/>
          <p:nvPr/>
        </p:nvSpPr>
        <p:spPr>
          <a:xfrm>
            <a:off x="640080" y="3383279"/>
            <a:ext cx="10881360" cy="868681"/>
          </a:xfrm>
          <a:prstGeom prst="rect">
            <a:avLst/>
          </a:prstGeom>
          <a:solidFill>
            <a:srgbClr val="FFFFFF"/>
          </a:solidFill>
          <a:ln w="12700">
            <a:solidFill>
              <a:srgbClr val="E5E7EB"/>
            </a:solidFill>
          </a:ln>
        </p:spPr>
        <p:txBody>
          <a:bodyPr lIns="45719" rIns="45719"/>
          <a:lstStyle/>
          <a:p>
            <a:pPr/>
          </a:p>
        </p:txBody>
      </p:sp>
      <p:sp>
        <p:nvSpPr>
          <p:cNvPr id="68" name="Text 7"/>
          <p:cNvSpPr txBox="1"/>
          <p:nvPr/>
        </p:nvSpPr>
        <p:spPr>
          <a:xfrm>
            <a:off x="914400" y="3722940"/>
            <a:ext cx="3200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6B7280"/>
                </a:solidFill>
              </a:defRPr>
            </a:lvl1pPr>
          </a:lstStyle>
          <a:p>
            <a:pPr/>
            <a:r>
              <a:t>JPMorgan</a:t>
            </a:r>
          </a:p>
        </p:txBody>
      </p:sp>
      <p:sp>
        <p:nvSpPr>
          <p:cNvPr id="69" name="Text 8"/>
          <p:cNvSpPr txBox="1"/>
          <p:nvPr/>
        </p:nvSpPr>
        <p:spPr>
          <a:xfrm>
            <a:off x="4297679" y="3703319"/>
            <a:ext cx="713232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1A1A1A"/>
                </a:solidFill>
                <a:latin typeface="Courier New"/>
                <a:ea typeface="Courier New"/>
                <a:cs typeface="Courier New"/>
                <a:sym typeface="Courier New"/>
              </a:defRPr>
            </a:lvl1pPr>
          </a:lstStyle>
          <a:p>
            <a:pPr/>
            <a:r>
              <a:t>/etc.clientlibs/  ·  /content/dam/</a:t>
            </a:r>
          </a:p>
        </p:txBody>
      </p:sp>
      <p:sp>
        <p:nvSpPr>
          <p:cNvPr id="70" name="Shape 9"/>
          <p:cNvSpPr/>
          <p:nvPr/>
        </p:nvSpPr>
        <p:spPr>
          <a:xfrm>
            <a:off x="640080" y="4389120"/>
            <a:ext cx="10881360" cy="868681"/>
          </a:xfrm>
          <a:prstGeom prst="rect">
            <a:avLst/>
          </a:prstGeom>
          <a:solidFill>
            <a:srgbClr val="F9FAFB"/>
          </a:solidFill>
          <a:ln w="12700">
            <a:solidFill>
              <a:srgbClr val="E5E7EB"/>
            </a:solidFill>
          </a:ln>
        </p:spPr>
        <p:txBody>
          <a:bodyPr lIns="45719" rIns="45719"/>
          <a:lstStyle/>
          <a:p>
            <a:pPr/>
          </a:p>
        </p:txBody>
      </p:sp>
      <p:sp>
        <p:nvSpPr>
          <p:cNvPr id="71" name="Text 10"/>
          <p:cNvSpPr txBox="1"/>
          <p:nvPr/>
        </p:nvSpPr>
        <p:spPr>
          <a:xfrm>
            <a:off x="914400" y="4728780"/>
            <a:ext cx="3200400"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003168"/>
                </a:solidFill>
              </a:defRPr>
            </a:lvl1pPr>
          </a:lstStyle>
          <a:p>
            <a:pPr/>
            <a:r>
              <a:t>RBCCM</a:t>
            </a:r>
          </a:p>
        </p:txBody>
      </p:sp>
      <p:sp>
        <p:nvSpPr>
          <p:cNvPr id="72" name="Text 11"/>
          <p:cNvSpPr txBox="1"/>
          <p:nvPr/>
        </p:nvSpPr>
        <p:spPr>
          <a:xfrm>
            <a:off x="4297679" y="4709160"/>
            <a:ext cx="7132320" cy="228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1A1A1A"/>
                </a:solidFill>
                <a:latin typeface="Courier New"/>
                <a:ea typeface="Courier New"/>
                <a:cs typeface="Courier New"/>
                <a:sym typeface="Courier New"/>
              </a:defRPr>
            </a:lvl1pPr>
          </a:lstStyle>
          <a:p>
            <a:pPr/>
            <a:r>
              <a:t>.rbccm-leadership__heading</a:t>
            </a:r>
          </a:p>
        </p:txBody>
      </p:sp>
      <p:sp>
        <p:nvSpPr>
          <p:cNvPr id="73" name="Text 12"/>
          <p:cNvSpPr txBox="1"/>
          <p:nvPr/>
        </p:nvSpPr>
        <p:spPr>
          <a:xfrm>
            <a:off x="640080" y="5758881"/>
            <a:ext cx="10881360"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03168"/>
                </a:solidFill>
              </a:defRPr>
            </a:lvl1pPr>
          </a:lstStyle>
          <a:p>
            <a:pPr/>
            <a:r>
              <a:t>Same discipline. Same BEM. Same component thinking.</a:t>
            </a:r>
          </a:p>
        </p:txBody>
      </p:sp>
      <p:sp>
        <p:nvSpPr>
          <p:cNvPr id="74" name="Shape 13"/>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75" name="Text 14"/>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4</a:t>
            </a:r>
          </a:p>
        </p:txBody>
      </p:sp>
      <p:sp>
        <p:nvSpPr>
          <p:cNvPr id="76" name="Text 15"/>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3168"/>
        </a:solidFill>
      </p:bgPr>
    </p:bg>
    <p:spTree>
      <p:nvGrpSpPr>
        <p:cNvPr id="1" name=""/>
        <p:cNvGrpSpPr/>
        <p:nvPr/>
      </p:nvGrpSpPr>
      <p:grpSpPr>
        <a:xfrm>
          <a:off x="0" y="0"/>
          <a:ext cx="0" cy="0"/>
          <a:chOff x="0" y="0"/>
          <a:chExt cx="0" cy="0"/>
        </a:xfrm>
      </p:grpSpPr>
      <p:sp>
        <p:nvSpPr>
          <p:cNvPr id="80"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FC72C"/>
                </a:solidFill>
              </a:defRPr>
            </a:lvl1pPr>
          </a:lstStyle>
          <a:p>
            <a:pPr/>
            <a:r>
              <a:t>RBCCM DIGITAL</a:t>
            </a:r>
          </a:p>
        </p:txBody>
      </p:sp>
      <p:sp>
        <p:nvSpPr>
          <p:cNvPr id="81" name="Text 1"/>
          <p:cNvSpPr txBox="1"/>
          <p:nvPr/>
        </p:nvSpPr>
        <p:spPr>
          <a:xfrm>
            <a:off x="640080" y="1094040"/>
            <a:ext cx="10058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400">
                <a:solidFill>
                  <a:srgbClr val="FFC72C"/>
                </a:solidFill>
              </a:defRPr>
            </a:lvl1pPr>
          </a:lstStyle>
          <a:p>
            <a:pPr/>
            <a:r>
              <a:t>The real problem</a:t>
            </a:r>
          </a:p>
        </p:txBody>
      </p:sp>
      <p:sp>
        <p:nvSpPr>
          <p:cNvPr id="82" name="Text 2"/>
          <p:cNvSpPr txBox="1"/>
          <p:nvPr/>
        </p:nvSpPr>
        <p:spPr>
          <a:xfrm>
            <a:off x="640080" y="1882139"/>
            <a:ext cx="10972801" cy="990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6600">
                <a:solidFill>
                  <a:srgbClr val="FFFFFF"/>
                </a:solidFill>
                <a:latin typeface="Cambria"/>
                <a:ea typeface="Cambria"/>
                <a:cs typeface="Cambria"/>
                <a:sym typeface="Cambria"/>
              </a:defRPr>
            </a:lvl1pPr>
          </a:lstStyle>
          <a:p>
            <a:pPr/>
            <a:r>
              <a:t>It's old tech.</a:t>
            </a:r>
          </a:p>
        </p:txBody>
      </p:sp>
      <p:sp>
        <p:nvSpPr>
          <p:cNvPr id="83" name="Text 3"/>
          <p:cNvSpPr txBox="1"/>
          <p:nvPr/>
        </p:nvSpPr>
        <p:spPr>
          <a:xfrm>
            <a:off x="640080" y="2979419"/>
            <a:ext cx="10972801" cy="990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6600">
                <a:solidFill>
                  <a:srgbClr val="FFC72C"/>
                </a:solidFill>
                <a:latin typeface="Cambria"/>
                <a:ea typeface="Cambria"/>
                <a:cs typeface="Cambria"/>
                <a:sym typeface="Cambria"/>
              </a:defRPr>
            </a:lvl1pPr>
          </a:lstStyle>
          <a:p>
            <a:pPr/>
            <a:r>
              <a:t>And it's fragile.</a:t>
            </a:r>
          </a:p>
        </p:txBody>
      </p:sp>
      <p:sp>
        <p:nvSpPr>
          <p:cNvPr id="84" name="Text 4"/>
          <p:cNvSpPr txBox="1"/>
          <p:nvPr/>
        </p:nvSpPr>
        <p:spPr>
          <a:xfrm>
            <a:off x="914399" y="4683060"/>
            <a:ext cx="103327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400">
                <a:solidFill>
                  <a:srgbClr val="CBD5E1"/>
                </a:solidFill>
              </a:defRPr>
            </a:lvl1pPr>
          </a:lstStyle>
          <a:p>
            <a:pPr/>
            <a:r>
              <a:t>A legacy TeamSite build - not even the new visual builder. Every touch risks regression, which is why Marketing has lost trust.</a:t>
            </a:r>
          </a:p>
        </p:txBody>
      </p:sp>
      <p:sp>
        <p:nvSpPr>
          <p:cNvPr id="85" name="Shape 5"/>
          <p:cNvSpPr/>
          <p:nvPr/>
        </p:nvSpPr>
        <p:spPr>
          <a:xfrm>
            <a:off x="2286000" y="5212079"/>
            <a:ext cx="7589520" cy="960121"/>
          </a:xfrm>
          <a:prstGeom prst="roundRect">
            <a:avLst>
              <a:gd name="adj" fmla="val 9524"/>
            </a:avLst>
          </a:prstGeom>
          <a:solidFill>
            <a:srgbClr val="FFC72C"/>
          </a:solidFill>
          <a:ln w="12700">
            <a:miter lim="400000"/>
          </a:ln>
        </p:spPr>
        <p:txBody>
          <a:bodyPr lIns="45719" rIns="45719"/>
          <a:lstStyle/>
          <a:p>
            <a:pPr/>
          </a:p>
        </p:txBody>
      </p:sp>
      <p:sp>
        <p:nvSpPr>
          <p:cNvPr id="86" name="Text 6"/>
          <p:cNvSpPr txBox="1"/>
          <p:nvPr/>
        </p:nvSpPr>
        <p:spPr>
          <a:xfrm>
            <a:off x="2286000" y="5527039"/>
            <a:ext cx="7589519"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003168"/>
                </a:solidFill>
                <a:latin typeface="Cambria"/>
                <a:ea typeface="Cambria"/>
                <a:cs typeface="Cambria"/>
                <a:sym typeface="Cambria"/>
              </a:defRPr>
            </a:lvl1pPr>
          </a:lstStyle>
          <a:p>
            <a:pPr/>
            <a:r>
              <a:t>Rebuilding is faster than patching.</a:t>
            </a:r>
          </a:p>
        </p:txBody>
      </p:sp>
      <p:sp>
        <p:nvSpPr>
          <p:cNvPr id="87" name="Shape 7"/>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88" name="Text 8"/>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5</a:t>
            </a:r>
          </a:p>
        </p:txBody>
      </p:sp>
      <p:sp>
        <p:nvSpPr>
          <p:cNvPr id="89" name="Text 9"/>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FFFFFF"/>
                </a:solidFill>
              </a:defRPr>
            </a:lvl1pPr>
          </a:lstStyle>
          <a:p>
            <a:pPr/>
            <a:r>
              <a:t>/ 13</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94" name="Text 1"/>
          <p:cNvSpPr txBox="1"/>
          <p:nvPr/>
        </p:nvSpPr>
        <p:spPr>
          <a:xfrm>
            <a:off x="640080" y="999489"/>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The whole system feels 2005.</a:t>
            </a:r>
          </a:p>
        </p:txBody>
      </p:sp>
      <p:sp>
        <p:nvSpPr>
          <p:cNvPr id="95" name="Text 2"/>
          <p:cNvSpPr txBox="1"/>
          <p:nvPr/>
        </p:nvSpPr>
        <p:spPr>
          <a:xfrm>
            <a:off x="640080" y="1724223"/>
            <a:ext cx="10972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6B7280"/>
                </a:solidFill>
              </a:defRPr>
            </a:lvl1pPr>
          </a:lstStyle>
          <a:p>
            <a:pPr/>
            <a:r>
              <a:t>This is our authoring UI. It looks and behaves like this everywhere in the system.</a:t>
            </a:r>
          </a:p>
        </p:txBody>
      </p:sp>
      <p:sp>
        <p:nvSpPr>
          <p:cNvPr id="96" name="Text 5"/>
          <p:cNvSpPr txBox="1"/>
          <p:nvPr/>
        </p:nvSpPr>
        <p:spPr>
          <a:xfrm>
            <a:off x="640079" y="6123240"/>
            <a:ext cx="1090879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400">
                <a:solidFill>
                  <a:srgbClr val="003168"/>
                </a:solidFill>
              </a:defRPr>
            </a:lvl1pPr>
          </a:lstStyle>
          <a:p>
            <a:pPr/>
            <a:r>
              <a:t>When the authoring tooling looks like this, it's not one bad screen. It's the tell for the whole system.</a:t>
            </a:r>
          </a:p>
        </p:txBody>
      </p:sp>
      <p:sp>
        <p:nvSpPr>
          <p:cNvPr id="97" name="Shape 6"/>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98" name="Text 7"/>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6</a:t>
            </a:r>
          </a:p>
        </p:txBody>
      </p:sp>
      <p:sp>
        <p:nvSpPr>
          <p:cNvPr id="99" name="Text 8"/>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pic>
        <p:nvPicPr>
          <p:cNvPr id="100" name="Screenshot 2026-09-22 at 12.46.27 PM.png" descr="Screenshot 2026-09-22 at 12.46.27 PM.png"/>
          <p:cNvPicPr>
            <a:picLocks noChangeAspect="1"/>
          </p:cNvPicPr>
          <p:nvPr/>
        </p:nvPicPr>
        <p:blipFill>
          <a:blip r:embed="rId3">
            <a:extLst/>
          </a:blip>
          <a:stretch>
            <a:fillRect/>
          </a:stretch>
        </p:blipFill>
        <p:spPr>
          <a:xfrm>
            <a:off x="5171489" y="2298675"/>
            <a:ext cx="1818542" cy="3540809"/>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4"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105" name="Text 1"/>
          <p:cNvSpPr txBox="1"/>
          <p:nvPr/>
        </p:nvSpPr>
        <p:spPr>
          <a:xfrm>
            <a:off x="640080" y="1005840"/>
            <a:ext cx="10972801"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003168"/>
                </a:solidFill>
                <a:latin typeface="Cambria"/>
                <a:ea typeface="Cambria"/>
                <a:cs typeface="Cambria"/>
                <a:sym typeface="Cambria"/>
              </a:defRPr>
            </a:lvl1pPr>
          </a:lstStyle>
          <a:p>
            <a:pPr/>
            <a:r>
              <a:t>Patterns that hinder forward thinking</a:t>
            </a:r>
          </a:p>
        </p:txBody>
      </p:sp>
      <p:sp>
        <p:nvSpPr>
          <p:cNvPr id="106" name="Shape 2"/>
          <p:cNvSpPr/>
          <p:nvPr/>
        </p:nvSpPr>
        <p:spPr>
          <a:xfrm>
            <a:off x="640079" y="1828800"/>
            <a:ext cx="5394962" cy="2148840"/>
          </a:xfrm>
          <a:prstGeom prst="rect">
            <a:avLst/>
          </a:prstGeom>
          <a:solidFill>
            <a:srgbClr val="F9FAFB"/>
          </a:solidFill>
          <a:ln w="12700">
            <a:solidFill>
              <a:srgbClr val="E5E7EB"/>
            </a:solidFill>
          </a:ln>
        </p:spPr>
        <p:txBody>
          <a:bodyPr lIns="45719" rIns="45719"/>
          <a:lstStyle/>
          <a:p>
            <a:pPr/>
          </a:p>
        </p:txBody>
      </p:sp>
      <p:sp>
        <p:nvSpPr>
          <p:cNvPr id="107" name="Shape 3"/>
          <p:cNvSpPr/>
          <p:nvPr/>
        </p:nvSpPr>
        <p:spPr>
          <a:xfrm>
            <a:off x="914399" y="2103120"/>
            <a:ext cx="502922" cy="502921"/>
          </a:xfrm>
          <a:prstGeom prst="ellipse">
            <a:avLst/>
          </a:prstGeom>
          <a:solidFill>
            <a:srgbClr val="FFC72C"/>
          </a:solidFill>
          <a:ln w="12700">
            <a:miter lim="400000"/>
          </a:ln>
        </p:spPr>
        <p:txBody>
          <a:bodyPr lIns="45719" rIns="45719"/>
          <a:lstStyle/>
          <a:p>
            <a:pPr/>
          </a:p>
        </p:txBody>
      </p:sp>
      <p:sp>
        <p:nvSpPr>
          <p:cNvPr id="108" name="Text 4"/>
          <p:cNvSpPr txBox="1"/>
          <p:nvPr/>
        </p:nvSpPr>
        <p:spPr>
          <a:xfrm>
            <a:off x="914399" y="2233929"/>
            <a:ext cx="5029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1</a:t>
            </a:r>
          </a:p>
        </p:txBody>
      </p:sp>
      <p:sp>
        <p:nvSpPr>
          <p:cNvPr id="109" name="Text 5"/>
          <p:cNvSpPr txBox="1"/>
          <p:nvPr/>
        </p:nvSpPr>
        <p:spPr>
          <a:xfrm>
            <a:off x="1554479" y="222757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Architecture accretes.</a:t>
            </a:r>
          </a:p>
        </p:txBody>
      </p:sp>
      <p:sp>
        <p:nvSpPr>
          <p:cNvPr id="110" name="Text 6"/>
          <p:cNvSpPr txBox="1"/>
          <p:nvPr/>
        </p:nvSpPr>
        <p:spPr>
          <a:xfrm>
            <a:off x="914399" y="2743199"/>
            <a:ext cx="4846322"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When I got here, three carousel libraries were shipping in production: Owl, Bootstrap, Slick. I was asked to analyze it. I picked Slick because ~80% of instances were already on it.</a:t>
            </a:r>
          </a:p>
        </p:txBody>
      </p:sp>
      <p:sp>
        <p:nvSpPr>
          <p:cNvPr id="111" name="Shape 7"/>
          <p:cNvSpPr/>
          <p:nvPr/>
        </p:nvSpPr>
        <p:spPr>
          <a:xfrm>
            <a:off x="6172199" y="1828800"/>
            <a:ext cx="5394962" cy="2148840"/>
          </a:xfrm>
          <a:prstGeom prst="rect">
            <a:avLst/>
          </a:prstGeom>
          <a:solidFill>
            <a:srgbClr val="F9FAFB"/>
          </a:solidFill>
          <a:ln w="12700">
            <a:solidFill>
              <a:srgbClr val="E5E7EB"/>
            </a:solidFill>
          </a:ln>
        </p:spPr>
        <p:txBody>
          <a:bodyPr lIns="45719" rIns="45719"/>
          <a:lstStyle/>
          <a:p>
            <a:pPr/>
          </a:p>
        </p:txBody>
      </p:sp>
      <p:sp>
        <p:nvSpPr>
          <p:cNvPr id="112" name="Shape 8"/>
          <p:cNvSpPr/>
          <p:nvPr/>
        </p:nvSpPr>
        <p:spPr>
          <a:xfrm>
            <a:off x="6446520" y="2103120"/>
            <a:ext cx="502921" cy="502921"/>
          </a:xfrm>
          <a:prstGeom prst="ellipse">
            <a:avLst/>
          </a:prstGeom>
          <a:solidFill>
            <a:srgbClr val="FFC72C"/>
          </a:solidFill>
          <a:ln w="12700">
            <a:miter lim="400000"/>
          </a:ln>
        </p:spPr>
        <p:txBody>
          <a:bodyPr lIns="45719" rIns="45719"/>
          <a:lstStyle/>
          <a:p>
            <a:pPr/>
          </a:p>
        </p:txBody>
      </p:sp>
      <p:sp>
        <p:nvSpPr>
          <p:cNvPr id="113" name="Text 9"/>
          <p:cNvSpPr txBox="1"/>
          <p:nvPr/>
        </p:nvSpPr>
        <p:spPr>
          <a:xfrm>
            <a:off x="6446520" y="2233929"/>
            <a:ext cx="50292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2</a:t>
            </a:r>
          </a:p>
        </p:txBody>
      </p:sp>
      <p:sp>
        <p:nvSpPr>
          <p:cNvPr id="114" name="Text 10"/>
          <p:cNvSpPr txBox="1"/>
          <p:nvPr/>
        </p:nvSpPr>
        <p:spPr>
          <a:xfrm>
            <a:off x="7086599" y="222757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"Security" as a shutdown.</a:t>
            </a:r>
          </a:p>
        </p:txBody>
      </p:sp>
      <p:sp>
        <p:nvSpPr>
          <p:cNvPr id="115" name="Text 11"/>
          <p:cNvSpPr txBox="1"/>
          <p:nvPr/>
        </p:nvSpPr>
        <p:spPr>
          <a:xfrm>
            <a:off x="6446520" y="2743199"/>
            <a:ext cx="4846321" cy="537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I put a client-side CMS preview on the site - no server calls, no data leaving the browser, no API surface. It was called a "security risk." There isn't one that I'm aware of.</a:t>
            </a:r>
          </a:p>
        </p:txBody>
      </p:sp>
      <p:sp>
        <p:nvSpPr>
          <p:cNvPr id="116" name="Shape 12"/>
          <p:cNvSpPr/>
          <p:nvPr/>
        </p:nvSpPr>
        <p:spPr>
          <a:xfrm>
            <a:off x="640079" y="4160520"/>
            <a:ext cx="5394962" cy="2148841"/>
          </a:xfrm>
          <a:prstGeom prst="rect">
            <a:avLst/>
          </a:prstGeom>
          <a:solidFill>
            <a:srgbClr val="F9FAFB"/>
          </a:solidFill>
          <a:ln w="12700">
            <a:solidFill>
              <a:srgbClr val="E5E7EB"/>
            </a:solidFill>
          </a:ln>
        </p:spPr>
        <p:txBody>
          <a:bodyPr lIns="45719" rIns="45719"/>
          <a:lstStyle/>
          <a:p>
            <a:pPr/>
          </a:p>
        </p:txBody>
      </p:sp>
      <p:sp>
        <p:nvSpPr>
          <p:cNvPr id="117" name="Shape 13"/>
          <p:cNvSpPr/>
          <p:nvPr/>
        </p:nvSpPr>
        <p:spPr>
          <a:xfrm>
            <a:off x="914399" y="4434840"/>
            <a:ext cx="502922" cy="502921"/>
          </a:xfrm>
          <a:prstGeom prst="ellipse">
            <a:avLst/>
          </a:prstGeom>
          <a:solidFill>
            <a:srgbClr val="FFC72C"/>
          </a:solidFill>
          <a:ln w="12700">
            <a:miter lim="400000"/>
          </a:ln>
        </p:spPr>
        <p:txBody>
          <a:bodyPr lIns="45719" rIns="45719"/>
          <a:lstStyle/>
          <a:p>
            <a:pPr/>
          </a:p>
        </p:txBody>
      </p:sp>
      <p:sp>
        <p:nvSpPr>
          <p:cNvPr id="118" name="Text 14"/>
          <p:cNvSpPr txBox="1"/>
          <p:nvPr/>
        </p:nvSpPr>
        <p:spPr>
          <a:xfrm>
            <a:off x="914399" y="4565649"/>
            <a:ext cx="5029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3</a:t>
            </a:r>
          </a:p>
        </p:txBody>
      </p:sp>
      <p:sp>
        <p:nvSpPr>
          <p:cNvPr id="119" name="Text 15"/>
          <p:cNvSpPr txBox="1"/>
          <p:nvPr/>
        </p:nvSpPr>
        <p:spPr>
          <a:xfrm>
            <a:off x="1554479" y="455929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Everything looks back, not forward.</a:t>
            </a:r>
          </a:p>
        </p:txBody>
      </p:sp>
      <p:sp>
        <p:nvSpPr>
          <p:cNvPr id="120" name="Text 16"/>
          <p:cNvSpPr txBox="1"/>
          <p:nvPr/>
        </p:nvSpPr>
        <p:spPr>
          <a:xfrm>
            <a:off x="914399" y="5074920"/>
            <a:ext cx="484632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Retros focus on what broke. Roadmaps focus on catching up. Nobody's asking what a great product would look like.</a:t>
            </a:r>
          </a:p>
        </p:txBody>
      </p:sp>
      <p:sp>
        <p:nvSpPr>
          <p:cNvPr id="121" name="Shape 17"/>
          <p:cNvSpPr/>
          <p:nvPr/>
        </p:nvSpPr>
        <p:spPr>
          <a:xfrm>
            <a:off x="6172199" y="4160520"/>
            <a:ext cx="5394962" cy="2148841"/>
          </a:xfrm>
          <a:prstGeom prst="rect">
            <a:avLst/>
          </a:prstGeom>
          <a:solidFill>
            <a:srgbClr val="F9FAFB"/>
          </a:solidFill>
          <a:ln w="12700">
            <a:solidFill>
              <a:srgbClr val="E5E7EB"/>
            </a:solidFill>
          </a:ln>
        </p:spPr>
        <p:txBody>
          <a:bodyPr lIns="45719" rIns="45719"/>
          <a:lstStyle/>
          <a:p>
            <a:pPr/>
          </a:p>
        </p:txBody>
      </p:sp>
      <p:sp>
        <p:nvSpPr>
          <p:cNvPr id="122" name="Shape 18"/>
          <p:cNvSpPr/>
          <p:nvPr/>
        </p:nvSpPr>
        <p:spPr>
          <a:xfrm>
            <a:off x="6446520" y="4434840"/>
            <a:ext cx="502921" cy="502921"/>
          </a:xfrm>
          <a:prstGeom prst="ellipse">
            <a:avLst/>
          </a:prstGeom>
          <a:solidFill>
            <a:srgbClr val="FFC72C"/>
          </a:solidFill>
          <a:ln w="12700">
            <a:miter lim="400000"/>
          </a:ln>
        </p:spPr>
        <p:txBody>
          <a:bodyPr lIns="45719" rIns="45719"/>
          <a:lstStyle/>
          <a:p>
            <a:pPr/>
          </a:p>
        </p:txBody>
      </p:sp>
      <p:sp>
        <p:nvSpPr>
          <p:cNvPr id="123" name="Text 19"/>
          <p:cNvSpPr txBox="1"/>
          <p:nvPr/>
        </p:nvSpPr>
        <p:spPr>
          <a:xfrm>
            <a:off x="6446520" y="4565649"/>
            <a:ext cx="50292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4</a:t>
            </a:r>
          </a:p>
        </p:txBody>
      </p:sp>
      <p:sp>
        <p:nvSpPr>
          <p:cNvPr id="124" name="Text 20"/>
          <p:cNvSpPr txBox="1"/>
          <p:nvPr/>
        </p:nvSpPr>
        <p:spPr>
          <a:xfrm>
            <a:off x="7086599" y="455929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Passivity as the safe posture.</a:t>
            </a:r>
          </a:p>
        </p:txBody>
      </p:sp>
      <p:sp>
        <p:nvSpPr>
          <p:cNvPr id="125" name="Text 21"/>
          <p:cNvSpPr txBox="1"/>
          <p:nvPr/>
        </p:nvSpPr>
        <p:spPr>
          <a:xfrm>
            <a:off x="6446520" y="5074920"/>
            <a:ext cx="4846321"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When errors get punished and initiative gets shut down, waiting to be told is the rational move. The culture reproduces itself.</a:t>
            </a:r>
          </a:p>
        </p:txBody>
      </p:sp>
      <p:sp>
        <p:nvSpPr>
          <p:cNvPr id="126" name="Shape 22"/>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127" name="Text 23"/>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7</a:t>
            </a:r>
          </a:p>
        </p:txBody>
      </p:sp>
      <p:sp>
        <p:nvSpPr>
          <p:cNvPr id="128" name="Text 24"/>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133" name="Text 1"/>
          <p:cNvSpPr txBox="1"/>
          <p:nvPr/>
        </p:nvSpPr>
        <p:spPr>
          <a:xfrm>
            <a:off x="640080" y="1005840"/>
            <a:ext cx="10972801"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003168"/>
                </a:solidFill>
                <a:latin typeface="Cambria"/>
                <a:ea typeface="Cambria"/>
                <a:cs typeface="Cambria"/>
                <a:sym typeface="Cambria"/>
              </a:defRPr>
            </a:lvl1pPr>
          </a:lstStyle>
          <a:p>
            <a:pPr/>
            <a:r>
              <a:t>…and in the tech itself</a:t>
            </a:r>
          </a:p>
        </p:txBody>
      </p:sp>
      <p:sp>
        <p:nvSpPr>
          <p:cNvPr id="134" name="Shape 2"/>
          <p:cNvSpPr/>
          <p:nvPr/>
        </p:nvSpPr>
        <p:spPr>
          <a:xfrm>
            <a:off x="640079" y="1828800"/>
            <a:ext cx="5394962" cy="2148840"/>
          </a:xfrm>
          <a:prstGeom prst="rect">
            <a:avLst/>
          </a:prstGeom>
          <a:solidFill>
            <a:srgbClr val="F9FAFB"/>
          </a:solidFill>
          <a:ln w="12700">
            <a:solidFill>
              <a:srgbClr val="E5E7EB"/>
            </a:solidFill>
          </a:ln>
        </p:spPr>
        <p:txBody>
          <a:bodyPr lIns="45719" rIns="45719"/>
          <a:lstStyle/>
          <a:p>
            <a:pPr/>
          </a:p>
        </p:txBody>
      </p:sp>
      <p:sp>
        <p:nvSpPr>
          <p:cNvPr id="135" name="Shape 3"/>
          <p:cNvSpPr/>
          <p:nvPr/>
        </p:nvSpPr>
        <p:spPr>
          <a:xfrm>
            <a:off x="914399" y="2103120"/>
            <a:ext cx="502922" cy="502921"/>
          </a:xfrm>
          <a:prstGeom prst="ellipse">
            <a:avLst/>
          </a:prstGeom>
          <a:solidFill>
            <a:srgbClr val="FFC72C"/>
          </a:solidFill>
          <a:ln w="12700">
            <a:miter lim="400000"/>
          </a:ln>
        </p:spPr>
        <p:txBody>
          <a:bodyPr lIns="45719" rIns="45719"/>
          <a:lstStyle/>
          <a:p>
            <a:pPr/>
          </a:p>
        </p:txBody>
      </p:sp>
      <p:sp>
        <p:nvSpPr>
          <p:cNvPr id="136" name="Text 4"/>
          <p:cNvSpPr txBox="1"/>
          <p:nvPr/>
        </p:nvSpPr>
        <p:spPr>
          <a:xfrm>
            <a:off x="914399" y="2233929"/>
            <a:ext cx="5029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5</a:t>
            </a:r>
          </a:p>
        </p:txBody>
      </p:sp>
      <p:sp>
        <p:nvSpPr>
          <p:cNvPr id="137" name="Text 5"/>
          <p:cNvSpPr txBox="1"/>
          <p:nvPr/>
        </p:nvSpPr>
        <p:spPr>
          <a:xfrm>
            <a:off x="1554479" y="222757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Override-first authoring.</a:t>
            </a:r>
          </a:p>
        </p:txBody>
      </p:sp>
      <p:sp>
        <p:nvSpPr>
          <p:cNvPr id="138" name="Text 6"/>
          <p:cNvSpPr txBox="1"/>
          <p:nvPr/>
        </p:nvSpPr>
        <p:spPr>
          <a:xfrm>
            <a:off x="914399" y="2743199"/>
            <a:ext cx="484632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New pages, new components, new variations - shipped as overrides on top of existing code rather than composed from a system.</a:t>
            </a:r>
          </a:p>
        </p:txBody>
      </p:sp>
      <p:sp>
        <p:nvSpPr>
          <p:cNvPr id="139" name="Shape 7"/>
          <p:cNvSpPr/>
          <p:nvPr/>
        </p:nvSpPr>
        <p:spPr>
          <a:xfrm>
            <a:off x="6172199" y="1828800"/>
            <a:ext cx="5394962" cy="2148840"/>
          </a:xfrm>
          <a:prstGeom prst="rect">
            <a:avLst/>
          </a:prstGeom>
          <a:solidFill>
            <a:srgbClr val="F9FAFB"/>
          </a:solidFill>
          <a:ln w="12700">
            <a:solidFill>
              <a:srgbClr val="E5E7EB"/>
            </a:solidFill>
          </a:ln>
        </p:spPr>
        <p:txBody>
          <a:bodyPr lIns="45719" rIns="45719"/>
          <a:lstStyle/>
          <a:p>
            <a:pPr/>
          </a:p>
        </p:txBody>
      </p:sp>
      <p:sp>
        <p:nvSpPr>
          <p:cNvPr id="140" name="Shape 8"/>
          <p:cNvSpPr/>
          <p:nvPr/>
        </p:nvSpPr>
        <p:spPr>
          <a:xfrm>
            <a:off x="6446520" y="2103120"/>
            <a:ext cx="502921" cy="502921"/>
          </a:xfrm>
          <a:prstGeom prst="ellipse">
            <a:avLst/>
          </a:prstGeom>
          <a:solidFill>
            <a:srgbClr val="FFC72C"/>
          </a:solidFill>
          <a:ln w="12700">
            <a:miter lim="400000"/>
          </a:ln>
        </p:spPr>
        <p:txBody>
          <a:bodyPr lIns="45719" rIns="45719"/>
          <a:lstStyle/>
          <a:p>
            <a:pPr/>
          </a:p>
        </p:txBody>
      </p:sp>
      <p:sp>
        <p:nvSpPr>
          <p:cNvPr id="141" name="Text 9"/>
          <p:cNvSpPr txBox="1"/>
          <p:nvPr/>
        </p:nvSpPr>
        <p:spPr>
          <a:xfrm>
            <a:off x="6446520" y="2233929"/>
            <a:ext cx="50292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6</a:t>
            </a:r>
          </a:p>
        </p:txBody>
      </p:sp>
      <p:sp>
        <p:nvSpPr>
          <p:cNvPr id="142" name="Text 10"/>
          <p:cNvSpPr txBox="1"/>
          <p:nvPr/>
        </p:nvSpPr>
        <p:spPr>
          <a:xfrm>
            <a:off x="7086599" y="222757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No build pipeline.</a:t>
            </a:r>
          </a:p>
        </p:txBody>
      </p:sp>
      <p:sp>
        <p:nvSpPr>
          <p:cNvPr id="143" name="Text 11"/>
          <p:cNvSpPr txBox="1"/>
          <p:nvPr/>
        </p:nvSpPr>
        <p:spPr>
          <a:xfrm>
            <a:off x="6446520" y="2743199"/>
            <a:ext cx="484632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No npm, no Sass/Less compilation. Every override becomes a hardcoded patch, not a reusable pattern.</a:t>
            </a:r>
          </a:p>
        </p:txBody>
      </p:sp>
      <p:sp>
        <p:nvSpPr>
          <p:cNvPr id="144" name="Shape 12"/>
          <p:cNvSpPr/>
          <p:nvPr/>
        </p:nvSpPr>
        <p:spPr>
          <a:xfrm>
            <a:off x="640079" y="4160520"/>
            <a:ext cx="5394962" cy="2148841"/>
          </a:xfrm>
          <a:prstGeom prst="rect">
            <a:avLst/>
          </a:prstGeom>
          <a:solidFill>
            <a:srgbClr val="F9FAFB"/>
          </a:solidFill>
          <a:ln w="12700">
            <a:solidFill>
              <a:srgbClr val="E5E7EB"/>
            </a:solidFill>
          </a:ln>
        </p:spPr>
        <p:txBody>
          <a:bodyPr lIns="45719" rIns="45719"/>
          <a:lstStyle/>
          <a:p>
            <a:pPr/>
          </a:p>
        </p:txBody>
      </p:sp>
      <p:sp>
        <p:nvSpPr>
          <p:cNvPr id="145" name="Shape 13"/>
          <p:cNvSpPr/>
          <p:nvPr/>
        </p:nvSpPr>
        <p:spPr>
          <a:xfrm>
            <a:off x="914399" y="4434840"/>
            <a:ext cx="502922" cy="502921"/>
          </a:xfrm>
          <a:prstGeom prst="ellipse">
            <a:avLst/>
          </a:prstGeom>
          <a:solidFill>
            <a:srgbClr val="FFC72C"/>
          </a:solidFill>
          <a:ln w="12700">
            <a:miter lim="400000"/>
          </a:ln>
        </p:spPr>
        <p:txBody>
          <a:bodyPr lIns="45719" rIns="45719"/>
          <a:lstStyle/>
          <a:p>
            <a:pPr/>
          </a:p>
        </p:txBody>
      </p:sp>
      <p:sp>
        <p:nvSpPr>
          <p:cNvPr id="146" name="Text 14"/>
          <p:cNvSpPr txBox="1"/>
          <p:nvPr/>
        </p:nvSpPr>
        <p:spPr>
          <a:xfrm>
            <a:off x="914399" y="4565649"/>
            <a:ext cx="50292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7</a:t>
            </a:r>
          </a:p>
        </p:txBody>
      </p:sp>
      <p:sp>
        <p:nvSpPr>
          <p:cNvPr id="147" name="Text 15"/>
          <p:cNvSpPr txBox="1"/>
          <p:nvPr/>
        </p:nvSpPr>
        <p:spPr>
          <a:xfrm>
            <a:off x="1554479" y="455929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Asset bloat.</a:t>
            </a:r>
          </a:p>
        </p:txBody>
      </p:sp>
      <p:sp>
        <p:nvSpPr>
          <p:cNvPr id="148" name="Text 16"/>
          <p:cNvSpPr txBox="1"/>
          <p:nvPr/>
        </p:nvSpPr>
        <p:spPr>
          <a:xfrm>
            <a:off x="914399" y="5074920"/>
            <a:ext cx="4846322"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Pages ship JS, CSS, and fonts they don't use. Every page pays the tax of every other page's dependencies.</a:t>
            </a:r>
          </a:p>
        </p:txBody>
      </p:sp>
      <p:sp>
        <p:nvSpPr>
          <p:cNvPr id="149" name="Shape 17"/>
          <p:cNvSpPr/>
          <p:nvPr/>
        </p:nvSpPr>
        <p:spPr>
          <a:xfrm>
            <a:off x="6172199" y="4160520"/>
            <a:ext cx="5394962" cy="2148841"/>
          </a:xfrm>
          <a:prstGeom prst="rect">
            <a:avLst/>
          </a:prstGeom>
          <a:solidFill>
            <a:srgbClr val="F9FAFB"/>
          </a:solidFill>
          <a:ln w="12700">
            <a:solidFill>
              <a:srgbClr val="E5E7EB"/>
            </a:solidFill>
          </a:ln>
        </p:spPr>
        <p:txBody>
          <a:bodyPr lIns="45719" rIns="45719"/>
          <a:lstStyle/>
          <a:p>
            <a:pPr/>
          </a:p>
        </p:txBody>
      </p:sp>
      <p:sp>
        <p:nvSpPr>
          <p:cNvPr id="150" name="Shape 18"/>
          <p:cNvSpPr/>
          <p:nvPr/>
        </p:nvSpPr>
        <p:spPr>
          <a:xfrm>
            <a:off x="6446520" y="4434840"/>
            <a:ext cx="502921" cy="502921"/>
          </a:xfrm>
          <a:prstGeom prst="ellipse">
            <a:avLst/>
          </a:prstGeom>
          <a:solidFill>
            <a:srgbClr val="FFC72C"/>
          </a:solidFill>
          <a:ln w="12700">
            <a:miter lim="400000"/>
          </a:ln>
        </p:spPr>
        <p:txBody>
          <a:bodyPr lIns="45719" rIns="45719"/>
          <a:lstStyle/>
          <a:p>
            <a:pPr/>
          </a:p>
        </p:txBody>
      </p:sp>
      <p:sp>
        <p:nvSpPr>
          <p:cNvPr id="151" name="Text 19"/>
          <p:cNvSpPr txBox="1"/>
          <p:nvPr/>
        </p:nvSpPr>
        <p:spPr>
          <a:xfrm>
            <a:off x="6446520" y="4565649"/>
            <a:ext cx="502920"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003168"/>
                </a:solidFill>
                <a:latin typeface="Cambria"/>
                <a:ea typeface="Cambria"/>
                <a:cs typeface="Cambria"/>
                <a:sym typeface="Cambria"/>
              </a:defRPr>
            </a:lvl1pPr>
          </a:lstStyle>
          <a:p>
            <a:pPr/>
            <a:r>
              <a:t>8</a:t>
            </a:r>
          </a:p>
        </p:txBody>
      </p:sp>
      <p:sp>
        <p:nvSpPr>
          <p:cNvPr id="152" name="Text 20"/>
          <p:cNvSpPr txBox="1"/>
          <p:nvPr/>
        </p:nvSpPr>
        <p:spPr>
          <a:xfrm>
            <a:off x="7086599" y="4559299"/>
            <a:ext cx="420624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003168"/>
                </a:solidFill>
                <a:latin typeface="Cambria"/>
                <a:ea typeface="Cambria"/>
                <a:cs typeface="Cambria"/>
                <a:sym typeface="Cambria"/>
              </a:defRPr>
            </a:lvl1pPr>
          </a:lstStyle>
          <a:p>
            <a:pPr/>
            <a:r>
              <a:t>Feedback loops on every change.</a:t>
            </a:r>
          </a:p>
        </p:txBody>
      </p:sp>
      <p:sp>
        <p:nvSpPr>
          <p:cNvPr id="153" name="Text 21"/>
          <p:cNvSpPr txBox="1"/>
          <p:nvPr/>
        </p:nvSpPr>
        <p:spPr>
          <a:xfrm>
            <a:off x="6446520" y="5074920"/>
            <a:ext cx="4846321"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spcBef>
                <a:spcPts val="300"/>
              </a:spcBef>
              <a:defRPr sz="1200">
                <a:solidFill>
                  <a:srgbClr val="1A1A1A"/>
                </a:solidFill>
              </a:defRPr>
            </a:lvl1pPr>
          </a:lstStyle>
          <a:p>
            <a:pPr/>
            <a:r>
              <a:t>Remove, replace, check SEO, re-check, sign off. One change becomes 3–4 rounds.</a:t>
            </a:r>
          </a:p>
        </p:txBody>
      </p:sp>
      <p:sp>
        <p:nvSpPr>
          <p:cNvPr id="154" name="Shape 22"/>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155" name="Text 23"/>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8</a:t>
            </a:r>
          </a:p>
        </p:txBody>
      </p:sp>
      <p:sp>
        <p:nvSpPr>
          <p:cNvPr id="156" name="Text 24"/>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161" name="Text 1"/>
          <p:cNvSpPr txBox="1"/>
          <p:nvPr/>
        </p:nvSpPr>
        <p:spPr>
          <a:xfrm>
            <a:off x="640080" y="999489"/>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No build. No bundling.</a:t>
            </a:r>
          </a:p>
        </p:txBody>
      </p:sp>
      <p:sp>
        <p:nvSpPr>
          <p:cNvPr id="162" name="Text 2"/>
          <p:cNvSpPr txBox="1"/>
          <p:nvPr/>
        </p:nvSpPr>
        <p:spPr>
          <a:xfrm>
            <a:off x="640080" y="1724223"/>
            <a:ext cx="10972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6B7280"/>
                </a:solidFill>
              </a:defRPr>
            </a:lvl1pPr>
          </a:lstStyle>
          <a:p>
            <a:pPr/>
            <a:r>
              <a:t>Every component ships its own CSS and JS file, loaded individually in the page head.</a:t>
            </a:r>
          </a:p>
        </p:txBody>
      </p:sp>
      <p:sp>
        <p:nvSpPr>
          <p:cNvPr id="163" name="Text 4"/>
          <p:cNvSpPr txBox="1"/>
          <p:nvPr/>
        </p:nvSpPr>
        <p:spPr>
          <a:xfrm>
            <a:off x="1371600" y="3491537"/>
            <a:ext cx="9418320" cy="1109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i="1" sz="1200">
                <a:solidFill>
                  <a:srgbClr val="6B7280"/>
                </a:solidFill>
              </a:defRPr>
            </a:pPr>
            <a:r>
              <a:t>SCREENSHOT PLACEHOLDER</a:t>
            </a:r>
          </a:p>
          <a:p>
            <a:pPr algn="ctr">
              <a:defRPr sz="1200"/>
            </a:pPr>
          </a:p>
          <a:p>
            <a:pPr algn="ctr">
              <a:defRPr i="1" sz="1200">
                <a:solidFill>
                  <a:srgbClr val="6B7280"/>
                </a:solidFill>
              </a:defRPr>
            </a:pPr>
            <a:r>
              <a:t>page head loading 12+ standalone CSS files</a:t>
            </a:r>
          </a:p>
          <a:p>
            <a:pPr algn="ctr">
              <a:defRPr i="1" sz="1200">
                <a:solidFill>
                  <a:srgbClr val="6B7280"/>
                </a:solidFill>
              </a:defRPr>
            </a:pPr>
            <a:r>
              <a:t>+ 8+ standalone JS files</a:t>
            </a:r>
          </a:p>
          <a:p>
            <a:pPr algn="ctr">
              <a:defRPr sz="1200"/>
            </a:pPr>
          </a:p>
          <a:p>
            <a:pPr algn="ctr">
              <a:defRPr i="1" sz="1200">
                <a:solidFill>
                  <a:srgbClr val="6B7280"/>
                </a:solidFill>
              </a:defRPr>
            </a:pPr>
            <a:r>
              <a:t>(paste image here in PowerPoint)</a:t>
            </a:r>
          </a:p>
        </p:txBody>
      </p:sp>
      <p:sp>
        <p:nvSpPr>
          <p:cNvPr id="164" name="Text 5"/>
          <p:cNvSpPr txBox="1"/>
          <p:nvPr/>
        </p:nvSpPr>
        <p:spPr>
          <a:xfrm>
            <a:off x="640079" y="6100380"/>
            <a:ext cx="10908794"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400">
                <a:solidFill>
                  <a:srgbClr val="003168"/>
                </a:solidFill>
              </a:defRPr>
            </a:lvl1pPr>
          </a:lstStyle>
          <a:p>
            <a:pPr/>
            <a:r>
              <a:t>Modern shops ship one main.css and one bundle.js, built through npm. We ship every file individually.</a:t>
            </a:r>
          </a:p>
        </p:txBody>
      </p:sp>
      <p:sp>
        <p:nvSpPr>
          <p:cNvPr id="165" name="Shape 6"/>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166" name="Text 7"/>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9</a:t>
            </a:r>
          </a:p>
        </p:txBody>
      </p:sp>
      <p:sp>
        <p:nvSpPr>
          <p:cNvPr id="167" name="Text 8"/>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pic>
        <p:nvPicPr>
          <p:cNvPr id="168" name="Screenshot 2026-09-22 at 12.47.26 PM.png" descr="Screenshot 2026-09-22 at 12.47.26 PM.png"/>
          <p:cNvPicPr>
            <a:picLocks noChangeAspect="1"/>
          </p:cNvPicPr>
          <p:nvPr/>
        </p:nvPicPr>
        <p:blipFill>
          <a:blip r:embed="rId3">
            <a:extLst/>
          </a:blip>
          <a:stretch>
            <a:fillRect/>
          </a:stretch>
        </p:blipFill>
        <p:spPr>
          <a:xfrm>
            <a:off x="1315190" y="2216859"/>
            <a:ext cx="6280775" cy="3668013"/>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173" name="Text 1"/>
          <p:cNvSpPr txBox="1"/>
          <p:nvPr/>
        </p:nvSpPr>
        <p:spPr>
          <a:xfrm>
            <a:off x="640080" y="999489"/>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The compounding cost</a:t>
            </a:r>
          </a:p>
        </p:txBody>
      </p:sp>
      <p:sp>
        <p:nvSpPr>
          <p:cNvPr id="174" name="Text 2"/>
          <p:cNvSpPr txBox="1"/>
          <p:nvPr/>
        </p:nvSpPr>
        <p:spPr>
          <a:xfrm>
            <a:off x="640080" y="1723390"/>
            <a:ext cx="10972801"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600">
                <a:solidFill>
                  <a:srgbClr val="6B7280"/>
                </a:solidFill>
                <a:latin typeface="Cambria"/>
                <a:ea typeface="Cambria"/>
                <a:cs typeface="Cambria"/>
                <a:sym typeface="Cambria"/>
              </a:defRPr>
            </a:lvl1pPr>
          </a:lstStyle>
          <a:p>
            <a:pPr/>
            <a:r>
              <a:t>The patterns compound. That's the cost.</a:t>
            </a:r>
          </a:p>
        </p:txBody>
      </p:sp>
      <p:sp>
        <p:nvSpPr>
          <p:cNvPr id="175" name="Shape 3"/>
          <p:cNvSpPr/>
          <p:nvPr/>
        </p:nvSpPr>
        <p:spPr>
          <a:xfrm>
            <a:off x="640080" y="2606039"/>
            <a:ext cx="3017521" cy="502921"/>
          </a:xfrm>
          <a:prstGeom prst="roundRect">
            <a:avLst>
              <a:gd name="adj" fmla="val 50000"/>
            </a:avLst>
          </a:prstGeom>
          <a:solidFill>
            <a:srgbClr val="FFC72C"/>
          </a:solidFill>
          <a:ln w="12700">
            <a:miter lim="400000"/>
          </a:ln>
        </p:spPr>
        <p:txBody>
          <a:bodyPr lIns="45719" rIns="45719"/>
          <a:lstStyle/>
          <a:p>
            <a:pPr/>
          </a:p>
        </p:txBody>
      </p:sp>
      <p:sp>
        <p:nvSpPr>
          <p:cNvPr id="176" name="Text 4"/>
          <p:cNvSpPr txBox="1"/>
          <p:nvPr/>
        </p:nvSpPr>
        <p:spPr>
          <a:xfrm>
            <a:off x="640079" y="2762819"/>
            <a:ext cx="3017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03168"/>
                </a:solidFill>
              </a:defRPr>
            </a:lvl1pPr>
          </a:lstStyle>
          <a:p>
            <a:pPr/>
            <a:r>
              <a:t>Overrides pile up</a:t>
            </a:r>
          </a:p>
        </p:txBody>
      </p:sp>
      <p:sp>
        <p:nvSpPr>
          <p:cNvPr id="177" name="Text 5"/>
          <p:cNvSpPr txBox="1"/>
          <p:nvPr/>
        </p:nvSpPr>
        <p:spPr>
          <a:xfrm>
            <a:off x="3749040" y="2733128"/>
            <a:ext cx="45720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03168"/>
                </a:solidFill>
              </a:defRPr>
            </a:lvl1pPr>
          </a:lstStyle>
          <a:p>
            <a:pPr/>
            <a:r>
              <a:t>→</a:t>
            </a:r>
          </a:p>
        </p:txBody>
      </p:sp>
      <p:sp>
        <p:nvSpPr>
          <p:cNvPr id="178" name="Text 6"/>
          <p:cNvSpPr txBox="1"/>
          <p:nvPr/>
        </p:nvSpPr>
        <p:spPr>
          <a:xfrm>
            <a:off x="4297679" y="276422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A1A1A"/>
                </a:solidFill>
              </a:defRPr>
            </a:lvl1pPr>
          </a:lstStyle>
          <a:p>
            <a:pPr/>
            <a:r>
              <a:t>every change patches more code</a:t>
            </a:r>
          </a:p>
        </p:txBody>
      </p:sp>
      <p:sp>
        <p:nvSpPr>
          <p:cNvPr id="179" name="Shape 7"/>
          <p:cNvSpPr/>
          <p:nvPr/>
        </p:nvSpPr>
        <p:spPr>
          <a:xfrm>
            <a:off x="640080" y="3200400"/>
            <a:ext cx="3017521" cy="502920"/>
          </a:xfrm>
          <a:prstGeom prst="roundRect">
            <a:avLst>
              <a:gd name="adj" fmla="val 50000"/>
            </a:avLst>
          </a:prstGeom>
          <a:solidFill>
            <a:srgbClr val="FFC72C"/>
          </a:solidFill>
          <a:ln w="12700">
            <a:miter lim="400000"/>
          </a:ln>
        </p:spPr>
        <p:txBody>
          <a:bodyPr lIns="45719" rIns="45719"/>
          <a:lstStyle/>
          <a:p>
            <a:pPr/>
          </a:p>
        </p:txBody>
      </p:sp>
      <p:sp>
        <p:nvSpPr>
          <p:cNvPr id="180" name="Text 8"/>
          <p:cNvSpPr txBox="1"/>
          <p:nvPr/>
        </p:nvSpPr>
        <p:spPr>
          <a:xfrm>
            <a:off x="640079" y="3357180"/>
            <a:ext cx="3017522" cy="1893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03168"/>
                </a:solidFill>
              </a:defRPr>
            </a:lvl1pPr>
          </a:lstStyle>
          <a:p>
            <a:pPr/>
            <a:r>
              <a:t>No build</a:t>
            </a:r>
          </a:p>
        </p:txBody>
      </p:sp>
      <p:sp>
        <p:nvSpPr>
          <p:cNvPr id="181" name="Text 9"/>
          <p:cNvSpPr txBox="1"/>
          <p:nvPr/>
        </p:nvSpPr>
        <p:spPr>
          <a:xfrm>
            <a:off x="3749040" y="3327488"/>
            <a:ext cx="45720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03168"/>
                </a:solidFill>
              </a:defRPr>
            </a:lvl1pPr>
          </a:lstStyle>
          <a:p>
            <a:pPr/>
            <a:r>
              <a:t>→</a:t>
            </a:r>
          </a:p>
        </p:txBody>
      </p:sp>
      <p:sp>
        <p:nvSpPr>
          <p:cNvPr id="182" name="Text 10"/>
          <p:cNvSpPr txBox="1"/>
          <p:nvPr/>
        </p:nvSpPr>
        <p:spPr>
          <a:xfrm>
            <a:off x="4297679" y="335858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A1A1A"/>
                </a:solidFill>
              </a:defRPr>
            </a:lvl1pPr>
          </a:lstStyle>
          <a:p>
            <a:pPr/>
            <a:r>
              <a:t>every patch is manual</a:t>
            </a:r>
          </a:p>
        </p:txBody>
      </p:sp>
      <p:sp>
        <p:nvSpPr>
          <p:cNvPr id="183" name="Shape 11"/>
          <p:cNvSpPr/>
          <p:nvPr/>
        </p:nvSpPr>
        <p:spPr>
          <a:xfrm>
            <a:off x="640080" y="3794759"/>
            <a:ext cx="3017521" cy="502921"/>
          </a:xfrm>
          <a:prstGeom prst="roundRect">
            <a:avLst>
              <a:gd name="adj" fmla="val 50000"/>
            </a:avLst>
          </a:prstGeom>
          <a:solidFill>
            <a:srgbClr val="FFC72C"/>
          </a:solidFill>
          <a:ln w="12700">
            <a:miter lim="400000"/>
          </a:ln>
        </p:spPr>
        <p:txBody>
          <a:bodyPr lIns="45719" rIns="45719"/>
          <a:lstStyle/>
          <a:p>
            <a:pPr/>
          </a:p>
        </p:txBody>
      </p:sp>
      <p:sp>
        <p:nvSpPr>
          <p:cNvPr id="184" name="Text 12"/>
          <p:cNvSpPr txBox="1"/>
          <p:nvPr/>
        </p:nvSpPr>
        <p:spPr>
          <a:xfrm>
            <a:off x="640079" y="3951539"/>
            <a:ext cx="3017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03168"/>
                </a:solidFill>
              </a:defRPr>
            </a:lvl1pPr>
          </a:lstStyle>
          <a:p>
            <a:pPr/>
            <a:r>
              <a:t>Asset bloat</a:t>
            </a:r>
          </a:p>
        </p:txBody>
      </p:sp>
      <p:sp>
        <p:nvSpPr>
          <p:cNvPr id="185" name="Text 13"/>
          <p:cNvSpPr txBox="1"/>
          <p:nvPr/>
        </p:nvSpPr>
        <p:spPr>
          <a:xfrm>
            <a:off x="3749040" y="3921848"/>
            <a:ext cx="45720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03168"/>
                </a:solidFill>
              </a:defRPr>
            </a:lvl1pPr>
          </a:lstStyle>
          <a:p>
            <a:pPr/>
            <a:r>
              <a:t>→</a:t>
            </a:r>
          </a:p>
        </p:txBody>
      </p:sp>
      <p:sp>
        <p:nvSpPr>
          <p:cNvPr id="186" name="Text 14"/>
          <p:cNvSpPr txBox="1"/>
          <p:nvPr/>
        </p:nvSpPr>
        <p:spPr>
          <a:xfrm>
            <a:off x="4297679" y="395294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A1A1A"/>
                </a:solidFill>
              </a:defRPr>
            </a:lvl1pPr>
          </a:lstStyle>
          <a:p>
            <a:pPr/>
            <a:r>
              <a:t>every page is slower to build and to load</a:t>
            </a:r>
          </a:p>
        </p:txBody>
      </p:sp>
      <p:sp>
        <p:nvSpPr>
          <p:cNvPr id="187" name="Shape 15"/>
          <p:cNvSpPr/>
          <p:nvPr/>
        </p:nvSpPr>
        <p:spPr>
          <a:xfrm>
            <a:off x="640080" y="4389120"/>
            <a:ext cx="3017521" cy="502921"/>
          </a:xfrm>
          <a:prstGeom prst="roundRect">
            <a:avLst>
              <a:gd name="adj" fmla="val 50000"/>
            </a:avLst>
          </a:prstGeom>
          <a:solidFill>
            <a:srgbClr val="FFC72C"/>
          </a:solidFill>
          <a:ln w="12700">
            <a:miter lim="400000"/>
          </a:ln>
        </p:spPr>
        <p:txBody>
          <a:bodyPr lIns="45719" rIns="45719"/>
          <a:lstStyle/>
          <a:p>
            <a:pPr/>
          </a:p>
        </p:txBody>
      </p:sp>
      <p:sp>
        <p:nvSpPr>
          <p:cNvPr id="188" name="Text 16"/>
          <p:cNvSpPr txBox="1"/>
          <p:nvPr/>
        </p:nvSpPr>
        <p:spPr>
          <a:xfrm>
            <a:off x="640079" y="4545900"/>
            <a:ext cx="3017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03168"/>
                </a:solidFill>
              </a:defRPr>
            </a:lvl1pPr>
          </a:lstStyle>
          <a:p>
            <a:pPr/>
            <a:r>
              <a:t>Feedback loops</a:t>
            </a:r>
          </a:p>
        </p:txBody>
      </p:sp>
      <p:sp>
        <p:nvSpPr>
          <p:cNvPr id="189" name="Text 17"/>
          <p:cNvSpPr txBox="1"/>
          <p:nvPr/>
        </p:nvSpPr>
        <p:spPr>
          <a:xfrm>
            <a:off x="3749040" y="4516208"/>
            <a:ext cx="45720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03168"/>
                </a:solidFill>
              </a:defRPr>
            </a:lvl1pPr>
          </a:lstStyle>
          <a:p>
            <a:pPr/>
            <a:r>
              <a:t>→</a:t>
            </a:r>
          </a:p>
        </p:txBody>
      </p:sp>
      <p:sp>
        <p:nvSpPr>
          <p:cNvPr id="190" name="Text 18"/>
          <p:cNvSpPr txBox="1"/>
          <p:nvPr/>
        </p:nvSpPr>
        <p:spPr>
          <a:xfrm>
            <a:off x="4297679" y="454730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A1A1A"/>
                </a:solidFill>
              </a:defRPr>
            </a:lvl1pPr>
          </a:lstStyle>
          <a:p>
            <a:pPr/>
            <a:r>
              <a:t>every change waits on N approvals</a:t>
            </a:r>
          </a:p>
        </p:txBody>
      </p:sp>
      <p:sp>
        <p:nvSpPr>
          <p:cNvPr id="191" name="Shape 19"/>
          <p:cNvSpPr/>
          <p:nvPr/>
        </p:nvSpPr>
        <p:spPr>
          <a:xfrm>
            <a:off x="640080" y="4983479"/>
            <a:ext cx="3017521" cy="502921"/>
          </a:xfrm>
          <a:prstGeom prst="roundRect">
            <a:avLst>
              <a:gd name="adj" fmla="val 50000"/>
            </a:avLst>
          </a:prstGeom>
          <a:solidFill>
            <a:srgbClr val="FFC72C"/>
          </a:solidFill>
          <a:ln w="12700">
            <a:miter lim="400000"/>
          </a:ln>
        </p:spPr>
        <p:txBody>
          <a:bodyPr lIns="45719" rIns="45719"/>
          <a:lstStyle/>
          <a:p>
            <a:pPr/>
          </a:p>
        </p:txBody>
      </p:sp>
      <p:sp>
        <p:nvSpPr>
          <p:cNvPr id="192" name="Text 20"/>
          <p:cNvSpPr txBox="1"/>
          <p:nvPr/>
        </p:nvSpPr>
        <p:spPr>
          <a:xfrm>
            <a:off x="640079" y="5140259"/>
            <a:ext cx="301752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03168"/>
                </a:solidFill>
              </a:defRPr>
            </a:lvl1pPr>
          </a:lstStyle>
          <a:p>
            <a:pPr/>
            <a:r>
              <a:t>Fragility</a:t>
            </a:r>
          </a:p>
        </p:txBody>
      </p:sp>
      <p:sp>
        <p:nvSpPr>
          <p:cNvPr id="193" name="Text 21"/>
          <p:cNvSpPr txBox="1"/>
          <p:nvPr/>
        </p:nvSpPr>
        <p:spPr>
          <a:xfrm>
            <a:off x="3749040" y="5110568"/>
            <a:ext cx="457201" cy="24874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003168"/>
                </a:solidFill>
              </a:defRPr>
            </a:lvl1pPr>
          </a:lstStyle>
          <a:p>
            <a:pPr/>
            <a:r>
              <a:t>→</a:t>
            </a:r>
          </a:p>
        </p:txBody>
      </p:sp>
      <p:sp>
        <p:nvSpPr>
          <p:cNvPr id="194" name="Text 22"/>
          <p:cNvSpPr txBox="1"/>
          <p:nvPr/>
        </p:nvSpPr>
        <p:spPr>
          <a:xfrm>
            <a:off x="4297679" y="5141661"/>
            <a:ext cx="73152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1A1A1A"/>
                </a:solidFill>
              </a:defRPr>
            </a:lvl1pPr>
          </a:lstStyle>
          <a:p>
            <a:pPr/>
            <a:r>
              <a:t>every touch risks regression, which triggers more loops</a:t>
            </a:r>
          </a:p>
        </p:txBody>
      </p:sp>
      <p:sp>
        <p:nvSpPr>
          <p:cNvPr id="195" name="Shape 23"/>
          <p:cNvSpPr/>
          <p:nvPr/>
        </p:nvSpPr>
        <p:spPr>
          <a:xfrm>
            <a:off x="640079" y="5806440"/>
            <a:ext cx="10908794" cy="685801"/>
          </a:xfrm>
          <a:prstGeom prst="rect">
            <a:avLst/>
          </a:prstGeom>
          <a:solidFill>
            <a:srgbClr val="003168"/>
          </a:solidFill>
          <a:ln w="12700">
            <a:miter lim="400000"/>
          </a:ln>
        </p:spPr>
        <p:txBody>
          <a:bodyPr lIns="45719" rIns="45719"/>
          <a:lstStyle/>
          <a:p>
            <a:pPr/>
          </a:p>
        </p:txBody>
      </p:sp>
      <p:sp>
        <p:nvSpPr>
          <p:cNvPr id="196" name="Text 24"/>
          <p:cNvSpPr txBox="1"/>
          <p:nvPr/>
        </p:nvSpPr>
        <p:spPr>
          <a:xfrm>
            <a:off x="640079" y="6054660"/>
            <a:ext cx="10908794"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i="1" sz="1400">
                <a:solidFill>
                  <a:srgbClr val="FFFFFF"/>
                </a:solidFill>
              </a:defRPr>
            </a:lvl1pPr>
          </a:lstStyle>
          <a:p>
            <a:pPr/>
            <a:r>
              <a:t>This is why 10–15 people ship what 3–5 could. The inefficiency isn't a leak - it's a tax on every hour.</a:t>
            </a:r>
          </a:p>
        </p:txBody>
      </p:sp>
      <p:sp>
        <p:nvSpPr>
          <p:cNvPr id="197" name="Shape 25"/>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198" name="Text 26"/>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10</a:t>
            </a:r>
          </a:p>
        </p:txBody>
      </p:sp>
      <p:sp>
        <p:nvSpPr>
          <p:cNvPr id="199" name="Text 27"/>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204" name="Text 1"/>
          <p:cNvSpPr txBox="1"/>
          <p:nvPr/>
        </p:nvSpPr>
        <p:spPr>
          <a:xfrm>
            <a:off x="640080" y="1005840"/>
            <a:ext cx="10881360" cy="457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003168"/>
                </a:solidFill>
                <a:latin typeface="Cambria"/>
                <a:ea typeface="Cambria"/>
                <a:cs typeface="Cambria"/>
                <a:sym typeface="Cambria"/>
              </a:defRPr>
            </a:lvl1pPr>
          </a:lstStyle>
          <a:p>
            <a:pPr/>
            <a:r>
              <a:t>What modern looks like, given what we need</a:t>
            </a:r>
          </a:p>
        </p:txBody>
      </p:sp>
      <p:sp>
        <p:nvSpPr>
          <p:cNvPr id="205" name="Shape 2"/>
          <p:cNvSpPr/>
          <p:nvPr/>
        </p:nvSpPr>
        <p:spPr>
          <a:xfrm>
            <a:off x="609447" y="2103119"/>
            <a:ext cx="3566161" cy="3749042"/>
          </a:xfrm>
          <a:prstGeom prst="rect">
            <a:avLst/>
          </a:prstGeom>
          <a:solidFill>
            <a:srgbClr val="F9FAFB"/>
          </a:solidFill>
          <a:ln w="12700">
            <a:solidFill>
              <a:srgbClr val="E5E7EB"/>
            </a:solidFill>
          </a:ln>
        </p:spPr>
        <p:txBody>
          <a:bodyPr lIns="45719" rIns="45719"/>
          <a:lstStyle/>
          <a:p>
            <a:pPr/>
          </a:p>
        </p:txBody>
      </p:sp>
      <p:sp>
        <p:nvSpPr>
          <p:cNvPr id="206" name="Text 3"/>
          <p:cNvSpPr txBox="1"/>
          <p:nvPr/>
        </p:nvSpPr>
        <p:spPr>
          <a:xfrm>
            <a:off x="929487" y="2504747"/>
            <a:ext cx="29260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200">
                <a:solidFill>
                  <a:srgbClr val="003168"/>
                </a:solidFill>
              </a:defRPr>
            </a:lvl1pPr>
          </a:lstStyle>
          <a:p>
            <a:pPr/>
            <a:r>
              <a:t>Stays</a:t>
            </a:r>
          </a:p>
        </p:txBody>
      </p:sp>
      <p:sp>
        <p:nvSpPr>
          <p:cNvPr id="207" name="Shape 4"/>
          <p:cNvSpPr/>
          <p:nvPr/>
        </p:nvSpPr>
        <p:spPr>
          <a:xfrm>
            <a:off x="929487" y="2880360"/>
            <a:ext cx="2926082" cy="1"/>
          </a:xfrm>
          <a:prstGeom prst="line">
            <a:avLst/>
          </a:prstGeom>
          <a:ln w="25400">
            <a:solidFill>
              <a:srgbClr val="E5E7EB"/>
            </a:solidFill>
          </a:ln>
        </p:spPr>
        <p:txBody>
          <a:bodyPr lIns="45719" rIns="45719"/>
          <a:lstStyle/>
          <a:p>
            <a:pPr/>
          </a:p>
        </p:txBody>
      </p:sp>
      <p:sp>
        <p:nvSpPr>
          <p:cNvPr id="208" name="Text 5"/>
          <p:cNvSpPr txBox="1"/>
          <p:nvPr/>
        </p:nvSpPr>
        <p:spPr>
          <a:xfrm>
            <a:off x="929487" y="3063239"/>
            <a:ext cx="2926082" cy="725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300">
                <a:solidFill>
                  <a:srgbClr val="1A1A1A"/>
                </a:solidFill>
              </a:defRPr>
            </a:pPr>
            <a:r>
              <a:t>BEM components</a:t>
            </a:r>
          </a:p>
          <a:p>
            <a:pPr marL="342900" indent="-342900">
              <a:spcBef>
                <a:spcPts val="600"/>
              </a:spcBef>
              <a:buSzPct val="100000"/>
              <a:buChar char="●"/>
              <a:defRPr sz="1300">
                <a:solidFill>
                  <a:srgbClr val="1A1A1A"/>
                </a:solidFill>
              </a:defRPr>
            </a:pPr>
            <a:r>
              <a:t>Naming discipline</a:t>
            </a:r>
          </a:p>
          <a:p>
            <a:pPr marL="342900" indent="-342900">
              <a:spcBef>
                <a:spcPts val="600"/>
              </a:spcBef>
              <a:buSzPct val="100000"/>
              <a:buChar char="●"/>
              <a:defRPr sz="1300">
                <a:solidFill>
                  <a:srgbClr val="1A1A1A"/>
                </a:solidFill>
              </a:defRPr>
            </a:pPr>
            <a:r>
              <a:t>The work already built on top</a:t>
            </a:r>
          </a:p>
        </p:txBody>
      </p:sp>
      <p:sp>
        <p:nvSpPr>
          <p:cNvPr id="209" name="Shape 6"/>
          <p:cNvSpPr/>
          <p:nvPr/>
        </p:nvSpPr>
        <p:spPr>
          <a:xfrm>
            <a:off x="4312768" y="2103119"/>
            <a:ext cx="3566160" cy="3749042"/>
          </a:xfrm>
          <a:prstGeom prst="rect">
            <a:avLst/>
          </a:prstGeom>
          <a:solidFill>
            <a:srgbClr val="F9FAFB"/>
          </a:solidFill>
          <a:ln w="12700">
            <a:solidFill>
              <a:srgbClr val="E5E7EB"/>
            </a:solidFill>
          </a:ln>
        </p:spPr>
        <p:txBody>
          <a:bodyPr lIns="45719" rIns="45719"/>
          <a:lstStyle/>
          <a:p>
            <a:pPr/>
          </a:p>
        </p:txBody>
      </p:sp>
      <p:sp>
        <p:nvSpPr>
          <p:cNvPr id="210" name="Text 7"/>
          <p:cNvSpPr txBox="1"/>
          <p:nvPr/>
        </p:nvSpPr>
        <p:spPr>
          <a:xfrm>
            <a:off x="4632807" y="2504747"/>
            <a:ext cx="29260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200">
                <a:solidFill>
                  <a:srgbClr val="9CA3AF"/>
                </a:solidFill>
              </a:defRPr>
            </a:lvl1pPr>
          </a:lstStyle>
          <a:p>
            <a:pPr/>
            <a:r>
              <a:t>Goes</a:t>
            </a:r>
          </a:p>
        </p:txBody>
      </p:sp>
      <p:sp>
        <p:nvSpPr>
          <p:cNvPr id="211" name="Shape 8"/>
          <p:cNvSpPr/>
          <p:nvPr/>
        </p:nvSpPr>
        <p:spPr>
          <a:xfrm>
            <a:off x="4632807" y="2880360"/>
            <a:ext cx="2926081" cy="1"/>
          </a:xfrm>
          <a:prstGeom prst="line">
            <a:avLst/>
          </a:prstGeom>
          <a:ln w="25400">
            <a:solidFill>
              <a:srgbClr val="E5E7EB"/>
            </a:solidFill>
          </a:ln>
        </p:spPr>
        <p:txBody>
          <a:bodyPr lIns="45719" rIns="45719"/>
          <a:lstStyle/>
          <a:p>
            <a:pPr/>
          </a:p>
        </p:txBody>
      </p:sp>
      <p:sp>
        <p:nvSpPr>
          <p:cNvPr id="212" name="Text 9"/>
          <p:cNvSpPr txBox="1"/>
          <p:nvPr/>
        </p:nvSpPr>
        <p:spPr>
          <a:xfrm>
            <a:off x="4632807" y="3063239"/>
            <a:ext cx="2926081" cy="7255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300">
                <a:solidFill>
                  <a:srgbClr val="1A1A1A"/>
                </a:solidFill>
              </a:defRPr>
            </a:pPr>
            <a:r>
              <a:t>The un-maintained CMS layer</a:t>
            </a:r>
          </a:p>
          <a:p>
            <a:pPr marL="342900" indent="-342900">
              <a:spcBef>
                <a:spcPts val="600"/>
              </a:spcBef>
              <a:buSzPct val="100000"/>
              <a:buChar char="●"/>
              <a:defRPr sz="1300">
                <a:solidFill>
                  <a:srgbClr val="1A1A1A"/>
                </a:solidFill>
              </a:defRPr>
            </a:pPr>
            <a:r>
              <a:t>SFTP as deploy</a:t>
            </a:r>
          </a:p>
          <a:p>
            <a:pPr marL="342900" indent="-342900">
              <a:spcBef>
                <a:spcPts val="600"/>
              </a:spcBef>
              <a:buSzPct val="100000"/>
              <a:buChar char="●"/>
              <a:defRPr sz="1300">
                <a:solidFill>
                  <a:srgbClr val="1A1A1A"/>
                </a:solidFill>
              </a:defRPr>
            </a:pPr>
            <a:r>
              <a:t>Bootstrap as a load-bearing dep</a:t>
            </a:r>
          </a:p>
        </p:txBody>
      </p:sp>
      <p:sp>
        <p:nvSpPr>
          <p:cNvPr id="213" name="Shape 10"/>
          <p:cNvSpPr/>
          <p:nvPr/>
        </p:nvSpPr>
        <p:spPr>
          <a:xfrm>
            <a:off x="8016088" y="2103119"/>
            <a:ext cx="3566160" cy="3749042"/>
          </a:xfrm>
          <a:prstGeom prst="rect">
            <a:avLst/>
          </a:prstGeom>
          <a:solidFill>
            <a:srgbClr val="F9FAFB"/>
          </a:solidFill>
          <a:ln w="12700">
            <a:solidFill>
              <a:srgbClr val="E5E7EB"/>
            </a:solidFill>
          </a:ln>
        </p:spPr>
        <p:txBody>
          <a:bodyPr lIns="45719" rIns="45719"/>
          <a:lstStyle/>
          <a:p>
            <a:pPr/>
          </a:p>
        </p:txBody>
      </p:sp>
      <p:sp>
        <p:nvSpPr>
          <p:cNvPr id="214" name="Text 11"/>
          <p:cNvSpPr txBox="1"/>
          <p:nvPr/>
        </p:nvSpPr>
        <p:spPr>
          <a:xfrm>
            <a:off x="8336128" y="2504747"/>
            <a:ext cx="292608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600" sz="1200">
                <a:solidFill>
                  <a:srgbClr val="FFC72C"/>
                </a:solidFill>
              </a:defRPr>
            </a:lvl1pPr>
          </a:lstStyle>
          <a:p>
            <a:pPr/>
            <a:r>
              <a:t>Arrives</a:t>
            </a:r>
          </a:p>
        </p:txBody>
      </p:sp>
      <p:sp>
        <p:nvSpPr>
          <p:cNvPr id="215" name="Shape 12"/>
          <p:cNvSpPr/>
          <p:nvPr/>
        </p:nvSpPr>
        <p:spPr>
          <a:xfrm>
            <a:off x="8336128" y="2880360"/>
            <a:ext cx="2926081" cy="1"/>
          </a:xfrm>
          <a:prstGeom prst="line">
            <a:avLst/>
          </a:prstGeom>
          <a:ln w="25400">
            <a:solidFill>
              <a:srgbClr val="FFC72C"/>
            </a:solidFill>
          </a:ln>
        </p:spPr>
        <p:txBody>
          <a:bodyPr lIns="45719" rIns="45719"/>
          <a:lstStyle/>
          <a:p>
            <a:pPr/>
          </a:p>
        </p:txBody>
      </p:sp>
      <p:sp>
        <p:nvSpPr>
          <p:cNvPr id="216" name="Text 13"/>
          <p:cNvSpPr txBox="1"/>
          <p:nvPr/>
        </p:nvSpPr>
        <p:spPr>
          <a:xfrm>
            <a:off x="8336128" y="3063239"/>
            <a:ext cx="2926081" cy="209716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a:spcBef>
                <a:spcPts val="600"/>
              </a:spcBef>
              <a:buSzPct val="100000"/>
              <a:buChar char="●"/>
              <a:defRPr sz="1300">
                <a:solidFill>
                  <a:srgbClr val="1A1A1A"/>
                </a:solidFill>
              </a:defRPr>
            </a:pPr>
            <a:r>
              <a:t>Static-site generator (Next / Astro / Eleventy)</a:t>
            </a:r>
          </a:p>
          <a:p>
            <a:pPr marL="342900" indent="-342900">
              <a:spcBef>
                <a:spcPts val="600"/>
              </a:spcBef>
              <a:buSzPct val="100000"/>
              <a:buChar char="●"/>
              <a:defRPr sz="1300">
                <a:solidFill>
                  <a:srgbClr val="1A1A1A"/>
                </a:solidFill>
              </a:defRPr>
            </a:pPr>
            <a:r>
              <a:t>GitHub · PRs · preview on every commit</a:t>
            </a:r>
          </a:p>
          <a:p>
            <a:pPr marL="342900" indent="-342900">
              <a:spcBef>
                <a:spcPts val="600"/>
              </a:spcBef>
              <a:buSzPct val="100000"/>
              <a:buChar char="●"/>
              <a:defRPr sz="1300">
                <a:solidFill>
                  <a:srgbClr val="1A1A1A"/>
                </a:solidFill>
              </a:defRPr>
            </a:pPr>
            <a:r>
              <a:t>CI/CD with content-hashed asset builds</a:t>
            </a:r>
          </a:p>
          <a:p>
            <a:pPr marL="342900" indent="-342900">
              <a:spcBef>
                <a:spcPts val="600"/>
              </a:spcBef>
              <a:buSzPct val="100000"/>
              <a:buChar char="●"/>
              <a:defRPr sz="1300">
                <a:solidFill>
                  <a:srgbClr val="1A1A1A"/>
                </a:solidFill>
              </a:defRPr>
            </a:pPr>
            <a:r>
              <a:t>One-click rollback</a:t>
            </a:r>
          </a:p>
          <a:p>
            <a:pPr marL="342900" indent="-342900">
              <a:spcBef>
                <a:spcPts val="600"/>
              </a:spcBef>
              <a:buSzPct val="100000"/>
              <a:buChar char="●"/>
              <a:defRPr sz="1300">
                <a:solidFill>
                  <a:srgbClr val="1A1A1A"/>
                </a:solidFill>
              </a:defRPr>
            </a:pPr>
            <a:r>
              <a:t>A design system Marketing can pull on directly</a:t>
            </a:r>
          </a:p>
        </p:txBody>
      </p:sp>
      <p:sp>
        <p:nvSpPr>
          <p:cNvPr id="217" name="Text 14"/>
          <p:cNvSpPr txBox="1"/>
          <p:nvPr/>
        </p:nvSpPr>
        <p:spPr>
          <a:xfrm>
            <a:off x="640080" y="6180258"/>
            <a:ext cx="1088136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300">
                <a:solidFill>
                  <a:srgbClr val="6B7280"/>
                </a:solidFill>
              </a:defRPr>
            </a:lvl1pPr>
          </a:lstStyle>
          <a:p>
            <a:pPr/>
            <a:r>
              <a:t>Right-sized to the surface we actually have - and stronger on compliance, not weaker.</a:t>
            </a:r>
          </a:p>
        </p:txBody>
      </p:sp>
      <p:sp>
        <p:nvSpPr>
          <p:cNvPr id="218" name="Shape 15"/>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219" name="Text 16"/>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11</a:t>
            </a:r>
          </a:p>
        </p:txBody>
      </p:sp>
      <p:sp>
        <p:nvSpPr>
          <p:cNvPr id="220" name="Text 17"/>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003168"/>
                </a:solidFill>
              </a:defRPr>
            </a:lvl1pPr>
          </a:lstStyle>
          <a:p>
            <a:pPr/>
            <a:r>
              <a:t>RBCCM DIGITAL</a:t>
            </a:r>
          </a:p>
        </p:txBody>
      </p:sp>
      <p:sp>
        <p:nvSpPr>
          <p:cNvPr id="225" name="Text 1"/>
          <p:cNvSpPr txBox="1"/>
          <p:nvPr/>
        </p:nvSpPr>
        <p:spPr>
          <a:xfrm>
            <a:off x="640080" y="999489"/>
            <a:ext cx="10972801" cy="469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200">
                <a:solidFill>
                  <a:srgbClr val="003168"/>
                </a:solidFill>
                <a:latin typeface="Cambria"/>
                <a:ea typeface="Cambria"/>
                <a:cs typeface="Cambria"/>
                <a:sym typeface="Cambria"/>
              </a:defRPr>
            </a:lvl1pPr>
          </a:lstStyle>
          <a:p>
            <a:pPr/>
            <a:r>
              <a:t>About the CMS evaluation</a:t>
            </a:r>
          </a:p>
        </p:txBody>
      </p:sp>
      <p:sp>
        <p:nvSpPr>
          <p:cNvPr id="226" name="Text 2"/>
          <p:cNvSpPr txBox="1"/>
          <p:nvPr/>
        </p:nvSpPr>
        <p:spPr>
          <a:xfrm>
            <a:off x="640080" y="1724223"/>
            <a:ext cx="1097280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600">
                <a:solidFill>
                  <a:srgbClr val="6B7280"/>
                </a:solidFill>
              </a:defRPr>
            </a:lvl1pPr>
          </a:lstStyle>
          <a:p>
            <a:pPr/>
            <a:r>
              <a:t>Six platforms are on the table. All headless.</a:t>
            </a:r>
          </a:p>
        </p:txBody>
      </p:sp>
      <p:sp>
        <p:nvSpPr>
          <p:cNvPr id="227" name="Shape 3"/>
          <p:cNvSpPr/>
          <p:nvPr/>
        </p:nvSpPr>
        <p:spPr>
          <a:xfrm>
            <a:off x="883767" y="2331720"/>
            <a:ext cx="3383281" cy="685801"/>
          </a:xfrm>
          <a:prstGeom prst="roundRect">
            <a:avLst>
              <a:gd name="adj" fmla="val 50000"/>
            </a:avLst>
          </a:prstGeom>
          <a:solidFill>
            <a:srgbClr val="F9FAFB"/>
          </a:solidFill>
          <a:ln w="12700">
            <a:solidFill>
              <a:srgbClr val="E5E7EB"/>
            </a:solidFill>
          </a:ln>
        </p:spPr>
        <p:txBody>
          <a:bodyPr lIns="45719" rIns="45719"/>
          <a:lstStyle/>
          <a:p>
            <a:pPr/>
          </a:p>
        </p:txBody>
      </p:sp>
      <p:sp>
        <p:nvSpPr>
          <p:cNvPr id="228" name="Text 4"/>
          <p:cNvSpPr txBox="1"/>
          <p:nvPr/>
        </p:nvSpPr>
        <p:spPr>
          <a:xfrm>
            <a:off x="883767" y="257004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Storyblok</a:t>
            </a:r>
          </a:p>
        </p:txBody>
      </p:sp>
      <p:sp>
        <p:nvSpPr>
          <p:cNvPr id="229" name="Shape 5"/>
          <p:cNvSpPr/>
          <p:nvPr/>
        </p:nvSpPr>
        <p:spPr>
          <a:xfrm>
            <a:off x="4404207" y="2331720"/>
            <a:ext cx="3383281" cy="685801"/>
          </a:xfrm>
          <a:prstGeom prst="roundRect">
            <a:avLst>
              <a:gd name="adj" fmla="val 50000"/>
            </a:avLst>
          </a:prstGeom>
          <a:solidFill>
            <a:srgbClr val="FFC72C"/>
          </a:solidFill>
          <a:ln w="12700">
            <a:solidFill>
              <a:srgbClr val="FFC72C"/>
            </a:solidFill>
          </a:ln>
        </p:spPr>
        <p:txBody>
          <a:bodyPr lIns="45719" rIns="45719"/>
          <a:lstStyle/>
          <a:p>
            <a:pPr/>
          </a:p>
        </p:txBody>
      </p:sp>
      <p:sp>
        <p:nvSpPr>
          <p:cNvPr id="230" name="Text 6"/>
          <p:cNvSpPr txBox="1"/>
          <p:nvPr/>
        </p:nvSpPr>
        <p:spPr>
          <a:xfrm>
            <a:off x="4404207" y="257004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DotCMS</a:t>
            </a:r>
          </a:p>
        </p:txBody>
      </p:sp>
      <p:sp>
        <p:nvSpPr>
          <p:cNvPr id="231" name="Shape 7"/>
          <p:cNvSpPr/>
          <p:nvPr/>
        </p:nvSpPr>
        <p:spPr>
          <a:xfrm>
            <a:off x="7924648" y="2331720"/>
            <a:ext cx="3383280" cy="685801"/>
          </a:xfrm>
          <a:prstGeom prst="roundRect">
            <a:avLst>
              <a:gd name="adj" fmla="val 50000"/>
            </a:avLst>
          </a:prstGeom>
          <a:solidFill>
            <a:srgbClr val="FFC72C"/>
          </a:solidFill>
          <a:ln w="12700">
            <a:solidFill>
              <a:srgbClr val="FFC72C"/>
            </a:solidFill>
          </a:ln>
        </p:spPr>
        <p:txBody>
          <a:bodyPr lIns="45719" rIns="45719"/>
          <a:lstStyle/>
          <a:p>
            <a:pPr/>
          </a:p>
        </p:txBody>
      </p:sp>
      <p:sp>
        <p:nvSpPr>
          <p:cNvPr id="232" name="Text 8"/>
          <p:cNvSpPr txBox="1"/>
          <p:nvPr/>
        </p:nvSpPr>
        <p:spPr>
          <a:xfrm>
            <a:off x="7924648" y="257004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WordPress</a:t>
            </a:r>
          </a:p>
        </p:txBody>
      </p:sp>
      <p:sp>
        <p:nvSpPr>
          <p:cNvPr id="233" name="Shape 9"/>
          <p:cNvSpPr/>
          <p:nvPr/>
        </p:nvSpPr>
        <p:spPr>
          <a:xfrm>
            <a:off x="883767" y="3154679"/>
            <a:ext cx="3383281" cy="685801"/>
          </a:xfrm>
          <a:prstGeom prst="roundRect">
            <a:avLst>
              <a:gd name="adj" fmla="val 50000"/>
            </a:avLst>
          </a:prstGeom>
          <a:solidFill>
            <a:srgbClr val="FFC72C"/>
          </a:solidFill>
          <a:ln w="12700">
            <a:solidFill>
              <a:srgbClr val="FFC72C"/>
            </a:solidFill>
          </a:ln>
        </p:spPr>
        <p:txBody>
          <a:bodyPr lIns="45719" rIns="45719"/>
          <a:lstStyle/>
          <a:p>
            <a:pPr/>
          </a:p>
        </p:txBody>
      </p:sp>
      <p:sp>
        <p:nvSpPr>
          <p:cNvPr id="234" name="Text 10"/>
          <p:cNvSpPr txBox="1"/>
          <p:nvPr/>
        </p:nvSpPr>
        <p:spPr>
          <a:xfrm>
            <a:off x="883767" y="339300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AEM</a:t>
            </a:r>
          </a:p>
        </p:txBody>
      </p:sp>
      <p:sp>
        <p:nvSpPr>
          <p:cNvPr id="235" name="Shape 11"/>
          <p:cNvSpPr/>
          <p:nvPr/>
        </p:nvSpPr>
        <p:spPr>
          <a:xfrm>
            <a:off x="4404207" y="3154679"/>
            <a:ext cx="3383281" cy="685801"/>
          </a:xfrm>
          <a:prstGeom prst="roundRect">
            <a:avLst>
              <a:gd name="adj" fmla="val 50000"/>
            </a:avLst>
          </a:prstGeom>
          <a:solidFill>
            <a:srgbClr val="FFC72C"/>
          </a:solidFill>
          <a:ln w="12700">
            <a:solidFill>
              <a:srgbClr val="FFC72C"/>
            </a:solidFill>
          </a:ln>
        </p:spPr>
        <p:txBody>
          <a:bodyPr lIns="45719" rIns="45719"/>
          <a:lstStyle/>
          <a:p>
            <a:pPr/>
          </a:p>
        </p:txBody>
      </p:sp>
      <p:sp>
        <p:nvSpPr>
          <p:cNvPr id="236" name="Text 12"/>
          <p:cNvSpPr txBox="1"/>
          <p:nvPr/>
        </p:nvSpPr>
        <p:spPr>
          <a:xfrm>
            <a:off x="4404207" y="339300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Contentful</a:t>
            </a:r>
          </a:p>
        </p:txBody>
      </p:sp>
      <p:sp>
        <p:nvSpPr>
          <p:cNvPr id="237" name="Shape 13"/>
          <p:cNvSpPr/>
          <p:nvPr/>
        </p:nvSpPr>
        <p:spPr>
          <a:xfrm>
            <a:off x="7924648" y="3154679"/>
            <a:ext cx="3383280" cy="685801"/>
          </a:xfrm>
          <a:prstGeom prst="roundRect">
            <a:avLst>
              <a:gd name="adj" fmla="val 50000"/>
            </a:avLst>
          </a:prstGeom>
          <a:solidFill>
            <a:srgbClr val="F9FAFB"/>
          </a:solidFill>
          <a:ln w="12700">
            <a:solidFill>
              <a:srgbClr val="E5E7EB"/>
            </a:solidFill>
          </a:ln>
        </p:spPr>
        <p:txBody>
          <a:bodyPr lIns="45719" rIns="45719"/>
          <a:lstStyle/>
          <a:p>
            <a:pPr/>
          </a:p>
        </p:txBody>
      </p:sp>
      <p:sp>
        <p:nvSpPr>
          <p:cNvPr id="238" name="Text 14"/>
          <p:cNvSpPr txBox="1"/>
          <p:nvPr/>
        </p:nvSpPr>
        <p:spPr>
          <a:xfrm>
            <a:off x="7924648" y="3393003"/>
            <a:ext cx="3383281"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600">
                <a:solidFill>
                  <a:srgbClr val="003168"/>
                </a:solidFill>
              </a:defRPr>
            </a:lvl1pPr>
          </a:lstStyle>
          <a:p>
            <a:pPr/>
            <a:r>
              <a:t>Contentstack</a:t>
            </a:r>
          </a:p>
        </p:txBody>
      </p:sp>
      <p:sp>
        <p:nvSpPr>
          <p:cNvPr id="239" name="Text 15"/>
          <p:cNvSpPr txBox="1"/>
          <p:nvPr/>
        </p:nvSpPr>
        <p:spPr>
          <a:xfrm>
            <a:off x="640080" y="4344845"/>
            <a:ext cx="109728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100">
                <a:solidFill>
                  <a:srgbClr val="6B7280"/>
                </a:solidFill>
              </a:defRPr>
            </a:lvl1pPr>
          </a:lstStyle>
          <a:p>
            <a:pPr/>
            <a:r>
              <a:t>Gold = shipped production sites on this platform</a:t>
            </a:r>
          </a:p>
        </p:txBody>
      </p:sp>
      <p:sp>
        <p:nvSpPr>
          <p:cNvPr id="240" name="Text 16"/>
          <p:cNvSpPr txBox="1"/>
          <p:nvPr/>
        </p:nvSpPr>
        <p:spPr>
          <a:xfrm>
            <a:off x="640080" y="4841239"/>
            <a:ext cx="10972801" cy="330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200">
                <a:solidFill>
                  <a:srgbClr val="003168"/>
                </a:solidFill>
                <a:latin typeface="Cambria"/>
                <a:ea typeface="Cambria"/>
                <a:cs typeface="Cambria"/>
                <a:sym typeface="Cambria"/>
              </a:defRPr>
            </a:lvl1pPr>
          </a:lstStyle>
          <a:p>
            <a:pPr/>
            <a:r>
              <a:t>From what I've seen, no one on the team has shipped a headless site.</a:t>
            </a:r>
          </a:p>
        </p:txBody>
      </p:sp>
      <p:sp>
        <p:nvSpPr>
          <p:cNvPr id="241" name="Text 17"/>
          <p:cNvSpPr txBox="1"/>
          <p:nvPr/>
        </p:nvSpPr>
        <p:spPr>
          <a:xfrm>
            <a:off x="640080" y="5403019"/>
            <a:ext cx="1097280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sz="1300">
                <a:solidFill>
                  <a:srgbClr val="6B7280"/>
                </a:solidFill>
              </a:defRPr>
            </a:lvl1pPr>
          </a:lstStyle>
          <a:p>
            <a:pPr/>
            <a:r>
              <a:t>Same operating-model gap: evaluating what to buy without evaluating who can operate it.</a:t>
            </a:r>
          </a:p>
        </p:txBody>
      </p:sp>
      <p:sp>
        <p:nvSpPr>
          <p:cNvPr id="242" name="Shape 18"/>
          <p:cNvSpPr/>
          <p:nvPr/>
        </p:nvSpPr>
        <p:spPr>
          <a:xfrm>
            <a:off x="640079" y="5760720"/>
            <a:ext cx="10908794" cy="777241"/>
          </a:xfrm>
          <a:prstGeom prst="rect">
            <a:avLst/>
          </a:prstGeom>
          <a:solidFill>
            <a:srgbClr val="003168"/>
          </a:solidFill>
          <a:ln w="12700">
            <a:miter lim="400000"/>
          </a:ln>
        </p:spPr>
        <p:txBody>
          <a:bodyPr lIns="45719" rIns="45719"/>
          <a:lstStyle/>
          <a:p>
            <a:pPr/>
          </a:p>
        </p:txBody>
      </p:sp>
      <p:sp>
        <p:nvSpPr>
          <p:cNvPr id="243" name="Text 19"/>
          <p:cNvSpPr txBox="1"/>
          <p:nvPr/>
        </p:nvSpPr>
        <p:spPr>
          <a:xfrm>
            <a:off x="822960" y="5964359"/>
            <a:ext cx="10543032" cy="3699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i="1" sz="1300">
                <a:solidFill>
                  <a:srgbClr val="FFFFFF"/>
                </a:solidFill>
              </a:defRPr>
            </a:lvl1pPr>
          </a:lstStyle>
          <a:p>
            <a:pPr/>
            <a:r>
              <a:t>I've shipped WordPress (headless and classic), AEM, Contentful, and DotCMS. I've led teams at tech-lead and director level in past roles. I know how to lead this.</a:t>
            </a:r>
          </a:p>
        </p:txBody>
      </p:sp>
      <p:sp>
        <p:nvSpPr>
          <p:cNvPr id="244" name="Shape 20"/>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245" name="Text 21"/>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12</a:t>
            </a:r>
          </a:p>
        </p:txBody>
      </p:sp>
      <p:sp>
        <p:nvSpPr>
          <p:cNvPr id="246" name="Text 22"/>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6B7280"/>
                </a:solidFill>
              </a:defRPr>
            </a:lvl1pPr>
          </a:lstStyle>
          <a:p>
            <a:pPr/>
            <a:r>
              <a:t>/ 13</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03168"/>
        </a:solidFill>
      </p:bgPr>
    </p:bg>
    <p:spTree>
      <p:nvGrpSpPr>
        <p:cNvPr id="1" name=""/>
        <p:cNvGrpSpPr/>
        <p:nvPr/>
      </p:nvGrpSpPr>
      <p:grpSpPr>
        <a:xfrm>
          <a:off x="0" y="0"/>
          <a:ext cx="0" cy="0"/>
          <a:chOff x="0" y="0"/>
          <a:chExt cx="0" cy="0"/>
        </a:xfrm>
      </p:grpSpPr>
      <p:sp>
        <p:nvSpPr>
          <p:cNvPr id="250" name="Text 0"/>
          <p:cNvSpPr txBox="1"/>
          <p:nvPr/>
        </p:nvSpPr>
        <p:spPr>
          <a:xfrm>
            <a:off x="548640" y="388664"/>
            <a:ext cx="36576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000">
                <a:solidFill>
                  <a:srgbClr val="FFC72C"/>
                </a:solidFill>
              </a:defRPr>
            </a:lvl1pPr>
          </a:lstStyle>
          <a:p>
            <a:pPr/>
            <a:r>
              <a:t>RBCCM DIGITAL</a:t>
            </a:r>
          </a:p>
        </p:txBody>
      </p:sp>
      <p:sp>
        <p:nvSpPr>
          <p:cNvPr id="251" name="Text 1"/>
          <p:cNvSpPr txBox="1"/>
          <p:nvPr/>
        </p:nvSpPr>
        <p:spPr>
          <a:xfrm>
            <a:off x="640080" y="2413000"/>
            <a:ext cx="1097280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4400">
                <a:solidFill>
                  <a:srgbClr val="FFFFFF"/>
                </a:solidFill>
                <a:latin typeface="Cambria"/>
                <a:ea typeface="Cambria"/>
                <a:cs typeface="Cambria"/>
                <a:sym typeface="Cambria"/>
              </a:defRPr>
            </a:lvl1pPr>
          </a:lstStyle>
          <a:p>
            <a:pPr/>
            <a:r>
              <a:t>Aim forward, not backward.</a:t>
            </a:r>
          </a:p>
        </p:txBody>
      </p:sp>
      <p:sp>
        <p:nvSpPr>
          <p:cNvPr id="252" name="Text 2"/>
          <p:cNvSpPr txBox="1"/>
          <p:nvPr/>
        </p:nvSpPr>
        <p:spPr>
          <a:xfrm>
            <a:off x="640080" y="3373120"/>
            <a:ext cx="10972801" cy="660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4400">
                <a:solidFill>
                  <a:srgbClr val="FFC72C"/>
                </a:solidFill>
                <a:latin typeface="Cambria"/>
                <a:ea typeface="Cambria"/>
                <a:cs typeface="Cambria"/>
                <a:sym typeface="Cambria"/>
              </a:defRPr>
            </a:lvl1pPr>
          </a:lstStyle>
          <a:p>
            <a:pPr/>
            <a:r>
              <a:t>We can build something better.</a:t>
            </a:r>
          </a:p>
        </p:txBody>
      </p:sp>
      <p:sp>
        <p:nvSpPr>
          <p:cNvPr id="253" name="Shape 3"/>
          <p:cNvSpPr/>
          <p:nvPr/>
        </p:nvSpPr>
        <p:spPr>
          <a:xfrm>
            <a:off x="5029199" y="4663440"/>
            <a:ext cx="2103121" cy="1"/>
          </a:xfrm>
          <a:prstGeom prst="line">
            <a:avLst/>
          </a:prstGeom>
          <a:ln w="25400">
            <a:solidFill>
              <a:srgbClr val="FFC72C"/>
            </a:solidFill>
          </a:ln>
        </p:spPr>
        <p:txBody>
          <a:bodyPr lIns="45719" rIns="45719"/>
          <a:lstStyle/>
          <a:p>
            <a:pPr/>
          </a:p>
        </p:txBody>
      </p:sp>
      <p:sp>
        <p:nvSpPr>
          <p:cNvPr id="254" name="Text 4"/>
          <p:cNvSpPr txBox="1"/>
          <p:nvPr/>
        </p:nvSpPr>
        <p:spPr>
          <a:xfrm>
            <a:off x="640080" y="5045536"/>
            <a:ext cx="10972801"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i="1">
                <a:solidFill>
                  <a:srgbClr val="CBD5E1"/>
                </a:solidFill>
              </a:defRPr>
            </a:lvl1pPr>
          </a:lstStyle>
          <a:p>
            <a:pPr/>
            <a:r>
              <a:t>Happy to lead this. We just need to decide to.</a:t>
            </a:r>
          </a:p>
        </p:txBody>
      </p:sp>
      <p:sp>
        <p:nvSpPr>
          <p:cNvPr id="255" name="Shape 5"/>
          <p:cNvSpPr/>
          <p:nvPr/>
        </p:nvSpPr>
        <p:spPr>
          <a:xfrm>
            <a:off x="11338559" y="6355079"/>
            <a:ext cx="457201" cy="457201"/>
          </a:xfrm>
          <a:prstGeom prst="ellipse">
            <a:avLst/>
          </a:prstGeom>
          <a:solidFill>
            <a:srgbClr val="FFC72C"/>
          </a:solidFill>
          <a:ln w="12700">
            <a:miter lim="400000"/>
          </a:ln>
        </p:spPr>
        <p:txBody>
          <a:bodyPr lIns="45719" rIns="45719"/>
          <a:lstStyle/>
          <a:p>
            <a:pPr/>
          </a:p>
        </p:txBody>
      </p:sp>
      <p:sp>
        <p:nvSpPr>
          <p:cNvPr id="256" name="Text 6"/>
          <p:cNvSpPr txBox="1"/>
          <p:nvPr/>
        </p:nvSpPr>
        <p:spPr>
          <a:xfrm>
            <a:off x="11338559" y="6505247"/>
            <a:ext cx="4572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200">
                <a:solidFill>
                  <a:srgbClr val="003168"/>
                </a:solidFill>
              </a:defRPr>
            </a:lvl1pPr>
          </a:lstStyle>
          <a:p>
            <a:pPr/>
            <a:r>
              <a:t>13</a:t>
            </a:r>
          </a:p>
        </p:txBody>
      </p:sp>
      <p:sp>
        <p:nvSpPr>
          <p:cNvPr id="257" name="Text 7"/>
          <p:cNvSpPr txBox="1"/>
          <p:nvPr/>
        </p:nvSpPr>
        <p:spPr>
          <a:xfrm>
            <a:off x="10698480" y="6506000"/>
            <a:ext cx="54864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000">
                <a:solidFill>
                  <a:srgbClr val="FFFFFF"/>
                </a:solidFill>
              </a:defRPr>
            </a:lvl1pPr>
          </a:lstStyle>
          <a:p>
            <a:pPr/>
            <a:r>
              <a:t>/ 13</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